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0cd2725-a376-bc50-2602-c3dcb5576c9f}">
          <p14:sldIdLst>
            <p14:sldId id="256"/>
          </p14:sldIdLst>
        </p14:section>
        <p14:section name="Problem" id="{bcc443bd-9eb8-975e-c1f6-6bf0791a9de0}">
          <p14:sldIdLst>
            <p14:sldId id="257"/>
            <p14:sldId id="258"/>
          </p14:sldIdLst>
        </p14:section>
        <p14:section name="Literature" id="{0cec8e59-4a95-0e41-5b8d-2a1029cb6179}">
          <p14:sldIdLst>
            <p14:sldId id="259"/>
            <p14:sldId id="260"/>
            <p14:sldId id="261"/>
            <p14:sldId id="262"/>
          </p14:sldIdLst>
        </p14:section>
        <p14:section name="Methodology" id="{ea3a5a8d-55b3-b1bf-6cfe-30479f8a7d68}">
          <p14:sldIdLst>
            <p14:sldId id="263"/>
          </p14:sldIdLst>
        </p14:section>
        <p14:section name="Direction 1" id="{8958043e-df44-7e76-fb2f-98ba2f7af1ca}">
          <p14:sldIdLst>
            <p14:sldId id="264"/>
            <p14:sldId id="265"/>
          </p14:sldIdLst>
        </p14:section>
        <p14:section name="Direction 2" id="{1efc4d88-d268-1693-9853-6d627ebf0b70}">
          <p14:sldIdLst>
            <p14:sldId id="266"/>
            <p14:sldId id="267"/>
          </p14:sldIdLst>
        </p14:section>
        <p14:section name="Evaluation" id="{4e83c671-8ddc-7147-6dc9-067b9e3eec1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two papers our project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gives every component a location. Macros go first because they are large and highly connected. Wirelength and congestion are quick estimates; timing is checked with a static timing analysis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limitations of RL placers such as Google's GraphPlace and MaskPlace motivate both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A in simple words. A diffusion model gradually turns random positions into a good layout, moving all macros together, so no early decision is locked in. While generating, it is steered towards shorter wires and no overlaps. Results are on academic benchmarks (IBM, ISPD 2005). The authors suggest RL fine-tuning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looks at mask images, picks a grid cell for the current macro and is rewarded for reducing wirelength and improving regularity. Like editing a full draft rather than writing from a blank page. Numbers are the paper's own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A is a fast drafter; Paper B is an accurate editor. They are complementary.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gaps come from the papers' own results and limitations sections. G1 and G2 become our two directions; G3 links the two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MaskRegulate's framework; all changes are inside the regulator. The per-move rewards add up to the total improvement of the final layout, so any objective we can predict per move can be added. Setting the new weights to zero gives back MaskRegulate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delay model has a constant, a linear and a squared term in wire length, so long wires are very slow. Moving a macro only changes the two wires connecting it to its neighbours on each path, so the change in timing cost can be computed exactly for every grid cell, like the WireMask.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routing demand equals total wirelength, so wirelength controls how much demand there is but not where it concentrates. The CongestionMask targets where it concentrates, and only where it causes overflow.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preference-conditioned policy follows preference-driven multi-objective RL (PD-MORL); the preference enters the network through a simple conditioning layer (FiLM). The sketch is only an illustration of a Pareto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the drafter (Paper A) to the editor (Paper B), then summarises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experiment tests one question. Expected challenges: compute (start from released checkpoints and smaller chips), tool access (OpenROAD fallback), and timing-analysis cost (cheaper critical-net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4974336"/>
            <a:ext cx="3048610" cy="169164"/>
          </a:xfrm>
          <a:prstGeom prst="rect">
            <a:avLst/>
          </a:prstGeom>
          <a:solidFill>
            <a:schemeClr val="accent3"/>
          </a:solidFill>
          <a:ln/>
        </p:spPr>
      </p:sp>
      <p:sp>
        <p:nvSpPr>
          <p:cNvPr id="3" name="Shape 1"/>
          <p:cNvSpPr/>
          <p:nvPr/>
        </p:nvSpPr>
        <p:spPr>
          <a:xfrm>
            <a:off x="3047695" y="4974336"/>
            <a:ext cx="3048610" cy="169164"/>
          </a:xfrm>
          <a:prstGeom prst="rect">
            <a:avLst/>
          </a:prstGeom>
          <a:solidFill>
            <a:schemeClr val="accent4"/>
          </a:solidFill>
          <a:ln/>
        </p:spPr>
      </p:sp>
      <p:sp>
        <p:nvSpPr>
          <p:cNvPr id="4" name="Shape 2"/>
          <p:cNvSpPr/>
          <p:nvPr/>
        </p:nvSpPr>
        <p:spPr>
          <a:xfrm>
            <a:off x="6095390" y="4974336"/>
            <a:ext cx="3048610" cy="169164"/>
          </a:xfrm>
          <a:prstGeom prst="rect">
            <a:avLst/>
          </a:prstGeom>
          <a:solidFill>
            <a:schemeClr val="accent1"/>
          </a:solidFill>
          <a:ln/>
        </p:spPr>
      </p:sp>
      <p:sp>
        <p:nvSpPr>
          <p:cNvPr id="5" name="Text 3"/>
          <p:cNvSpPr/>
          <p:nvPr/>
        </p:nvSpPr>
        <p:spPr>
          <a:xfrm>
            <a:off x="137160" y="4974336"/>
            <a:ext cx="2743200" cy="169164"/>
          </a:xfrm>
          <a:prstGeom prst="rect">
            <a:avLst/>
          </a:prstGeom>
          <a:noFill/>
          <a:ln/>
        </p:spPr>
        <p:txBody>
          <a:bodyPr wrap="square" lIns="0" tIns="0" rIns="0" bIns="0" rtlCol="0" anchor="ctr"/>
          <a:lstStyle/>
          <a:p>
            <a:pPr indent="0" marL="0">
              <a:buNone/>
            </a:pPr>
            <a:r>
              <a:rPr lang="en-US" sz="1000" dirty="0">
                <a:solidFill>
                  <a:schemeClr val="bg1"/>
                </a:solidFill>
              </a:rPr>
              <a:t>P. Mohata, A. Birari</a:t>
            </a:r>
            <a:endParaRPr lang="en-US" sz="1000" dirty="0"/>
          </a:p>
        </p:txBody>
      </p:sp>
      <p:sp>
        <p:nvSpPr>
          <p:cNvPr id="6" name="Text 4"/>
          <p:cNvSpPr/>
          <p:nvPr/>
        </p:nvSpPr>
        <p:spPr>
          <a:xfrm>
            <a:off x="3047695" y="4974336"/>
            <a:ext cx="3048610" cy="169164"/>
          </a:xfrm>
          <a:prstGeom prst="rect">
            <a:avLst/>
          </a:prstGeom>
          <a:noFill/>
          <a:ln/>
        </p:spPr>
        <p:txBody>
          <a:bodyPr wrap="square" lIns="0" tIns="0" rIns="0" bIns="0" rtlCol="0" anchor="ctr"/>
          <a:lstStyle/>
          <a:p>
            <a:pPr algn="ctr" indent="0" marL="0">
              <a:buNone/>
            </a:pPr>
            <a:r>
              <a:rPr lang="en-US" sz="1000" dirty="0">
                <a:solidFill>
                  <a:schemeClr val="bg1"/>
                </a:solidFill>
              </a:rPr>
              <a:t>RL for Macro Placement</a:t>
            </a:r>
            <a:endParaRPr lang="en-US" sz="1000" dirty="0"/>
          </a:p>
        </p:txBody>
      </p:sp>
      <p:sp>
        <p:nvSpPr>
          <p:cNvPr id="7" name="Text 5"/>
          <p:cNvSpPr/>
          <p:nvPr/>
        </p:nvSpPr>
        <p:spPr>
          <a:xfrm>
            <a:off x="6217920" y="4974336"/>
            <a:ext cx="2011680" cy="169164"/>
          </a:xfrm>
          <a:prstGeom prst="rect">
            <a:avLst/>
          </a:prstGeom>
          <a:noFill/>
          <a:ln/>
        </p:spPr>
        <p:txBody>
          <a:bodyPr wrap="square" lIns="0" tIns="0" rIns="0" bIns="0" rtlCol="0" anchor="ctr"/>
          <a:lstStyle/>
          <a:p>
            <a:pPr indent="0" marL="0">
              <a:buNone/>
            </a:pPr>
            <a:r>
              <a:rPr lang="en-US" sz="1000" dirty="0">
                <a:solidFill>
                  <a:schemeClr val="bg1"/>
                </a:solidFill>
              </a:rPr>
              <a:t>October 18, 2026</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chemeClr val="accent1"/>
          </a:solidFill>
          <a:ln/>
        </p:spPr>
      </p:sp>
      <p:sp>
        <p:nvSpPr>
          <p:cNvPr id="3" name="Text 1"/>
          <p:cNvSpPr/>
          <p:nvPr>
            <p:ph idx="101" type="title" hasCustomPrompt="1"/>
          </p:nvPr>
        </p:nvSpPr>
        <p:spPr>
          <a:xfrm>
            <a:off x="228600" y="54864"/>
            <a:ext cx="8686800" cy="457200"/>
          </a:xfrm>
          <a:prstGeom prst="rect">
            <a:avLst/>
          </a:prstGeom>
          <a:noFill/>
          <a:ln/>
        </p:spPr>
        <p:txBody>
          <a:bodyPr wrap="square" rtlCol="0"/>
          <a:lstStyle>
            <a:lvl1pPr algn="l" indent="0" marL="0">
              <a:buNone/>
              <a:defRPr lang="en-US" sz="2600" dirty="0">
                <a:solidFill>
                  <a:schemeClr val="bg1"/>
                </a:solidFill>
              </a:defRPr>
            </a:lvl1pPr>
          </a:lstStyle>
          <a:p>
            <a:pPr algn="l" indent="0" marL="0">
              <a:buNone/>
            </a:pPr>
            <a:endParaRPr lang="en-US" sz="2600" dirty="0"/>
          </a:p>
        </p:txBody>
      </p:sp>
      <p:sp>
        <p:nvSpPr>
          <p:cNvPr id="4" name="Shape 1"/>
          <p:cNvSpPr/>
          <p:nvPr/>
        </p:nvSpPr>
        <p:spPr>
          <a:xfrm>
            <a:off x="0" y="4974336"/>
            <a:ext cx="3048610" cy="169164"/>
          </a:xfrm>
          <a:prstGeom prst="rect">
            <a:avLst/>
          </a:prstGeom>
          <a:solidFill>
            <a:schemeClr val="accent3"/>
          </a:solidFill>
          <a:ln/>
        </p:spPr>
      </p:sp>
      <p:sp>
        <p:nvSpPr>
          <p:cNvPr id="5" name="Shape 2"/>
          <p:cNvSpPr/>
          <p:nvPr/>
        </p:nvSpPr>
        <p:spPr>
          <a:xfrm>
            <a:off x="3047695" y="4974336"/>
            <a:ext cx="3048610" cy="169164"/>
          </a:xfrm>
          <a:prstGeom prst="rect">
            <a:avLst/>
          </a:prstGeom>
          <a:solidFill>
            <a:schemeClr val="accent4"/>
          </a:solidFill>
          <a:ln/>
        </p:spPr>
      </p:sp>
      <p:sp>
        <p:nvSpPr>
          <p:cNvPr id="6" name="Shape 3"/>
          <p:cNvSpPr/>
          <p:nvPr/>
        </p:nvSpPr>
        <p:spPr>
          <a:xfrm>
            <a:off x="6095390" y="4974336"/>
            <a:ext cx="3048610" cy="169164"/>
          </a:xfrm>
          <a:prstGeom prst="rect">
            <a:avLst/>
          </a:prstGeom>
          <a:solidFill>
            <a:schemeClr val="accent1"/>
          </a:solidFill>
          <a:ln/>
        </p:spPr>
      </p:sp>
      <p:sp>
        <p:nvSpPr>
          <p:cNvPr id="7" name="Text 4"/>
          <p:cNvSpPr/>
          <p:nvPr/>
        </p:nvSpPr>
        <p:spPr>
          <a:xfrm>
            <a:off x="137160" y="4974336"/>
            <a:ext cx="2743200" cy="169164"/>
          </a:xfrm>
          <a:prstGeom prst="rect">
            <a:avLst/>
          </a:prstGeom>
          <a:noFill/>
          <a:ln/>
        </p:spPr>
        <p:txBody>
          <a:bodyPr wrap="square" lIns="0" tIns="0" rIns="0" bIns="0" rtlCol="0" anchor="ctr"/>
          <a:lstStyle/>
          <a:p>
            <a:pPr indent="0" marL="0">
              <a:buNone/>
            </a:pPr>
            <a:r>
              <a:rPr lang="en-US" sz="1000" dirty="0">
                <a:solidFill>
                  <a:schemeClr val="bg1"/>
                </a:solidFill>
              </a:rPr>
              <a:t>P. Mohata, A. Birari</a:t>
            </a:r>
            <a:endParaRPr lang="en-US" sz="1000" dirty="0"/>
          </a:p>
        </p:txBody>
      </p:sp>
      <p:sp>
        <p:nvSpPr>
          <p:cNvPr id="8" name="Text 5"/>
          <p:cNvSpPr/>
          <p:nvPr/>
        </p:nvSpPr>
        <p:spPr>
          <a:xfrm>
            <a:off x="3047695" y="4974336"/>
            <a:ext cx="3048610" cy="169164"/>
          </a:xfrm>
          <a:prstGeom prst="rect">
            <a:avLst/>
          </a:prstGeom>
          <a:noFill/>
          <a:ln/>
        </p:spPr>
        <p:txBody>
          <a:bodyPr wrap="square" lIns="0" tIns="0" rIns="0" bIns="0" rtlCol="0" anchor="ctr"/>
          <a:lstStyle/>
          <a:p>
            <a:pPr algn="ctr" indent="0" marL="0">
              <a:buNone/>
            </a:pPr>
            <a:r>
              <a:rPr lang="en-US" sz="1000" dirty="0">
                <a:solidFill>
                  <a:schemeClr val="bg1"/>
                </a:solidFill>
              </a:rPr>
              <a:t>RL for Macro Placement</a:t>
            </a:r>
            <a:endParaRPr lang="en-US" sz="1000" dirty="0"/>
          </a:p>
        </p:txBody>
      </p:sp>
      <p:sp>
        <p:nvSpPr>
          <p:cNvPr id="9" name="Text 6"/>
          <p:cNvSpPr/>
          <p:nvPr/>
        </p:nvSpPr>
        <p:spPr>
          <a:xfrm>
            <a:off x="6217920" y="4974336"/>
            <a:ext cx="2011680" cy="169164"/>
          </a:xfrm>
          <a:prstGeom prst="rect">
            <a:avLst/>
          </a:prstGeom>
          <a:noFill/>
          <a:ln/>
        </p:spPr>
        <p:txBody>
          <a:bodyPr wrap="square" lIns="0" tIns="0" rIns="0" bIns="0" rtlCol="0" anchor="ctr"/>
          <a:lstStyle/>
          <a:p>
            <a:pPr indent="0" marL="0">
              <a:buNone/>
            </a:pPr>
            <a:r>
              <a:rPr lang="en-US" sz="1000" dirty="0">
                <a:solidFill>
                  <a:schemeClr val="bg1"/>
                </a:solidFill>
              </a:rPr>
              <a:t>October 18, 2026</a:t>
            </a:r>
            <a:endParaRPr lang="en-US" sz="10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box"/>
          <p:cNvSpPr/>
          <p:nvPr/>
        </p:nvSpPr>
        <p:spPr>
          <a:xfrm>
            <a:off x="228600" y="228600"/>
            <a:ext cx="8686800" cy="1600200"/>
          </a:xfrm>
          <a:prstGeom prst="roundRect">
            <a:avLst>
              <a:gd name="adj" fmla="val 3429"/>
            </a:avLst>
          </a:prstGeom>
          <a:solidFill>
            <a:schemeClr val="accent1"/>
          </a:solidFill>
          <a:ln/>
        </p:spPr>
      </p:sp>
      <p:sp>
        <p:nvSpPr>
          <p:cNvPr id="3" name="Text 1"/>
          <p:cNvSpPr txBox="1"/>
          <p:nvPr/>
        </p:nvSpPr>
        <p:spPr>
          <a:xfrm>
            <a:off x="502920" y="347472"/>
            <a:ext cx="8138160" cy="960120"/>
          </a:xfrm>
          <a:prstGeom prst="rect">
            <a:avLst/>
          </a:prstGeom>
          <a:noFill/>
          <a:ln/>
        </p:spPr>
        <p:txBody>
          <a:bodyPr wrap="square" lIns="0" tIns="0" rIns="0" bIns="0" rtlCol="0" anchor="ctr"/>
          <a:lstStyle/>
          <a:p>
            <a:pPr algn="ctr" indent="0" marL="0">
              <a:buNone/>
            </a:pPr>
            <a:r>
              <a:rPr lang="en-US" sz="2200" dirty="0">
                <a:solidFill>
                  <a:schemeClr val="bg1"/>
                </a:solidFill>
              </a:rPr>
              <a:t>Beyond Wirelength and Regularity: Timing-, Congestion-Aware and Multi-Objective Reinforcement Learning for Macro Regulation</a:t>
            </a:r>
            <a:endParaRPr lang="en-US" sz="2200" dirty="0"/>
          </a:p>
        </p:txBody>
      </p:sp>
      <p:sp>
        <p:nvSpPr>
          <p:cNvPr id="4" name="Text 2"/>
          <p:cNvSpPr txBox="1"/>
          <p:nvPr/>
        </p:nvSpPr>
        <p:spPr>
          <a:xfrm>
            <a:off x="502920" y="1371600"/>
            <a:ext cx="8138160" cy="320040"/>
          </a:xfrm>
          <a:prstGeom prst="rect">
            <a:avLst/>
          </a:prstGeom>
          <a:noFill/>
          <a:ln/>
        </p:spPr>
        <p:txBody>
          <a:bodyPr wrap="square" lIns="0" tIns="0" rIns="0" bIns="0" rtlCol="0" anchor="ctr"/>
          <a:lstStyle/>
          <a:p>
            <a:pPr algn="ctr" indent="0" marL="0">
              <a:buNone/>
            </a:pPr>
            <a:r>
              <a:rPr lang="en-US" sz="1300" dirty="0">
                <a:solidFill>
                  <a:schemeClr val="bg1"/>
                </a:solidFill>
              </a:rPr>
              <a:t>Deep Reinforcement Learning  |  Mid-Semester Project Presentation</a:t>
            </a:r>
            <a:endParaRPr lang="en-US" sz="1300" dirty="0"/>
          </a:p>
        </p:txBody>
      </p:sp>
      <p:sp>
        <p:nvSpPr>
          <p:cNvPr id="5" name="Text 3"/>
          <p:cNvSpPr txBox="1"/>
          <p:nvPr/>
        </p:nvSpPr>
        <p:spPr>
          <a:xfrm>
            <a:off x="2286000" y="2011680"/>
            <a:ext cx="4572000" cy="365760"/>
          </a:xfrm>
          <a:prstGeom prst="rect">
            <a:avLst/>
          </a:prstGeom>
          <a:noFill/>
          <a:ln/>
        </p:spPr>
        <p:txBody>
          <a:bodyPr wrap="square" lIns="0" tIns="0" rIns="0" bIns="0" rtlCol="0" anchor="t"/>
          <a:lstStyle/>
          <a:p>
            <a:pPr algn="ctr" indent="0" marL="0">
              <a:buNone/>
            </a:pPr>
            <a:r>
              <a:rPr lang="en-US" sz="1800" dirty="0">
                <a:solidFill>
                  <a:schemeClr val="tx1"/>
                </a:solidFill>
              </a:rPr>
              <a:t>Presented by:</a:t>
            </a:r>
            <a:endParaRPr lang="en-US" sz="1800" dirty="0"/>
          </a:p>
        </p:txBody>
      </p:sp>
      <p:sp>
        <p:nvSpPr>
          <p:cNvPr id="6" name="Text 4"/>
          <p:cNvSpPr txBox="1"/>
          <p:nvPr/>
        </p:nvSpPr>
        <p:spPr>
          <a:xfrm>
            <a:off x="2651760" y="2395728"/>
            <a:ext cx="2103120" cy="640080"/>
          </a:xfrm>
          <a:prstGeom prst="rect">
            <a:avLst/>
          </a:prstGeom>
          <a:noFill/>
          <a:ln/>
        </p:spPr>
        <p:txBody>
          <a:bodyPr wrap="square" lIns="0" tIns="0" rIns="0" bIns="0" rtlCol="0" anchor="t"/>
          <a:lstStyle/>
          <a:p>
            <a:pPr algn="r" indent="0" marL="0">
              <a:buNone/>
            </a:pPr>
            <a:r>
              <a:rPr lang="en-US" sz="1800" dirty="0">
                <a:solidFill>
                  <a:schemeClr val="tx1"/>
                </a:solidFill>
              </a:rPr>
              <a:t>Pratyush Mohata</a:t>
            </a:r>
            <a:endParaRPr lang="en-US" sz="1800" dirty="0"/>
          </a:p>
          <a:p>
            <a:pPr algn="r" indent="0" marL="0">
              <a:buNone/>
            </a:pPr>
            <a:r>
              <a:rPr lang="en-US" sz="1800" dirty="0">
                <a:solidFill>
                  <a:schemeClr val="tx1"/>
                </a:solidFill>
              </a:rPr>
              <a:t>Aditya Birari</a:t>
            </a:r>
            <a:endParaRPr lang="en-US" sz="1800" dirty="0"/>
          </a:p>
        </p:txBody>
      </p:sp>
      <p:sp>
        <p:nvSpPr>
          <p:cNvPr id="7" name="Text 5"/>
          <p:cNvSpPr txBox="1"/>
          <p:nvPr/>
        </p:nvSpPr>
        <p:spPr>
          <a:xfrm>
            <a:off x="4937760" y="2395728"/>
            <a:ext cx="2103120" cy="640080"/>
          </a:xfrm>
          <a:prstGeom prst="rect">
            <a:avLst/>
          </a:prstGeom>
          <a:noFill/>
          <a:ln/>
        </p:spPr>
        <p:txBody>
          <a:bodyPr wrap="square" lIns="0" tIns="0" rIns="0" bIns="0" rtlCol="0" anchor="t"/>
          <a:lstStyle/>
          <a:p>
            <a:pPr indent="0" marL="0">
              <a:buNone/>
            </a:pPr>
            <a:r>
              <a:rPr lang="en-US" sz="1800" dirty="0">
                <a:solidFill>
                  <a:schemeClr val="tx1"/>
                </a:solidFill>
              </a:rPr>
              <a:t>2023A3PS0690P</a:t>
            </a:r>
            <a:endParaRPr lang="en-US" sz="1800" dirty="0"/>
          </a:p>
          <a:p>
            <a:pPr indent="0" marL="0">
              <a:buNone/>
            </a:pPr>
            <a:r>
              <a:rPr lang="en-US" sz="1800" dirty="0">
                <a:solidFill>
                  <a:schemeClr val="tx1"/>
                </a:solidFill>
              </a:rPr>
              <a:t>2023A3PS0700P</a:t>
            </a:r>
            <a:endParaRPr lang="en-US" sz="1800" dirty="0"/>
          </a:p>
        </p:txBody>
      </p:sp>
      <p:sp>
        <p:nvSpPr>
          <p:cNvPr id="8" name="Text 6"/>
          <p:cNvSpPr txBox="1"/>
          <p:nvPr/>
        </p:nvSpPr>
        <p:spPr>
          <a:xfrm>
            <a:off x="1828800" y="3291840"/>
            <a:ext cx="5486400" cy="274320"/>
          </a:xfrm>
          <a:prstGeom prst="rect">
            <a:avLst/>
          </a:prstGeom>
          <a:noFill/>
          <a:ln/>
        </p:spPr>
        <p:txBody>
          <a:bodyPr wrap="square" lIns="0" tIns="0" rIns="0" bIns="0" rtlCol="0" anchor="t"/>
          <a:lstStyle/>
          <a:p>
            <a:pPr algn="ctr" indent="0" marL="0">
              <a:buNone/>
            </a:pPr>
            <a:r>
              <a:rPr lang="en-US" sz="1300" b="1" dirty="0">
                <a:solidFill>
                  <a:schemeClr val="tx1"/>
                </a:solidFill>
              </a:rPr>
              <a:t>Based on a review of these papers</a:t>
            </a:r>
            <a:endParaRPr lang="en-US" sz="1300" dirty="0"/>
          </a:p>
        </p:txBody>
      </p:sp>
      <p:sp>
        <p:nvSpPr>
          <p:cNvPr id="9" name="Text 7"/>
          <p:cNvSpPr txBox="1"/>
          <p:nvPr/>
        </p:nvSpPr>
        <p:spPr>
          <a:xfrm>
            <a:off x="1600200" y="3611880"/>
            <a:ext cx="6035040" cy="548640"/>
          </a:xfrm>
          <a:prstGeom prst="rect">
            <a:avLst/>
          </a:prstGeom>
          <a:noFill/>
          <a:ln/>
        </p:spPr>
        <p:txBody>
          <a:bodyPr wrap="square" lIns="0" tIns="0" rIns="0" bIns="0" rtlCol="0" anchor="ctr"/>
          <a:lstStyle/>
          <a:p>
            <a:pPr marL="152400" indent="-152400">
              <a:spcAft>
                <a:spcPts val="300"/>
              </a:spcAft>
              <a:buSzPct val="100000"/>
              <a:buChar char="•"/>
            </a:pPr>
            <a:r>
              <a:rPr lang="en-US" sz="1200" dirty="0">
                <a:solidFill>
                  <a:schemeClr val="tx1"/>
                </a:solidFill>
              </a:rPr>
              <a:t>Lee et al., 2025: Chip Placement with Diffusion Models (ICML)</a:t>
            </a:r>
            <a:endParaRPr lang="en-US" sz="1200" dirty="0"/>
          </a:p>
          <a:p>
            <a:pPr marL="152400" indent="-152400">
              <a:spcAft>
                <a:spcPts val="300"/>
              </a:spcAft>
              <a:buSzPct val="100000"/>
              <a:buChar char="•"/>
            </a:pPr>
            <a:r>
              <a:rPr lang="en-US" sz="1200" dirty="0">
                <a:solidFill>
                  <a:schemeClr val="tx1"/>
                </a:solidFill>
              </a:rPr>
              <a:t>Xue et al., 2024: RL Policy as Macro Regulator Rather than Macro Placer (NeurIPS)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The Macro Placement Problem</a:t>
            </a:r>
            <a:endParaRPr lang="en-US" sz="2600" dirty="0"/>
          </a:p>
        </p:txBody>
      </p:sp>
      <p:sp>
        <p:nvSpPr>
          <p:cNvPr id="3" name="Text 1"/>
          <p:cNvSpPr txBox="1"/>
          <p:nvPr/>
        </p:nvSpPr>
        <p:spPr>
          <a:xfrm>
            <a:off x="365760" y="822960"/>
            <a:ext cx="5486400" cy="237744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chemeClr val="tx1"/>
                </a:solidFill>
              </a:rPr>
              <a:t>Netlist: </a:t>
            </a:r>
            <a:r>
              <a:rPr lang="en-US" sz="1500" dirty="0">
                <a:solidFill>
                  <a:schemeClr val="tx1"/>
                </a:solidFill>
              </a:rPr>
              <a:t>the chip as a graph of components and the wires (nets) between them.</a:t>
            </a:r>
            <a:endParaRPr lang="en-US" sz="1500" dirty="0"/>
          </a:p>
          <a:p>
            <a:pPr marL="203200" indent="-203200">
              <a:spcAft>
                <a:spcPts val="600"/>
              </a:spcAft>
              <a:buSzPct val="100000"/>
              <a:buChar char="•"/>
            </a:pPr>
            <a:r>
              <a:rPr lang="en-US" sz="1500" b="1" dirty="0">
                <a:solidFill>
                  <a:schemeClr val="tx1"/>
                </a:solidFill>
              </a:rPr>
              <a:t>Macros: </a:t>
            </a:r>
            <a:r>
              <a:rPr lang="en-US" sz="1500" dirty="0">
                <a:solidFill>
                  <a:schemeClr val="tx1"/>
                </a:solidFill>
              </a:rPr>
              <a:t>a few hundred large blocks (e.g. memories), placed first.</a:t>
            </a:r>
            <a:endParaRPr lang="en-US" sz="1500" dirty="0"/>
          </a:p>
          <a:p>
            <a:pPr marL="203200" indent="-203200">
              <a:spcAft>
                <a:spcPts val="600"/>
              </a:spcAft>
              <a:buSzPct val="100000"/>
              <a:buChar char="•"/>
            </a:pPr>
            <a:r>
              <a:rPr lang="en-US" sz="1500" b="1" dirty="0">
                <a:solidFill>
                  <a:schemeClr val="tx1"/>
                </a:solidFill>
              </a:rPr>
              <a:t>Standard cells: </a:t>
            </a:r>
            <a:r>
              <a:rPr lang="en-US" sz="1500" dirty="0">
                <a:solidFill>
                  <a:schemeClr val="tx1"/>
                </a:solidFill>
              </a:rPr>
              <a:t>millions of small gates, placed around the macros.</a:t>
            </a:r>
            <a:endParaRPr lang="en-US" sz="1500" dirty="0"/>
          </a:p>
          <a:p>
            <a:pPr marL="203200" indent="-203200">
              <a:spcAft>
                <a:spcPts val="600"/>
              </a:spcAft>
              <a:buSzPct val="100000"/>
              <a:buChar char="•"/>
            </a:pPr>
            <a:r>
              <a:rPr lang="en-US" sz="1500" b="1" dirty="0">
                <a:solidFill>
                  <a:schemeClr val="tx1"/>
                </a:solidFill>
              </a:rPr>
              <a:t>Why it matters: </a:t>
            </a:r>
            <a:r>
              <a:rPr lang="en-US" sz="1500" dirty="0">
                <a:solidFill>
                  <a:schemeClr val="tx1"/>
                </a:solidFill>
              </a:rPr>
              <a:t>macro positions largely decide power, performance and area (PPA).</a:t>
            </a:r>
            <a:endParaRPr lang="en-US" sz="1500" dirty="0"/>
          </a:p>
        </p:txBody>
      </p:sp>
      <p:sp>
        <p:nvSpPr>
          <p:cNvPr id="4" name="prob-canvas"/>
          <p:cNvSpPr/>
          <p:nvPr/>
        </p:nvSpPr>
        <p:spPr>
          <a:xfrm>
            <a:off x="6400800" y="822960"/>
            <a:ext cx="2331720" cy="2331720"/>
          </a:xfrm>
          <a:prstGeom prst="rect">
            <a:avLst/>
          </a:prstGeom>
          <a:solidFill>
            <a:schemeClr val="bg1"/>
          </a:solidFill>
          <a:ln w="12700">
            <a:solidFill>
              <a:schemeClr val="tx2"/>
            </a:solidFill>
            <a:prstDash val="solid"/>
          </a:ln>
        </p:spPr>
      </p:sp>
      <p:sp>
        <p:nvSpPr>
          <p:cNvPr id="5" name="prob-canvas-cell-0-0"/>
          <p:cNvSpPr/>
          <p:nvPr/>
        </p:nvSpPr>
        <p:spPr>
          <a:xfrm>
            <a:off x="6576365" y="998525"/>
            <a:ext cx="21946" cy="21946"/>
          </a:xfrm>
          <a:prstGeom prst="ellipse">
            <a:avLst/>
          </a:prstGeom>
          <a:solidFill>
            <a:schemeClr val="accent5"/>
          </a:solidFill>
          <a:ln/>
        </p:spPr>
      </p:sp>
      <p:sp>
        <p:nvSpPr>
          <p:cNvPr id="6" name="prob-canvas-cell-0-1"/>
          <p:cNvSpPr/>
          <p:nvPr/>
        </p:nvSpPr>
        <p:spPr>
          <a:xfrm>
            <a:off x="6576365" y="1278331"/>
            <a:ext cx="21946" cy="21946"/>
          </a:xfrm>
          <a:prstGeom prst="ellipse">
            <a:avLst/>
          </a:prstGeom>
          <a:solidFill>
            <a:schemeClr val="accent5"/>
          </a:solidFill>
          <a:ln/>
        </p:spPr>
      </p:sp>
      <p:sp>
        <p:nvSpPr>
          <p:cNvPr id="7" name="prob-canvas-cell-0-2"/>
          <p:cNvSpPr/>
          <p:nvPr/>
        </p:nvSpPr>
        <p:spPr>
          <a:xfrm>
            <a:off x="6576365" y="1558138"/>
            <a:ext cx="21946" cy="21946"/>
          </a:xfrm>
          <a:prstGeom prst="ellipse">
            <a:avLst/>
          </a:prstGeom>
          <a:solidFill>
            <a:schemeClr val="accent5"/>
          </a:solidFill>
          <a:ln/>
        </p:spPr>
      </p:sp>
      <p:sp>
        <p:nvSpPr>
          <p:cNvPr id="8" name="prob-canvas-cell-0-3"/>
          <p:cNvSpPr/>
          <p:nvPr/>
        </p:nvSpPr>
        <p:spPr>
          <a:xfrm>
            <a:off x="6576365" y="1837944"/>
            <a:ext cx="21946" cy="21946"/>
          </a:xfrm>
          <a:prstGeom prst="ellipse">
            <a:avLst/>
          </a:prstGeom>
          <a:solidFill>
            <a:schemeClr val="accent5"/>
          </a:solidFill>
          <a:ln/>
        </p:spPr>
      </p:sp>
      <p:sp>
        <p:nvSpPr>
          <p:cNvPr id="9" name="prob-canvas-cell-0-4"/>
          <p:cNvSpPr/>
          <p:nvPr/>
        </p:nvSpPr>
        <p:spPr>
          <a:xfrm>
            <a:off x="6576365" y="2117750"/>
            <a:ext cx="21946" cy="21946"/>
          </a:xfrm>
          <a:prstGeom prst="ellipse">
            <a:avLst/>
          </a:prstGeom>
          <a:solidFill>
            <a:schemeClr val="accent5"/>
          </a:solidFill>
          <a:ln/>
        </p:spPr>
      </p:sp>
      <p:sp>
        <p:nvSpPr>
          <p:cNvPr id="10" name="prob-canvas-cell-0-5"/>
          <p:cNvSpPr/>
          <p:nvPr/>
        </p:nvSpPr>
        <p:spPr>
          <a:xfrm>
            <a:off x="6576365" y="2397557"/>
            <a:ext cx="21946" cy="21946"/>
          </a:xfrm>
          <a:prstGeom prst="ellipse">
            <a:avLst/>
          </a:prstGeom>
          <a:solidFill>
            <a:schemeClr val="accent5"/>
          </a:solidFill>
          <a:ln/>
        </p:spPr>
      </p:sp>
      <p:sp>
        <p:nvSpPr>
          <p:cNvPr id="11" name="prob-canvas-cell-0-6"/>
          <p:cNvSpPr/>
          <p:nvPr/>
        </p:nvSpPr>
        <p:spPr>
          <a:xfrm>
            <a:off x="6576365" y="2677363"/>
            <a:ext cx="21946" cy="21946"/>
          </a:xfrm>
          <a:prstGeom prst="ellipse">
            <a:avLst/>
          </a:prstGeom>
          <a:solidFill>
            <a:schemeClr val="accent5"/>
          </a:solidFill>
          <a:ln/>
        </p:spPr>
      </p:sp>
      <p:sp>
        <p:nvSpPr>
          <p:cNvPr id="12" name="prob-canvas-cell-0-7"/>
          <p:cNvSpPr/>
          <p:nvPr/>
        </p:nvSpPr>
        <p:spPr>
          <a:xfrm>
            <a:off x="6576365" y="2957170"/>
            <a:ext cx="21946" cy="21946"/>
          </a:xfrm>
          <a:prstGeom prst="ellipse">
            <a:avLst/>
          </a:prstGeom>
          <a:solidFill>
            <a:schemeClr val="accent5"/>
          </a:solidFill>
          <a:ln/>
        </p:spPr>
      </p:sp>
      <p:sp>
        <p:nvSpPr>
          <p:cNvPr id="13" name="prob-canvas-cell-1-0"/>
          <p:cNvSpPr/>
          <p:nvPr/>
        </p:nvSpPr>
        <p:spPr>
          <a:xfrm>
            <a:off x="6856171" y="998525"/>
            <a:ext cx="21946" cy="21946"/>
          </a:xfrm>
          <a:prstGeom prst="ellipse">
            <a:avLst/>
          </a:prstGeom>
          <a:solidFill>
            <a:schemeClr val="accent5"/>
          </a:solidFill>
          <a:ln/>
        </p:spPr>
      </p:sp>
      <p:sp>
        <p:nvSpPr>
          <p:cNvPr id="14" name="prob-canvas-cell-1-1"/>
          <p:cNvSpPr/>
          <p:nvPr/>
        </p:nvSpPr>
        <p:spPr>
          <a:xfrm>
            <a:off x="6856171" y="1278331"/>
            <a:ext cx="21946" cy="21946"/>
          </a:xfrm>
          <a:prstGeom prst="ellipse">
            <a:avLst/>
          </a:prstGeom>
          <a:solidFill>
            <a:schemeClr val="accent5"/>
          </a:solidFill>
          <a:ln/>
        </p:spPr>
      </p:sp>
      <p:sp>
        <p:nvSpPr>
          <p:cNvPr id="15" name="prob-canvas-cell-1-2"/>
          <p:cNvSpPr/>
          <p:nvPr/>
        </p:nvSpPr>
        <p:spPr>
          <a:xfrm>
            <a:off x="6856171" y="1558138"/>
            <a:ext cx="21946" cy="21946"/>
          </a:xfrm>
          <a:prstGeom prst="ellipse">
            <a:avLst/>
          </a:prstGeom>
          <a:solidFill>
            <a:schemeClr val="accent5"/>
          </a:solidFill>
          <a:ln/>
        </p:spPr>
      </p:sp>
      <p:sp>
        <p:nvSpPr>
          <p:cNvPr id="16" name="prob-canvas-cell-1-3"/>
          <p:cNvSpPr/>
          <p:nvPr/>
        </p:nvSpPr>
        <p:spPr>
          <a:xfrm>
            <a:off x="6856171" y="1837944"/>
            <a:ext cx="21946" cy="21946"/>
          </a:xfrm>
          <a:prstGeom prst="ellipse">
            <a:avLst/>
          </a:prstGeom>
          <a:solidFill>
            <a:schemeClr val="accent5"/>
          </a:solidFill>
          <a:ln/>
        </p:spPr>
      </p:sp>
      <p:sp>
        <p:nvSpPr>
          <p:cNvPr id="17" name="prob-canvas-cell-1-4"/>
          <p:cNvSpPr/>
          <p:nvPr/>
        </p:nvSpPr>
        <p:spPr>
          <a:xfrm>
            <a:off x="6856171" y="2117750"/>
            <a:ext cx="21946" cy="21946"/>
          </a:xfrm>
          <a:prstGeom prst="ellipse">
            <a:avLst/>
          </a:prstGeom>
          <a:solidFill>
            <a:schemeClr val="accent5"/>
          </a:solidFill>
          <a:ln/>
        </p:spPr>
      </p:sp>
      <p:sp>
        <p:nvSpPr>
          <p:cNvPr id="18" name="prob-canvas-cell-1-5"/>
          <p:cNvSpPr/>
          <p:nvPr/>
        </p:nvSpPr>
        <p:spPr>
          <a:xfrm>
            <a:off x="6856171" y="2397557"/>
            <a:ext cx="21946" cy="21946"/>
          </a:xfrm>
          <a:prstGeom prst="ellipse">
            <a:avLst/>
          </a:prstGeom>
          <a:solidFill>
            <a:schemeClr val="accent5"/>
          </a:solidFill>
          <a:ln/>
        </p:spPr>
      </p:sp>
      <p:sp>
        <p:nvSpPr>
          <p:cNvPr id="19" name="prob-canvas-cell-1-6"/>
          <p:cNvSpPr/>
          <p:nvPr/>
        </p:nvSpPr>
        <p:spPr>
          <a:xfrm>
            <a:off x="6856171" y="2677363"/>
            <a:ext cx="21946" cy="21946"/>
          </a:xfrm>
          <a:prstGeom prst="ellipse">
            <a:avLst/>
          </a:prstGeom>
          <a:solidFill>
            <a:schemeClr val="accent5"/>
          </a:solidFill>
          <a:ln/>
        </p:spPr>
      </p:sp>
      <p:sp>
        <p:nvSpPr>
          <p:cNvPr id="20" name="prob-canvas-cell-1-7"/>
          <p:cNvSpPr/>
          <p:nvPr/>
        </p:nvSpPr>
        <p:spPr>
          <a:xfrm>
            <a:off x="6856171" y="2957170"/>
            <a:ext cx="21946" cy="21946"/>
          </a:xfrm>
          <a:prstGeom prst="ellipse">
            <a:avLst/>
          </a:prstGeom>
          <a:solidFill>
            <a:schemeClr val="accent5"/>
          </a:solidFill>
          <a:ln/>
        </p:spPr>
      </p:sp>
      <p:sp>
        <p:nvSpPr>
          <p:cNvPr id="21" name="prob-canvas-cell-2-0"/>
          <p:cNvSpPr/>
          <p:nvPr/>
        </p:nvSpPr>
        <p:spPr>
          <a:xfrm>
            <a:off x="7135978" y="998525"/>
            <a:ext cx="21946" cy="21946"/>
          </a:xfrm>
          <a:prstGeom prst="ellipse">
            <a:avLst/>
          </a:prstGeom>
          <a:solidFill>
            <a:schemeClr val="accent5"/>
          </a:solidFill>
          <a:ln/>
        </p:spPr>
      </p:sp>
      <p:sp>
        <p:nvSpPr>
          <p:cNvPr id="22" name="prob-canvas-cell-2-1"/>
          <p:cNvSpPr/>
          <p:nvPr/>
        </p:nvSpPr>
        <p:spPr>
          <a:xfrm>
            <a:off x="7135978" y="1278331"/>
            <a:ext cx="21946" cy="21946"/>
          </a:xfrm>
          <a:prstGeom prst="ellipse">
            <a:avLst/>
          </a:prstGeom>
          <a:solidFill>
            <a:schemeClr val="accent5"/>
          </a:solidFill>
          <a:ln/>
        </p:spPr>
      </p:sp>
      <p:sp>
        <p:nvSpPr>
          <p:cNvPr id="23" name="prob-canvas-cell-2-2"/>
          <p:cNvSpPr/>
          <p:nvPr/>
        </p:nvSpPr>
        <p:spPr>
          <a:xfrm>
            <a:off x="7135978" y="1558138"/>
            <a:ext cx="21946" cy="21946"/>
          </a:xfrm>
          <a:prstGeom prst="ellipse">
            <a:avLst/>
          </a:prstGeom>
          <a:solidFill>
            <a:schemeClr val="accent5"/>
          </a:solidFill>
          <a:ln/>
        </p:spPr>
      </p:sp>
      <p:sp>
        <p:nvSpPr>
          <p:cNvPr id="24" name="prob-canvas-cell-2-3"/>
          <p:cNvSpPr/>
          <p:nvPr/>
        </p:nvSpPr>
        <p:spPr>
          <a:xfrm>
            <a:off x="7135978" y="1837944"/>
            <a:ext cx="21946" cy="21946"/>
          </a:xfrm>
          <a:prstGeom prst="ellipse">
            <a:avLst/>
          </a:prstGeom>
          <a:solidFill>
            <a:schemeClr val="accent5"/>
          </a:solidFill>
          <a:ln/>
        </p:spPr>
      </p:sp>
      <p:sp>
        <p:nvSpPr>
          <p:cNvPr id="25" name="prob-canvas-cell-2-4"/>
          <p:cNvSpPr/>
          <p:nvPr/>
        </p:nvSpPr>
        <p:spPr>
          <a:xfrm>
            <a:off x="7135978" y="2117750"/>
            <a:ext cx="21946" cy="21946"/>
          </a:xfrm>
          <a:prstGeom prst="ellipse">
            <a:avLst/>
          </a:prstGeom>
          <a:solidFill>
            <a:schemeClr val="accent5"/>
          </a:solidFill>
          <a:ln/>
        </p:spPr>
      </p:sp>
      <p:sp>
        <p:nvSpPr>
          <p:cNvPr id="26" name="prob-canvas-cell-2-5"/>
          <p:cNvSpPr/>
          <p:nvPr/>
        </p:nvSpPr>
        <p:spPr>
          <a:xfrm>
            <a:off x="7135978" y="2397557"/>
            <a:ext cx="21946" cy="21946"/>
          </a:xfrm>
          <a:prstGeom prst="ellipse">
            <a:avLst/>
          </a:prstGeom>
          <a:solidFill>
            <a:schemeClr val="accent5"/>
          </a:solidFill>
          <a:ln/>
        </p:spPr>
      </p:sp>
      <p:sp>
        <p:nvSpPr>
          <p:cNvPr id="27" name="prob-canvas-cell-2-6"/>
          <p:cNvSpPr/>
          <p:nvPr/>
        </p:nvSpPr>
        <p:spPr>
          <a:xfrm>
            <a:off x="7135978" y="2677363"/>
            <a:ext cx="21946" cy="21946"/>
          </a:xfrm>
          <a:prstGeom prst="ellipse">
            <a:avLst/>
          </a:prstGeom>
          <a:solidFill>
            <a:schemeClr val="accent5"/>
          </a:solidFill>
          <a:ln/>
        </p:spPr>
      </p:sp>
      <p:sp>
        <p:nvSpPr>
          <p:cNvPr id="28" name="prob-canvas-cell-2-7"/>
          <p:cNvSpPr/>
          <p:nvPr/>
        </p:nvSpPr>
        <p:spPr>
          <a:xfrm>
            <a:off x="7135978" y="2957170"/>
            <a:ext cx="21946" cy="21946"/>
          </a:xfrm>
          <a:prstGeom prst="ellipse">
            <a:avLst/>
          </a:prstGeom>
          <a:solidFill>
            <a:schemeClr val="accent5"/>
          </a:solidFill>
          <a:ln/>
        </p:spPr>
      </p:sp>
      <p:sp>
        <p:nvSpPr>
          <p:cNvPr id="29" name="prob-canvas-cell-3-0"/>
          <p:cNvSpPr/>
          <p:nvPr/>
        </p:nvSpPr>
        <p:spPr>
          <a:xfrm>
            <a:off x="7415784" y="998525"/>
            <a:ext cx="21946" cy="21946"/>
          </a:xfrm>
          <a:prstGeom prst="ellipse">
            <a:avLst/>
          </a:prstGeom>
          <a:solidFill>
            <a:schemeClr val="accent5"/>
          </a:solidFill>
          <a:ln/>
        </p:spPr>
      </p:sp>
      <p:sp>
        <p:nvSpPr>
          <p:cNvPr id="30" name="prob-canvas-cell-3-1"/>
          <p:cNvSpPr/>
          <p:nvPr/>
        </p:nvSpPr>
        <p:spPr>
          <a:xfrm>
            <a:off x="7415784" y="1278331"/>
            <a:ext cx="21946" cy="21946"/>
          </a:xfrm>
          <a:prstGeom prst="ellipse">
            <a:avLst/>
          </a:prstGeom>
          <a:solidFill>
            <a:schemeClr val="accent5"/>
          </a:solidFill>
          <a:ln/>
        </p:spPr>
      </p:sp>
      <p:sp>
        <p:nvSpPr>
          <p:cNvPr id="31" name="prob-canvas-cell-3-2"/>
          <p:cNvSpPr/>
          <p:nvPr/>
        </p:nvSpPr>
        <p:spPr>
          <a:xfrm>
            <a:off x="7415784" y="1558138"/>
            <a:ext cx="21946" cy="21946"/>
          </a:xfrm>
          <a:prstGeom prst="ellipse">
            <a:avLst/>
          </a:prstGeom>
          <a:solidFill>
            <a:schemeClr val="accent5"/>
          </a:solidFill>
          <a:ln/>
        </p:spPr>
      </p:sp>
      <p:sp>
        <p:nvSpPr>
          <p:cNvPr id="32" name="prob-canvas-cell-3-3"/>
          <p:cNvSpPr/>
          <p:nvPr/>
        </p:nvSpPr>
        <p:spPr>
          <a:xfrm>
            <a:off x="7415784" y="1837944"/>
            <a:ext cx="21946" cy="21946"/>
          </a:xfrm>
          <a:prstGeom prst="ellipse">
            <a:avLst/>
          </a:prstGeom>
          <a:solidFill>
            <a:schemeClr val="accent5"/>
          </a:solidFill>
          <a:ln/>
        </p:spPr>
      </p:sp>
      <p:sp>
        <p:nvSpPr>
          <p:cNvPr id="33" name="prob-canvas-cell-3-4"/>
          <p:cNvSpPr/>
          <p:nvPr/>
        </p:nvSpPr>
        <p:spPr>
          <a:xfrm>
            <a:off x="7415784" y="2117750"/>
            <a:ext cx="21946" cy="21946"/>
          </a:xfrm>
          <a:prstGeom prst="ellipse">
            <a:avLst/>
          </a:prstGeom>
          <a:solidFill>
            <a:schemeClr val="accent5"/>
          </a:solidFill>
          <a:ln/>
        </p:spPr>
      </p:sp>
      <p:sp>
        <p:nvSpPr>
          <p:cNvPr id="34" name="prob-canvas-cell-3-5"/>
          <p:cNvSpPr/>
          <p:nvPr/>
        </p:nvSpPr>
        <p:spPr>
          <a:xfrm>
            <a:off x="7415784" y="2397557"/>
            <a:ext cx="21946" cy="21946"/>
          </a:xfrm>
          <a:prstGeom prst="ellipse">
            <a:avLst/>
          </a:prstGeom>
          <a:solidFill>
            <a:schemeClr val="accent5"/>
          </a:solidFill>
          <a:ln/>
        </p:spPr>
      </p:sp>
      <p:sp>
        <p:nvSpPr>
          <p:cNvPr id="35" name="prob-canvas-cell-3-6"/>
          <p:cNvSpPr/>
          <p:nvPr/>
        </p:nvSpPr>
        <p:spPr>
          <a:xfrm>
            <a:off x="7415784" y="2677363"/>
            <a:ext cx="21946" cy="21946"/>
          </a:xfrm>
          <a:prstGeom prst="ellipse">
            <a:avLst/>
          </a:prstGeom>
          <a:solidFill>
            <a:schemeClr val="accent5"/>
          </a:solidFill>
          <a:ln/>
        </p:spPr>
      </p:sp>
      <p:sp>
        <p:nvSpPr>
          <p:cNvPr id="36" name="prob-canvas-cell-3-7"/>
          <p:cNvSpPr/>
          <p:nvPr/>
        </p:nvSpPr>
        <p:spPr>
          <a:xfrm>
            <a:off x="7415784" y="2957170"/>
            <a:ext cx="21946" cy="21946"/>
          </a:xfrm>
          <a:prstGeom prst="ellipse">
            <a:avLst/>
          </a:prstGeom>
          <a:solidFill>
            <a:schemeClr val="accent5"/>
          </a:solidFill>
          <a:ln/>
        </p:spPr>
      </p:sp>
      <p:sp>
        <p:nvSpPr>
          <p:cNvPr id="37" name="prob-canvas-cell-4-0"/>
          <p:cNvSpPr/>
          <p:nvPr/>
        </p:nvSpPr>
        <p:spPr>
          <a:xfrm>
            <a:off x="7695590" y="998525"/>
            <a:ext cx="21946" cy="21946"/>
          </a:xfrm>
          <a:prstGeom prst="ellipse">
            <a:avLst/>
          </a:prstGeom>
          <a:solidFill>
            <a:schemeClr val="accent5"/>
          </a:solidFill>
          <a:ln/>
        </p:spPr>
      </p:sp>
      <p:sp>
        <p:nvSpPr>
          <p:cNvPr id="38" name="prob-canvas-cell-4-1"/>
          <p:cNvSpPr/>
          <p:nvPr/>
        </p:nvSpPr>
        <p:spPr>
          <a:xfrm>
            <a:off x="7695590" y="1278331"/>
            <a:ext cx="21946" cy="21946"/>
          </a:xfrm>
          <a:prstGeom prst="ellipse">
            <a:avLst/>
          </a:prstGeom>
          <a:solidFill>
            <a:schemeClr val="accent5"/>
          </a:solidFill>
          <a:ln/>
        </p:spPr>
      </p:sp>
      <p:sp>
        <p:nvSpPr>
          <p:cNvPr id="39" name="prob-canvas-cell-4-2"/>
          <p:cNvSpPr/>
          <p:nvPr/>
        </p:nvSpPr>
        <p:spPr>
          <a:xfrm>
            <a:off x="7695590" y="1558138"/>
            <a:ext cx="21946" cy="21946"/>
          </a:xfrm>
          <a:prstGeom prst="ellipse">
            <a:avLst/>
          </a:prstGeom>
          <a:solidFill>
            <a:schemeClr val="accent5"/>
          </a:solidFill>
          <a:ln/>
        </p:spPr>
      </p:sp>
      <p:sp>
        <p:nvSpPr>
          <p:cNvPr id="40" name="prob-canvas-cell-4-3"/>
          <p:cNvSpPr/>
          <p:nvPr/>
        </p:nvSpPr>
        <p:spPr>
          <a:xfrm>
            <a:off x="7695590" y="1837944"/>
            <a:ext cx="21946" cy="21946"/>
          </a:xfrm>
          <a:prstGeom prst="ellipse">
            <a:avLst/>
          </a:prstGeom>
          <a:solidFill>
            <a:schemeClr val="accent5"/>
          </a:solidFill>
          <a:ln/>
        </p:spPr>
      </p:sp>
      <p:sp>
        <p:nvSpPr>
          <p:cNvPr id="41" name="prob-canvas-cell-4-4"/>
          <p:cNvSpPr/>
          <p:nvPr/>
        </p:nvSpPr>
        <p:spPr>
          <a:xfrm>
            <a:off x="7695590" y="2117750"/>
            <a:ext cx="21946" cy="21946"/>
          </a:xfrm>
          <a:prstGeom prst="ellipse">
            <a:avLst/>
          </a:prstGeom>
          <a:solidFill>
            <a:schemeClr val="accent5"/>
          </a:solidFill>
          <a:ln/>
        </p:spPr>
      </p:sp>
      <p:sp>
        <p:nvSpPr>
          <p:cNvPr id="42" name="prob-canvas-cell-4-5"/>
          <p:cNvSpPr/>
          <p:nvPr/>
        </p:nvSpPr>
        <p:spPr>
          <a:xfrm>
            <a:off x="7695590" y="2397557"/>
            <a:ext cx="21946" cy="21946"/>
          </a:xfrm>
          <a:prstGeom prst="ellipse">
            <a:avLst/>
          </a:prstGeom>
          <a:solidFill>
            <a:schemeClr val="accent5"/>
          </a:solidFill>
          <a:ln/>
        </p:spPr>
      </p:sp>
      <p:sp>
        <p:nvSpPr>
          <p:cNvPr id="43" name="prob-canvas-cell-4-6"/>
          <p:cNvSpPr/>
          <p:nvPr/>
        </p:nvSpPr>
        <p:spPr>
          <a:xfrm>
            <a:off x="7695590" y="2677363"/>
            <a:ext cx="21946" cy="21946"/>
          </a:xfrm>
          <a:prstGeom prst="ellipse">
            <a:avLst/>
          </a:prstGeom>
          <a:solidFill>
            <a:schemeClr val="accent5"/>
          </a:solidFill>
          <a:ln/>
        </p:spPr>
      </p:sp>
      <p:sp>
        <p:nvSpPr>
          <p:cNvPr id="44" name="prob-canvas-cell-4-7"/>
          <p:cNvSpPr/>
          <p:nvPr/>
        </p:nvSpPr>
        <p:spPr>
          <a:xfrm>
            <a:off x="7695590" y="2957170"/>
            <a:ext cx="21946" cy="21946"/>
          </a:xfrm>
          <a:prstGeom prst="ellipse">
            <a:avLst/>
          </a:prstGeom>
          <a:solidFill>
            <a:schemeClr val="accent5"/>
          </a:solidFill>
          <a:ln/>
        </p:spPr>
      </p:sp>
      <p:sp>
        <p:nvSpPr>
          <p:cNvPr id="45" name="prob-canvas-cell-5-0"/>
          <p:cNvSpPr/>
          <p:nvPr/>
        </p:nvSpPr>
        <p:spPr>
          <a:xfrm>
            <a:off x="7975397" y="998525"/>
            <a:ext cx="21946" cy="21946"/>
          </a:xfrm>
          <a:prstGeom prst="ellipse">
            <a:avLst/>
          </a:prstGeom>
          <a:solidFill>
            <a:schemeClr val="accent5"/>
          </a:solidFill>
          <a:ln/>
        </p:spPr>
      </p:sp>
      <p:sp>
        <p:nvSpPr>
          <p:cNvPr id="46" name="prob-canvas-cell-5-1"/>
          <p:cNvSpPr/>
          <p:nvPr/>
        </p:nvSpPr>
        <p:spPr>
          <a:xfrm>
            <a:off x="7975397" y="1278331"/>
            <a:ext cx="21946" cy="21946"/>
          </a:xfrm>
          <a:prstGeom prst="ellipse">
            <a:avLst/>
          </a:prstGeom>
          <a:solidFill>
            <a:schemeClr val="accent5"/>
          </a:solidFill>
          <a:ln/>
        </p:spPr>
      </p:sp>
      <p:sp>
        <p:nvSpPr>
          <p:cNvPr id="47" name="prob-canvas-cell-5-2"/>
          <p:cNvSpPr/>
          <p:nvPr/>
        </p:nvSpPr>
        <p:spPr>
          <a:xfrm>
            <a:off x="7975397" y="1558138"/>
            <a:ext cx="21946" cy="21946"/>
          </a:xfrm>
          <a:prstGeom prst="ellipse">
            <a:avLst/>
          </a:prstGeom>
          <a:solidFill>
            <a:schemeClr val="accent5"/>
          </a:solidFill>
          <a:ln/>
        </p:spPr>
      </p:sp>
      <p:sp>
        <p:nvSpPr>
          <p:cNvPr id="48" name="prob-canvas-cell-5-3"/>
          <p:cNvSpPr/>
          <p:nvPr/>
        </p:nvSpPr>
        <p:spPr>
          <a:xfrm>
            <a:off x="7975397" y="1837944"/>
            <a:ext cx="21946" cy="21946"/>
          </a:xfrm>
          <a:prstGeom prst="ellipse">
            <a:avLst/>
          </a:prstGeom>
          <a:solidFill>
            <a:schemeClr val="accent5"/>
          </a:solidFill>
          <a:ln/>
        </p:spPr>
      </p:sp>
      <p:sp>
        <p:nvSpPr>
          <p:cNvPr id="49" name="prob-canvas-cell-5-4"/>
          <p:cNvSpPr/>
          <p:nvPr/>
        </p:nvSpPr>
        <p:spPr>
          <a:xfrm>
            <a:off x="7975397" y="2117750"/>
            <a:ext cx="21946" cy="21946"/>
          </a:xfrm>
          <a:prstGeom prst="ellipse">
            <a:avLst/>
          </a:prstGeom>
          <a:solidFill>
            <a:schemeClr val="accent5"/>
          </a:solidFill>
          <a:ln/>
        </p:spPr>
      </p:sp>
      <p:sp>
        <p:nvSpPr>
          <p:cNvPr id="50" name="prob-canvas-cell-5-5"/>
          <p:cNvSpPr/>
          <p:nvPr/>
        </p:nvSpPr>
        <p:spPr>
          <a:xfrm>
            <a:off x="7975397" y="2397557"/>
            <a:ext cx="21946" cy="21946"/>
          </a:xfrm>
          <a:prstGeom prst="ellipse">
            <a:avLst/>
          </a:prstGeom>
          <a:solidFill>
            <a:schemeClr val="accent5"/>
          </a:solidFill>
          <a:ln/>
        </p:spPr>
      </p:sp>
      <p:sp>
        <p:nvSpPr>
          <p:cNvPr id="51" name="prob-canvas-cell-5-6"/>
          <p:cNvSpPr/>
          <p:nvPr/>
        </p:nvSpPr>
        <p:spPr>
          <a:xfrm>
            <a:off x="7975397" y="2677363"/>
            <a:ext cx="21946" cy="21946"/>
          </a:xfrm>
          <a:prstGeom prst="ellipse">
            <a:avLst/>
          </a:prstGeom>
          <a:solidFill>
            <a:schemeClr val="accent5"/>
          </a:solidFill>
          <a:ln/>
        </p:spPr>
      </p:sp>
      <p:sp>
        <p:nvSpPr>
          <p:cNvPr id="52" name="prob-canvas-cell-5-7"/>
          <p:cNvSpPr/>
          <p:nvPr/>
        </p:nvSpPr>
        <p:spPr>
          <a:xfrm>
            <a:off x="7975397" y="2957170"/>
            <a:ext cx="21946" cy="21946"/>
          </a:xfrm>
          <a:prstGeom prst="ellipse">
            <a:avLst/>
          </a:prstGeom>
          <a:solidFill>
            <a:schemeClr val="accent5"/>
          </a:solidFill>
          <a:ln/>
        </p:spPr>
      </p:sp>
      <p:sp>
        <p:nvSpPr>
          <p:cNvPr id="53" name="prob-canvas-cell-6-0"/>
          <p:cNvSpPr/>
          <p:nvPr/>
        </p:nvSpPr>
        <p:spPr>
          <a:xfrm>
            <a:off x="8255203" y="998525"/>
            <a:ext cx="21946" cy="21946"/>
          </a:xfrm>
          <a:prstGeom prst="ellipse">
            <a:avLst/>
          </a:prstGeom>
          <a:solidFill>
            <a:schemeClr val="accent5"/>
          </a:solidFill>
          <a:ln/>
        </p:spPr>
      </p:sp>
      <p:sp>
        <p:nvSpPr>
          <p:cNvPr id="54" name="prob-canvas-cell-6-1"/>
          <p:cNvSpPr/>
          <p:nvPr/>
        </p:nvSpPr>
        <p:spPr>
          <a:xfrm>
            <a:off x="8255203" y="1278331"/>
            <a:ext cx="21946" cy="21946"/>
          </a:xfrm>
          <a:prstGeom prst="ellipse">
            <a:avLst/>
          </a:prstGeom>
          <a:solidFill>
            <a:schemeClr val="accent5"/>
          </a:solidFill>
          <a:ln/>
        </p:spPr>
      </p:sp>
      <p:sp>
        <p:nvSpPr>
          <p:cNvPr id="55" name="prob-canvas-cell-6-2"/>
          <p:cNvSpPr/>
          <p:nvPr/>
        </p:nvSpPr>
        <p:spPr>
          <a:xfrm>
            <a:off x="8255203" y="1558138"/>
            <a:ext cx="21946" cy="21946"/>
          </a:xfrm>
          <a:prstGeom prst="ellipse">
            <a:avLst/>
          </a:prstGeom>
          <a:solidFill>
            <a:schemeClr val="accent5"/>
          </a:solidFill>
          <a:ln/>
        </p:spPr>
      </p:sp>
      <p:sp>
        <p:nvSpPr>
          <p:cNvPr id="56" name="prob-canvas-cell-6-3"/>
          <p:cNvSpPr/>
          <p:nvPr/>
        </p:nvSpPr>
        <p:spPr>
          <a:xfrm>
            <a:off x="8255203" y="1837944"/>
            <a:ext cx="21946" cy="21946"/>
          </a:xfrm>
          <a:prstGeom prst="ellipse">
            <a:avLst/>
          </a:prstGeom>
          <a:solidFill>
            <a:schemeClr val="accent5"/>
          </a:solidFill>
          <a:ln/>
        </p:spPr>
      </p:sp>
      <p:sp>
        <p:nvSpPr>
          <p:cNvPr id="57" name="prob-canvas-cell-6-4"/>
          <p:cNvSpPr/>
          <p:nvPr/>
        </p:nvSpPr>
        <p:spPr>
          <a:xfrm>
            <a:off x="8255203" y="2117750"/>
            <a:ext cx="21946" cy="21946"/>
          </a:xfrm>
          <a:prstGeom prst="ellipse">
            <a:avLst/>
          </a:prstGeom>
          <a:solidFill>
            <a:schemeClr val="accent5"/>
          </a:solidFill>
          <a:ln/>
        </p:spPr>
      </p:sp>
      <p:sp>
        <p:nvSpPr>
          <p:cNvPr id="58" name="prob-canvas-cell-6-5"/>
          <p:cNvSpPr/>
          <p:nvPr/>
        </p:nvSpPr>
        <p:spPr>
          <a:xfrm>
            <a:off x="8255203" y="2397557"/>
            <a:ext cx="21946" cy="21946"/>
          </a:xfrm>
          <a:prstGeom prst="ellipse">
            <a:avLst/>
          </a:prstGeom>
          <a:solidFill>
            <a:schemeClr val="accent5"/>
          </a:solidFill>
          <a:ln/>
        </p:spPr>
      </p:sp>
      <p:sp>
        <p:nvSpPr>
          <p:cNvPr id="59" name="prob-canvas-cell-6-6"/>
          <p:cNvSpPr/>
          <p:nvPr/>
        </p:nvSpPr>
        <p:spPr>
          <a:xfrm>
            <a:off x="8255203" y="2677363"/>
            <a:ext cx="21946" cy="21946"/>
          </a:xfrm>
          <a:prstGeom prst="ellipse">
            <a:avLst/>
          </a:prstGeom>
          <a:solidFill>
            <a:schemeClr val="accent5"/>
          </a:solidFill>
          <a:ln/>
        </p:spPr>
      </p:sp>
      <p:sp>
        <p:nvSpPr>
          <p:cNvPr id="60" name="prob-canvas-cell-6-7"/>
          <p:cNvSpPr/>
          <p:nvPr/>
        </p:nvSpPr>
        <p:spPr>
          <a:xfrm>
            <a:off x="8255203" y="2957170"/>
            <a:ext cx="21946" cy="21946"/>
          </a:xfrm>
          <a:prstGeom prst="ellipse">
            <a:avLst/>
          </a:prstGeom>
          <a:solidFill>
            <a:schemeClr val="accent5"/>
          </a:solidFill>
          <a:ln/>
        </p:spPr>
      </p:sp>
      <p:sp>
        <p:nvSpPr>
          <p:cNvPr id="61" name="prob-canvas-cell-7-0"/>
          <p:cNvSpPr/>
          <p:nvPr/>
        </p:nvSpPr>
        <p:spPr>
          <a:xfrm>
            <a:off x="8535010" y="998525"/>
            <a:ext cx="21946" cy="21946"/>
          </a:xfrm>
          <a:prstGeom prst="ellipse">
            <a:avLst/>
          </a:prstGeom>
          <a:solidFill>
            <a:schemeClr val="accent5"/>
          </a:solidFill>
          <a:ln/>
        </p:spPr>
      </p:sp>
      <p:sp>
        <p:nvSpPr>
          <p:cNvPr id="62" name="prob-canvas-cell-7-1"/>
          <p:cNvSpPr/>
          <p:nvPr/>
        </p:nvSpPr>
        <p:spPr>
          <a:xfrm>
            <a:off x="8535010" y="1278331"/>
            <a:ext cx="21946" cy="21946"/>
          </a:xfrm>
          <a:prstGeom prst="ellipse">
            <a:avLst/>
          </a:prstGeom>
          <a:solidFill>
            <a:schemeClr val="accent5"/>
          </a:solidFill>
          <a:ln/>
        </p:spPr>
      </p:sp>
      <p:sp>
        <p:nvSpPr>
          <p:cNvPr id="63" name="prob-canvas-cell-7-2"/>
          <p:cNvSpPr/>
          <p:nvPr/>
        </p:nvSpPr>
        <p:spPr>
          <a:xfrm>
            <a:off x="8535010" y="1558138"/>
            <a:ext cx="21946" cy="21946"/>
          </a:xfrm>
          <a:prstGeom prst="ellipse">
            <a:avLst/>
          </a:prstGeom>
          <a:solidFill>
            <a:schemeClr val="accent5"/>
          </a:solidFill>
          <a:ln/>
        </p:spPr>
      </p:sp>
      <p:sp>
        <p:nvSpPr>
          <p:cNvPr id="64" name="prob-canvas-cell-7-3"/>
          <p:cNvSpPr/>
          <p:nvPr/>
        </p:nvSpPr>
        <p:spPr>
          <a:xfrm>
            <a:off x="8535010" y="1837944"/>
            <a:ext cx="21946" cy="21946"/>
          </a:xfrm>
          <a:prstGeom prst="ellipse">
            <a:avLst/>
          </a:prstGeom>
          <a:solidFill>
            <a:schemeClr val="accent5"/>
          </a:solidFill>
          <a:ln/>
        </p:spPr>
      </p:sp>
      <p:sp>
        <p:nvSpPr>
          <p:cNvPr id="65" name="prob-canvas-cell-7-4"/>
          <p:cNvSpPr/>
          <p:nvPr/>
        </p:nvSpPr>
        <p:spPr>
          <a:xfrm>
            <a:off x="8535010" y="2117750"/>
            <a:ext cx="21946" cy="21946"/>
          </a:xfrm>
          <a:prstGeom prst="ellipse">
            <a:avLst/>
          </a:prstGeom>
          <a:solidFill>
            <a:schemeClr val="accent5"/>
          </a:solidFill>
          <a:ln/>
        </p:spPr>
      </p:sp>
      <p:sp>
        <p:nvSpPr>
          <p:cNvPr id="66" name="prob-canvas-cell-7-5"/>
          <p:cNvSpPr/>
          <p:nvPr/>
        </p:nvSpPr>
        <p:spPr>
          <a:xfrm>
            <a:off x="8535010" y="2397557"/>
            <a:ext cx="21946" cy="21946"/>
          </a:xfrm>
          <a:prstGeom prst="ellipse">
            <a:avLst/>
          </a:prstGeom>
          <a:solidFill>
            <a:schemeClr val="accent5"/>
          </a:solidFill>
          <a:ln/>
        </p:spPr>
      </p:sp>
      <p:sp>
        <p:nvSpPr>
          <p:cNvPr id="67" name="prob-canvas-cell-7-6"/>
          <p:cNvSpPr/>
          <p:nvPr/>
        </p:nvSpPr>
        <p:spPr>
          <a:xfrm>
            <a:off x="8535010" y="2677363"/>
            <a:ext cx="21946" cy="21946"/>
          </a:xfrm>
          <a:prstGeom prst="ellipse">
            <a:avLst/>
          </a:prstGeom>
          <a:solidFill>
            <a:schemeClr val="accent5"/>
          </a:solidFill>
          <a:ln/>
        </p:spPr>
      </p:sp>
      <p:sp>
        <p:nvSpPr>
          <p:cNvPr id="68" name="prob-canvas-cell-7-7"/>
          <p:cNvSpPr/>
          <p:nvPr/>
        </p:nvSpPr>
        <p:spPr>
          <a:xfrm>
            <a:off x="8535010" y="2957170"/>
            <a:ext cx="21946" cy="21946"/>
          </a:xfrm>
          <a:prstGeom prst="ellipse">
            <a:avLst/>
          </a:prstGeom>
          <a:solidFill>
            <a:schemeClr val="accent5"/>
          </a:solidFill>
          <a:ln/>
        </p:spPr>
      </p:sp>
      <p:sp>
        <p:nvSpPr>
          <p:cNvPr id="69" name="prob-canvas-macro-0"/>
          <p:cNvSpPr/>
          <p:nvPr/>
        </p:nvSpPr>
        <p:spPr>
          <a:xfrm>
            <a:off x="6913778" y="1289304"/>
            <a:ext cx="466344" cy="396392"/>
          </a:xfrm>
          <a:prstGeom prst="rect">
            <a:avLst/>
          </a:prstGeom>
          <a:solidFill>
            <a:schemeClr val="accent1">
              <a:alpha val="75000"/>
            </a:schemeClr>
          </a:solidFill>
          <a:ln w="9525">
            <a:solidFill>
              <a:schemeClr val="bg1"/>
            </a:solidFill>
            <a:prstDash val="solid"/>
          </a:ln>
        </p:spPr>
      </p:sp>
      <p:sp>
        <p:nvSpPr>
          <p:cNvPr id="70" name="prob-canvas-macro-1"/>
          <p:cNvSpPr/>
          <p:nvPr/>
        </p:nvSpPr>
        <p:spPr>
          <a:xfrm>
            <a:off x="7426757" y="1289304"/>
            <a:ext cx="396392" cy="512978"/>
          </a:xfrm>
          <a:prstGeom prst="rect">
            <a:avLst/>
          </a:prstGeom>
          <a:solidFill>
            <a:schemeClr val="accent1">
              <a:alpha val="75000"/>
            </a:schemeClr>
          </a:solidFill>
          <a:ln w="9525">
            <a:solidFill>
              <a:schemeClr val="bg1"/>
            </a:solidFill>
            <a:prstDash val="solid"/>
          </a:ln>
        </p:spPr>
      </p:sp>
      <p:sp>
        <p:nvSpPr>
          <p:cNvPr id="71" name="prob-canvas-macro-2"/>
          <p:cNvSpPr/>
          <p:nvPr/>
        </p:nvSpPr>
        <p:spPr>
          <a:xfrm>
            <a:off x="7869784" y="1382573"/>
            <a:ext cx="303124" cy="349758"/>
          </a:xfrm>
          <a:prstGeom prst="rect">
            <a:avLst/>
          </a:prstGeom>
          <a:solidFill>
            <a:schemeClr val="accent1">
              <a:alpha val="75000"/>
            </a:schemeClr>
          </a:solidFill>
          <a:ln w="9525">
            <a:solidFill>
              <a:schemeClr val="bg1"/>
            </a:solidFill>
            <a:prstDash val="solid"/>
          </a:ln>
        </p:spPr>
      </p:sp>
      <p:sp>
        <p:nvSpPr>
          <p:cNvPr id="72" name="prob-canvas-macro-3"/>
          <p:cNvSpPr/>
          <p:nvPr/>
        </p:nvSpPr>
        <p:spPr>
          <a:xfrm>
            <a:off x="6960413" y="1755648"/>
            <a:ext cx="559613" cy="419710"/>
          </a:xfrm>
          <a:prstGeom prst="rect">
            <a:avLst/>
          </a:prstGeom>
          <a:solidFill>
            <a:schemeClr val="accent1">
              <a:alpha val="75000"/>
            </a:schemeClr>
          </a:solidFill>
          <a:ln w="9525">
            <a:solidFill>
              <a:schemeClr val="bg1"/>
            </a:solidFill>
            <a:prstDash val="solid"/>
          </a:ln>
        </p:spPr>
      </p:sp>
      <p:sp>
        <p:nvSpPr>
          <p:cNvPr id="73" name="prob-canvas-macro-4"/>
          <p:cNvSpPr/>
          <p:nvPr/>
        </p:nvSpPr>
        <p:spPr>
          <a:xfrm>
            <a:off x="7566660" y="1872234"/>
            <a:ext cx="466344" cy="512978"/>
          </a:xfrm>
          <a:prstGeom prst="rect">
            <a:avLst/>
          </a:prstGeom>
          <a:solidFill>
            <a:schemeClr val="accent1">
              <a:alpha val="75000"/>
            </a:schemeClr>
          </a:solidFill>
          <a:ln w="9525">
            <a:solidFill>
              <a:schemeClr val="bg1"/>
            </a:solidFill>
            <a:prstDash val="solid"/>
          </a:ln>
        </p:spPr>
      </p:sp>
      <p:sp>
        <p:nvSpPr>
          <p:cNvPr id="74" name="prob-canvas-macro-5"/>
          <p:cNvSpPr/>
          <p:nvPr/>
        </p:nvSpPr>
        <p:spPr>
          <a:xfrm>
            <a:off x="7100316" y="2221992"/>
            <a:ext cx="419710" cy="349758"/>
          </a:xfrm>
          <a:prstGeom prst="rect">
            <a:avLst/>
          </a:prstGeom>
          <a:solidFill>
            <a:schemeClr val="accent1">
              <a:alpha val="75000"/>
            </a:schemeClr>
          </a:solidFill>
          <a:ln w="9525">
            <a:solidFill>
              <a:schemeClr val="bg1"/>
            </a:solidFill>
            <a:prstDash val="solid"/>
          </a:ln>
        </p:spPr>
      </p:sp>
      <p:sp>
        <p:nvSpPr>
          <p:cNvPr id="75" name="prob-canvas-macro-6"/>
          <p:cNvSpPr/>
          <p:nvPr/>
        </p:nvSpPr>
        <p:spPr>
          <a:xfrm>
            <a:off x="7566660" y="2431847"/>
            <a:ext cx="373075" cy="279806"/>
          </a:xfrm>
          <a:prstGeom prst="rect">
            <a:avLst/>
          </a:prstGeom>
          <a:solidFill>
            <a:schemeClr val="accent1">
              <a:alpha val="75000"/>
            </a:schemeClr>
          </a:solidFill>
          <a:ln w="9525">
            <a:solidFill>
              <a:schemeClr val="bg1"/>
            </a:solidFill>
            <a:prstDash val="solid"/>
          </a:ln>
        </p:spPr>
      </p:sp>
      <p:sp>
        <p:nvSpPr>
          <p:cNvPr id="76" name="Text 74"/>
          <p:cNvSpPr txBox="1"/>
          <p:nvPr/>
        </p:nvSpPr>
        <p:spPr>
          <a:xfrm>
            <a:off x="365760" y="3246120"/>
            <a:ext cx="5486400" cy="274320"/>
          </a:xfrm>
          <a:prstGeom prst="rect">
            <a:avLst/>
          </a:prstGeom>
          <a:noFill/>
          <a:ln/>
        </p:spPr>
        <p:txBody>
          <a:bodyPr wrap="square" lIns="0" tIns="0" rIns="0" bIns="0" rtlCol="0" anchor="t"/>
          <a:lstStyle/>
          <a:p>
            <a:pPr indent="0" marL="0">
              <a:buNone/>
            </a:pPr>
            <a:r>
              <a:rPr lang="en-US" sz="1500" b="1" dirty="0">
                <a:solidFill>
                  <a:schemeClr val="accent1"/>
                </a:solidFill>
              </a:rPr>
              <a:t>How a placement is judged</a:t>
            </a:r>
            <a:endParaRPr lang="en-US" sz="1500" dirty="0"/>
          </a:p>
        </p:txBody>
      </p:sp>
      <p:sp>
        <p:nvSpPr>
          <p:cNvPr id="77" name="met-0"/>
          <p:cNvSpPr/>
          <p:nvPr/>
        </p:nvSpPr>
        <p:spPr>
          <a:xfrm>
            <a:off x="365760" y="3611880"/>
            <a:ext cx="1975104" cy="1097280"/>
          </a:xfrm>
          <a:prstGeom prst="roundRect">
            <a:avLst>
              <a:gd name="adj" fmla="val 5000"/>
            </a:avLst>
          </a:prstGeom>
          <a:solidFill>
            <a:schemeClr val="bg2"/>
          </a:solidFill>
          <a:ln/>
        </p:spPr>
      </p:sp>
      <p:sp>
        <p:nvSpPr>
          <p:cNvPr id="78" name="Text 76"/>
          <p:cNvSpPr txBox="1"/>
          <p:nvPr/>
        </p:nvSpPr>
        <p:spPr>
          <a:xfrm>
            <a:off x="502920" y="3703320"/>
            <a:ext cx="1737360" cy="320040"/>
          </a:xfrm>
          <a:prstGeom prst="rect">
            <a:avLst/>
          </a:prstGeom>
          <a:noFill/>
          <a:ln/>
        </p:spPr>
        <p:txBody>
          <a:bodyPr wrap="square" lIns="0" tIns="0" rIns="0" bIns="0" rtlCol="0" anchor="t"/>
          <a:lstStyle/>
          <a:p>
            <a:pPr indent="0" marL="0">
              <a:buNone/>
            </a:pPr>
            <a:r>
              <a:rPr lang="en-US" sz="1600" b="1" dirty="0">
                <a:solidFill>
                  <a:schemeClr val="accent1"/>
                </a:solidFill>
              </a:rPr>
              <a:t>Wirelength</a:t>
            </a:r>
            <a:endParaRPr lang="en-US" sz="1600" dirty="0"/>
          </a:p>
        </p:txBody>
      </p:sp>
      <p:sp>
        <p:nvSpPr>
          <p:cNvPr id="79" name="Text 77"/>
          <p:cNvSpPr txBox="1"/>
          <p:nvPr/>
        </p:nvSpPr>
        <p:spPr>
          <a:xfrm>
            <a:off x="502920" y="4069080"/>
            <a:ext cx="1737360" cy="548640"/>
          </a:xfrm>
          <a:prstGeom prst="rect">
            <a:avLst/>
          </a:prstGeom>
          <a:noFill/>
          <a:ln/>
        </p:spPr>
        <p:txBody>
          <a:bodyPr wrap="square" lIns="0" tIns="0" rIns="0" bIns="0" rtlCol="0" anchor="t"/>
          <a:lstStyle/>
          <a:p>
            <a:pPr indent="0" marL="0">
              <a:buNone/>
            </a:pPr>
            <a:r>
              <a:rPr lang="en-US" sz="1300" dirty="0">
                <a:solidFill>
                  <a:schemeClr val="tx1"/>
                </a:solidFill>
              </a:rPr>
              <a:t>total length of all nets</a:t>
            </a:r>
            <a:endParaRPr lang="en-US" sz="1300" dirty="0"/>
          </a:p>
        </p:txBody>
      </p:sp>
      <p:sp>
        <p:nvSpPr>
          <p:cNvPr id="80" name="met-1"/>
          <p:cNvSpPr/>
          <p:nvPr/>
        </p:nvSpPr>
        <p:spPr>
          <a:xfrm>
            <a:off x="2487168" y="3611880"/>
            <a:ext cx="1975104" cy="1097280"/>
          </a:xfrm>
          <a:prstGeom prst="roundRect">
            <a:avLst>
              <a:gd name="adj" fmla="val 5000"/>
            </a:avLst>
          </a:prstGeom>
          <a:solidFill>
            <a:schemeClr val="bg2"/>
          </a:solidFill>
          <a:ln/>
        </p:spPr>
      </p:sp>
      <p:sp>
        <p:nvSpPr>
          <p:cNvPr id="81" name="Text 79"/>
          <p:cNvSpPr txBox="1"/>
          <p:nvPr/>
        </p:nvSpPr>
        <p:spPr>
          <a:xfrm>
            <a:off x="2624328" y="3703320"/>
            <a:ext cx="1737360" cy="320040"/>
          </a:xfrm>
          <a:prstGeom prst="rect">
            <a:avLst/>
          </a:prstGeom>
          <a:noFill/>
          <a:ln/>
        </p:spPr>
        <p:txBody>
          <a:bodyPr wrap="square" lIns="0" tIns="0" rIns="0" bIns="0" rtlCol="0" anchor="t"/>
          <a:lstStyle/>
          <a:p>
            <a:pPr indent="0" marL="0">
              <a:buNone/>
            </a:pPr>
            <a:r>
              <a:rPr lang="en-US" sz="1600" b="1" dirty="0">
                <a:solidFill>
                  <a:schemeClr val="accent1"/>
                </a:solidFill>
              </a:rPr>
              <a:t>Regularity</a:t>
            </a:r>
            <a:endParaRPr lang="en-US" sz="1600" dirty="0"/>
          </a:p>
        </p:txBody>
      </p:sp>
      <p:sp>
        <p:nvSpPr>
          <p:cNvPr id="82" name="Text 80"/>
          <p:cNvSpPr txBox="1"/>
          <p:nvPr/>
        </p:nvSpPr>
        <p:spPr>
          <a:xfrm>
            <a:off x="2624328" y="4069080"/>
            <a:ext cx="1737360" cy="548640"/>
          </a:xfrm>
          <a:prstGeom prst="rect">
            <a:avLst/>
          </a:prstGeom>
          <a:noFill/>
          <a:ln/>
        </p:spPr>
        <p:txBody>
          <a:bodyPr wrap="square" lIns="0" tIns="0" rIns="0" bIns="0" rtlCol="0" anchor="t"/>
          <a:lstStyle/>
          <a:p>
            <a:pPr indent="0" marL="0">
              <a:buNone/>
            </a:pPr>
            <a:r>
              <a:rPr lang="en-US" sz="1300" dirty="0">
                <a:solidFill>
                  <a:schemeClr val="tx1"/>
                </a:solidFill>
              </a:rPr>
              <a:t>macros close to the edges</a:t>
            </a:r>
            <a:endParaRPr lang="en-US" sz="1300" dirty="0"/>
          </a:p>
        </p:txBody>
      </p:sp>
      <p:sp>
        <p:nvSpPr>
          <p:cNvPr id="83" name="met-2"/>
          <p:cNvSpPr/>
          <p:nvPr/>
        </p:nvSpPr>
        <p:spPr>
          <a:xfrm>
            <a:off x="4608576" y="3611880"/>
            <a:ext cx="1975104" cy="1097280"/>
          </a:xfrm>
          <a:prstGeom prst="roundRect">
            <a:avLst>
              <a:gd name="adj" fmla="val 5000"/>
            </a:avLst>
          </a:prstGeom>
          <a:solidFill>
            <a:schemeClr val="bg2"/>
          </a:solidFill>
          <a:ln/>
        </p:spPr>
      </p:sp>
      <p:sp>
        <p:nvSpPr>
          <p:cNvPr id="84" name="Text 82"/>
          <p:cNvSpPr txBox="1"/>
          <p:nvPr/>
        </p:nvSpPr>
        <p:spPr>
          <a:xfrm>
            <a:off x="4745736" y="3703320"/>
            <a:ext cx="1737360" cy="320040"/>
          </a:xfrm>
          <a:prstGeom prst="rect">
            <a:avLst/>
          </a:prstGeom>
          <a:noFill/>
          <a:ln/>
        </p:spPr>
        <p:txBody>
          <a:bodyPr wrap="square" lIns="0" tIns="0" rIns="0" bIns="0" rtlCol="0" anchor="t"/>
          <a:lstStyle/>
          <a:p>
            <a:pPr indent="0" marL="0">
              <a:buNone/>
            </a:pPr>
            <a:r>
              <a:rPr lang="en-US" sz="1600" b="1" dirty="0">
                <a:solidFill>
                  <a:schemeClr val="accent1"/>
                </a:solidFill>
              </a:rPr>
              <a:t>Congestion</a:t>
            </a:r>
            <a:endParaRPr lang="en-US" sz="1600" dirty="0"/>
          </a:p>
        </p:txBody>
      </p:sp>
      <p:sp>
        <p:nvSpPr>
          <p:cNvPr id="85" name="Text 83"/>
          <p:cNvSpPr txBox="1"/>
          <p:nvPr/>
        </p:nvSpPr>
        <p:spPr>
          <a:xfrm>
            <a:off x="4745736" y="4069080"/>
            <a:ext cx="1737360" cy="548640"/>
          </a:xfrm>
          <a:prstGeom prst="rect">
            <a:avLst/>
          </a:prstGeom>
          <a:noFill/>
          <a:ln/>
        </p:spPr>
        <p:txBody>
          <a:bodyPr wrap="square" lIns="0" tIns="0" rIns="0" bIns="0" rtlCol="0" anchor="t"/>
          <a:lstStyle/>
          <a:p>
            <a:pPr indent="0" marL="0">
              <a:buNone/>
            </a:pPr>
            <a:r>
              <a:rPr lang="en-US" sz="1300" dirty="0">
                <a:solidFill>
                  <a:schemeClr val="tx1"/>
                </a:solidFill>
              </a:rPr>
              <a:t>wires needed vs. available</a:t>
            </a:r>
            <a:endParaRPr lang="en-US" sz="1300" dirty="0"/>
          </a:p>
        </p:txBody>
      </p:sp>
      <p:sp>
        <p:nvSpPr>
          <p:cNvPr id="86" name="met-3"/>
          <p:cNvSpPr/>
          <p:nvPr/>
        </p:nvSpPr>
        <p:spPr>
          <a:xfrm>
            <a:off x="6729984" y="3611880"/>
            <a:ext cx="1975104" cy="1097280"/>
          </a:xfrm>
          <a:prstGeom prst="roundRect">
            <a:avLst>
              <a:gd name="adj" fmla="val 5000"/>
            </a:avLst>
          </a:prstGeom>
          <a:solidFill>
            <a:schemeClr val="bg2"/>
          </a:solidFill>
          <a:ln/>
        </p:spPr>
      </p:sp>
      <p:sp>
        <p:nvSpPr>
          <p:cNvPr id="87" name="Text 85"/>
          <p:cNvSpPr txBox="1"/>
          <p:nvPr/>
        </p:nvSpPr>
        <p:spPr>
          <a:xfrm>
            <a:off x="6867144" y="3703320"/>
            <a:ext cx="1737360" cy="320040"/>
          </a:xfrm>
          <a:prstGeom prst="rect">
            <a:avLst/>
          </a:prstGeom>
          <a:noFill/>
          <a:ln/>
        </p:spPr>
        <p:txBody>
          <a:bodyPr wrap="square" lIns="0" tIns="0" rIns="0" bIns="0" rtlCol="0" anchor="t"/>
          <a:lstStyle/>
          <a:p>
            <a:pPr indent="0" marL="0">
              <a:buNone/>
            </a:pPr>
            <a:r>
              <a:rPr lang="en-US" sz="1600" b="1" dirty="0">
                <a:solidFill>
                  <a:schemeClr val="accent1"/>
                </a:solidFill>
              </a:rPr>
              <a:t>Timing</a:t>
            </a:r>
            <a:endParaRPr lang="en-US" sz="1600" dirty="0"/>
          </a:p>
        </p:txBody>
      </p:sp>
      <p:sp>
        <p:nvSpPr>
          <p:cNvPr id="88" name="Text 86"/>
          <p:cNvSpPr txBox="1"/>
          <p:nvPr/>
        </p:nvSpPr>
        <p:spPr>
          <a:xfrm>
            <a:off x="6867144" y="4069080"/>
            <a:ext cx="1737360" cy="548640"/>
          </a:xfrm>
          <a:prstGeom prst="rect">
            <a:avLst/>
          </a:prstGeom>
          <a:noFill/>
          <a:ln/>
        </p:spPr>
        <p:txBody>
          <a:bodyPr wrap="square" lIns="0" tIns="0" rIns="0" bIns="0" rtlCol="0" anchor="t"/>
          <a:lstStyle/>
          <a:p>
            <a:pPr indent="0" marL="0">
              <a:buNone/>
            </a:pPr>
            <a:r>
              <a:rPr lang="en-US" sz="1300" dirty="0">
                <a:solidFill>
                  <a:schemeClr val="tx1"/>
                </a:solidFill>
              </a:rPr>
              <a:t>do signals arrive in time?</a:t>
            </a:r>
            <a:endParaRPr lang="en-US" sz="13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Why RL Placers Struggle</a:t>
            </a:r>
            <a:endParaRPr lang="en-US" sz="2600" dirty="0"/>
          </a:p>
        </p:txBody>
      </p:sp>
      <p:sp>
        <p:nvSpPr>
          <p:cNvPr id="3" name="Text 1"/>
          <p:cNvSpPr txBox="1"/>
          <p:nvPr/>
        </p:nvSpPr>
        <p:spPr>
          <a:xfrm>
            <a:off x="365760" y="868680"/>
            <a:ext cx="4937760" cy="27432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chemeClr val="tx1"/>
                </a:solidFill>
              </a:rPr>
              <a:t>Slow: </a:t>
            </a:r>
            <a:r>
              <a:rPr lang="en-US" sz="1500" dirty="0">
                <a:solidFill>
                  <a:schemeClr val="tx1"/>
                </a:solidFill>
              </a:rPr>
              <a:t>a new agent is trained for every chip, which takes hours.</a:t>
            </a:r>
            <a:endParaRPr lang="en-US" sz="1500" dirty="0"/>
          </a:p>
          <a:p>
            <a:pPr marL="203200" indent="-203200">
              <a:spcAft>
                <a:spcPts val="900"/>
              </a:spcAft>
              <a:buSzPct val="100000"/>
              <a:buChar char="•"/>
            </a:pPr>
            <a:r>
              <a:rPr lang="en-US" sz="1500" b="1" dirty="0">
                <a:solidFill>
                  <a:schemeClr val="tx1"/>
                </a:solidFill>
              </a:rPr>
              <a:t>Poor generalisation: </a:t>
            </a:r>
            <a:r>
              <a:rPr lang="en-US" sz="1500" dirty="0">
                <a:solidFill>
                  <a:schemeClr val="tx1"/>
                </a:solidFill>
              </a:rPr>
              <a:t>chip designs are confidential, so there is little data to learn from.</a:t>
            </a:r>
            <a:endParaRPr lang="en-US" sz="1500" dirty="0"/>
          </a:p>
          <a:p>
            <a:pPr marL="203200" indent="-203200">
              <a:spcAft>
                <a:spcPts val="900"/>
              </a:spcAft>
              <a:buSzPct val="100000"/>
              <a:buChar char="•"/>
            </a:pPr>
            <a:r>
              <a:rPr lang="en-US" sz="1500" b="1" dirty="0">
                <a:solidFill>
                  <a:schemeClr val="tx1"/>
                </a:solidFill>
              </a:rPr>
              <a:t>Irreversible early moves: </a:t>
            </a:r>
            <a:r>
              <a:rPr lang="en-US" sz="1500" dirty="0">
                <a:solidFill>
                  <a:schemeClr val="tx1"/>
                </a:solidFill>
              </a:rPr>
              <a:t>macros are placed one by one on an empty canvas, so the first macro is placed before the agent knows where its neighbours will go.</a:t>
            </a:r>
            <a:endParaRPr lang="en-US" sz="1500" dirty="0"/>
          </a:p>
        </p:txBody>
      </p:sp>
      <p:sp>
        <p:nvSpPr>
          <p:cNvPr id="4" name="Text 2"/>
          <p:cNvSpPr txBox="1"/>
          <p:nvPr/>
        </p:nvSpPr>
        <p:spPr>
          <a:xfrm>
            <a:off x="5577840" y="868680"/>
            <a:ext cx="3200400" cy="274320"/>
          </a:xfrm>
          <a:prstGeom prst="rect">
            <a:avLst/>
          </a:prstGeom>
          <a:noFill/>
          <a:ln/>
        </p:spPr>
        <p:txBody>
          <a:bodyPr wrap="square" lIns="0" tIns="0" rIns="0" bIns="0" rtlCol="0" anchor="t"/>
          <a:lstStyle/>
          <a:p>
            <a:pPr indent="0" marL="0">
              <a:buNone/>
            </a:pPr>
            <a:r>
              <a:rPr lang="en-US" sz="1400" b="1" dirty="0">
                <a:solidFill>
                  <a:schemeClr val="accent1"/>
                </a:solidFill>
              </a:rPr>
              <a:t>Sequential placement</a:t>
            </a:r>
            <a:endParaRPr lang="en-US" sz="1400" dirty="0"/>
          </a:p>
        </p:txBody>
      </p:sp>
      <p:sp>
        <p:nvSpPr>
          <p:cNvPr id="5" name="seq-canvas-0"/>
          <p:cNvSpPr/>
          <p:nvPr/>
        </p:nvSpPr>
        <p:spPr>
          <a:xfrm>
            <a:off x="5577840" y="1234440"/>
            <a:ext cx="914400" cy="914400"/>
          </a:xfrm>
          <a:prstGeom prst="rect">
            <a:avLst/>
          </a:prstGeom>
          <a:solidFill>
            <a:schemeClr val="bg1"/>
          </a:solidFill>
          <a:ln w="12700">
            <a:solidFill>
              <a:schemeClr val="tx2"/>
            </a:solidFill>
            <a:prstDash val="solid"/>
          </a:ln>
        </p:spPr>
      </p:sp>
      <p:sp>
        <p:nvSpPr>
          <p:cNvPr id="6" name="seq-0-0"/>
          <p:cNvSpPr/>
          <p:nvPr/>
        </p:nvSpPr>
        <p:spPr>
          <a:xfrm>
            <a:off x="5650992" y="1325880"/>
            <a:ext cx="347472" cy="274320"/>
          </a:xfrm>
          <a:prstGeom prst="rect">
            <a:avLst/>
          </a:prstGeom>
          <a:solidFill>
            <a:schemeClr val="accent1"/>
          </a:solidFill>
          <a:ln/>
        </p:spPr>
      </p:sp>
      <p:sp>
        <p:nvSpPr>
          <p:cNvPr id="7" name="Text 5"/>
          <p:cNvSpPr txBox="1"/>
          <p:nvPr/>
        </p:nvSpPr>
        <p:spPr>
          <a:xfrm>
            <a:off x="5577840" y="2194560"/>
            <a:ext cx="914400" cy="228600"/>
          </a:xfrm>
          <a:prstGeom prst="rect">
            <a:avLst/>
          </a:prstGeom>
          <a:noFill/>
          <a:ln/>
        </p:spPr>
        <p:txBody>
          <a:bodyPr wrap="square" lIns="0" tIns="0" rIns="0" bIns="0" rtlCol="0" anchor="t"/>
          <a:lstStyle/>
          <a:p>
            <a:pPr algn="ctr" indent="0" marL="0">
              <a:buNone/>
            </a:pPr>
            <a:r>
              <a:rPr lang="en-US" sz="1100" dirty="0">
                <a:solidFill>
                  <a:schemeClr val="tx2"/>
                </a:solidFill>
              </a:rPr>
              <a:t>step 1</a:t>
            </a:r>
            <a:endParaRPr lang="en-US" sz="1100" dirty="0"/>
          </a:p>
        </p:txBody>
      </p:sp>
      <p:sp>
        <p:nvSpPr>
          <p:cNvPr id="8" name="seq-canvas-1"/>
          <p:cNvSpPr/>
          <p:nvPr/>
        </p:nvSpPr>
        <p:spPr>
          <a:xfrm>
            <a:off x="6675120" y="1234440"/>
            <a:ext cx="914400" cy="914400"/>
          </a:xfrm>
          <a:prstGeom prst="rect">
            <a:avLst/>
          </a:prstGeom>
          <a:solidFill>
            <a:schemeClr val="bg1"/>
          </a:solidFill>
          <a:ln w="12700">
            <a:solidFill>
              <a:schemeClr val="tx2"/>
            </a:solidFill>
            <a:prstDash val="solid"/>
          </a:ln>
        </p:spPr>
      </p:sp>
      <p:sp>
        <p:nvSpPr>
          <p:cNvPr id="9" name="seq-1-0"/>
          <p:cNvSpPr/>
          <p:nvPr/>
        </p:nvSpPr>
        <p:spPr>
          <a:xfrm>
            <a:off x="6748272" y="1325880"/>
            <a:ext cx="347472" cy="274320"/>
          </a:xfrm>
          <a:prstGeom prst="rect">
            <a:avLst/>
          </a:prstGeom>
          <a:solidFill>
            <a:schemeClr val="accent5"/>
          </a:solidFill>
          <a:ln/>
        </p:spPr>
      </p:sp>
      <p:sp>
        <p:nvSpPr>
          <p:cNvPr id="10" name="seq-1-1"/>
          <p:cNvSpPr/>
          <p:nvPr/>
        </p:nvSpPr>
        <p:spPr>
          <a:xfrm>
            <a:off x="7178040" y="1344168"/>
            <a:ext cx="274320" cy="320040"/>
          </a:xfrm>
          <a:prstGeom prst="rect">
            <a:avLst/>
          </a:prstGeom>
          <a:solidFill>
            <a:schemeClr val="accent1"/>
          </a:solidFill>
          <a:ln/>
        </p:spPr>
      </p:sp>
      <p:sp>
        <p:nvSpPr>
          <p:cNvPr id="11" name="Text 9"/>
          <p:cNvSpPr txBox="1"/>
          <p:nvPr/>
        </p:nvSpPr>
        <p:spPr>
          <a:xfrm>
            <a:off x="6675120" y="2194560"/>
            <a:ext cx="914400" cy="228600"/>
          </a:xfrm>
          <a:prstGeom prst="rect">
            <a:avLst/>
          </a:prstGeom>
          <a:noFill/>
          <a:ln/>
        </p:spPr>
        <p:txBody>
          <a:bodyPr wrap="square" lIns="0" tIns="0" rIns="0" bIns="0" rtlCol="0" anchor="t"/>
          <a:lstStyle/>
          <a:p>
            <a:pPr algn="ctr" indent="0" marL="0">
              <a:buNone/>
            </a:pPr>
            <a:r>
              <a:rPr lang="en-US" sz="1100" dirty="0">
                <a:solidFill>
                  <a:schemeClr val="tx2"/>
                </a:solidFill>
              </a:rPr>
              <a:t>step 2</a:t>
            </a:r>
            <a:endParaRPr lang="en-US" sz="1100" dirty="0"/>
          </a:p>
        </p:txBody>
      </p:sp>
      <p:sp>
        <p:nvSpPr>
          <p:cNvPr id="12" name="seq-canvas-2"/>
          <p:cNvSpPr/>
          <p:nvPr/>
        </p:nvSpPr>
        <p:spPr>
          <a:xfrm>
            <a:off x="7772400" y="1234440"/>
            <a:ext cx="914400" cy="914400"/>
          </a:xfrm>
          <a:prstGeom prst="rect">
            <a:avLst/>
          </a:prstGeom>
          <a:solidFill>
            <a:schemeClr val="bg1"/>
          </a:solidFill>
          <a:ln w="12700">
            <a:solidFill>
              <a:schemeClr val="tx2"/>
            </a:solidFill>
            <a:prstDash val="solid"/>
          </a:ln>
        </p:spPr>
      </p:sp>
      <p:sp>
        <p:nvSpPr>
          <p:cNvPr id="13" name="seq-2-0"/>
          <p:cNvSpPr/>
          <p:nvPr/>
        </p:nvSpPr>
        <p:spPr>
          <a:xfrm>
            <a:off x="7845552" y="1325880"/>
            <a:ext cx="347472" cy="274320"/>
          </a:xfrm>
          <a:prstGeom prst="rect">
            <a:avLst/>
          </a:prstGeom>
          <a:solidFill>
            <a:schemeClr val="accent5"/>
          </a:solidFill>
          <a:ln/>
        </p:spPr>
      </p:sp>
      <p:sp>
        <p:nvSpPr>
          <p:cNvPr id="14" name="seq-2-1"/>
          <p:cNvSpPr/>
          <p:nvPr/>
        </p:nvSpPr>
        <p:spPr>
          <a:xfrm>
            <a:off x="8275320" y="1344168"/>
            <a:ext cx="274320" cy="320040"/>
          </a:xfrm>
          <a:prstGeom prst="rect">
            <a:avLst/>
          </a:prstGeom>
          <a:solidFill>
            <a:schemeClr val="accent5"/>
          </a:solidFill>
          <a:ln/>
        </p:spPr>
      </p:sp>
      <p:sp>
        <p:nvSpPr>
          <p:cNvPr id="15" name="seq-2-2"/>
          <p:cNvSpPr/>
          <p:nvPr/>
        </p:nvSpPr>
        <p:spPr>
          <a:xfrm>
            <a:off x="7882128" y="1737360"/>
            <a:ext cx="320040" cy="301752"/>
          </a:xfrm>
          <a:prstGeom prst="rect">
            <a:avLst/>
          </a:prstGeom>
          <a:solidFill>
            <a:schemeClr val="accent1"/>
          </a:solidFill>
          <a:ln/>
        </p:spPr>
      </p:sp>
      <p:sp>
        <p:nvSpPr>
          <p:cNvPr id="16" name="Text 14"/>
          <p:cNvSpPr txBox="1"/>
          <p:nvPr/>
        </p:nvSpPr>
        <p:spPr>
          <a:xfrm>
            <a:off x="7772400" y="2194560"/>
            <a:ext cx="914400" cy="228600"/>
          </a:xfrm>
          <a:prstGeom prst="rect">
            <a:avLst/>
          </a:prstGeom>
          <a:noFill/>
          <a:ln/>
        </p:spPr>
        <p:txBody>
          <a:bodyPr wrap="square" lIns="0" tIns="0" rIns="0" bIns="0" rtlCol="0" anchor="t"/>
          <a:lstStyle/>
          <a:p>
            <a:pPr algn="ctr" indent="0" marL="0">
              <a:buNone/>
            </a:pPr>
            <a:r>
              <a:rPr lang="en-US" sz="1100" dirty="0">
                <a:solidFill>
                  <a:schemeClr val="tx2"/>
                </a:solidFill>
              </a:rPr>
              <a:t>step 3</a:t>
            </a:r>
            <a:endParaRPr lang="en-US" sz="1100" dirty="0"/>
          </a:p>
        </p:txBody>
      </p:sp>
      <p:sp>
        <p:nvSpPr>
          <p:cNvPr id="17" name="Text 15"/>
          <p:cNvSpPr txBox="1"/>
          <p:nvPr/>
        </p:nvSpPr>
        <p:spPr>
          <a:xfrm>
            <a:off x="5577840" y="2514600"/>
            <a:ext cx="3200400" cy="548640"/>
          </a:xfrm>
          <a:prstGeom prst="rect">
            <a:avLst/>
          </a:prstGeom>
          <a:noFill/>
          <a:ln/>
        </p:spPr>
        <p:txBody>
          <a:bodyPr wrap="square" lIns="0" tIns="0" rIns="0" bIns="0" rtlCol="0" anchor="t"/>
          <a:lstStyle/>
          <a:p>
            <a:pPr indent="0" marL="0">
              <a:buNone/>
            </a:pPr>
            <a:r>
              <a:rPr lang="en-US" sz="1300" dirty="0">
                <a:solidFill>
                  <a:schemeClr val="tx2"/>
                </a:solidFill>
              </a:rPr>
              <a:t>Each macro is fixed once placed, before later macros are known.</a:t>
            </a:r>
            <a:endParaRPr lang="en-US" sz="1300" dirty="0"/>
          </a:p>
        </p:txBody>
      </p:sp>
      <p:sp>
        <p:nvSpPr>
          <p:cNvPr id="18" name="two-resp"/>
          <p:cNvSpPr/>
          <p:nvPr/>
        </p:nvSpPr>
        <p:spPr>
          <a:xfrm>
            <a:off x="365760" y="3657600"/>
            <a:ext cx="8412480" cy="1051560"/>
          </a:xfrm>
          <a:prstGeom prst="roundRect">
            <a:avLst>
              <a:gd name="adj" fmla="val 5217"/>
            </a:avLst>
          </a:prstGeom>
          <a:solidFill>
            <a:schemeClr val="bg2"/>
          </a:solidFill>
          <a:ln w="12700">
            <a:solidFill>
              <a:schemeClr val="accent1"/>
            </a:solidFill>
            <a:prstDash val="solid"/>
          </a:ln>
        </p:spPr>
      </p:sp>
      <p:sp>
        <p:nvSpPr>
          <p:cNvPr id="19" name="Text 17"/>
          <p:cNvSpPr txBox="1"/>
          <p:nvPr/>
        </p:nvSpPr>
        <p:spPr>
          <a:xfrm>
            <a:off x="594360" y="3767328"/>
            <a:ext cx="8046720" cy="868680"/>
          </a:xfrm>
          <a:prstGeom prst="rect">
            <a:avLst/>
          </a:prstGeom>
          <a:noFill/>
          <a:ln/>
        </p:spPr>
        <p:txBody>
          <a:bodyPr wrap="square" lIns="0" tIns="0" rIns="0" bIns="0" rtlCol="0" anchor="t"/>
          <a:lstStyle/>
          <a:p>
            <a:pPr indent="0" marL="0">
              <a:buNone/>
            </a:pPr>
            <a:r>
              <a:rPr lang="en-US" sz="1700" b="1" dirty="0">
                <a:solidFill>
                  <a:schemeClr val="accent1"/>
                </a:solidFill>
              </a:rPr>
              <a:t>Two responses</a:t>
            </a:r>
            <a:endParaRPr lang="en-US" sz="1700" dirty="0"/>
          </a:p>
          <a:p>
            <a:pPr indent="0" marL="0">
              <a:buNone/>
            </a:pPr>
            <a:r>
              <a:rPr lang="en-US" sz="1700" dirty="0">
                <a:solidFill>
                  <a:schemeClr val="tx1"/>
                </a:solidFill>
              </a:rPr>
              <a:t>Paper A replaces RL with a generative model.   Paper B keeps RL but gives it a different job.</a:t>
            </a:r>
            <a:endParaRPr lang="en-US" sz="17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Paper A: Chip Placement with Diffusion Models</a:t>
            </a:r>
            <a:endParaRPr lang="en-US" sz="2600" dirty="0"/>
          </a:p>
        </p:txBody>
      </p:sp>
      <p:sp>
        <p:nvSpPr>
          <p:cNvPr id="3" name="Text 1"/>
          <p:cNvSpPr txBox="1"/>
          <p:nvPr/>
        </p:nvSpPr>
        <p:spPr>
          <a:xfrm>
            <a:off x="365760" y="868680"/>
            <a:ext cx="5120640" cy="2194560"/>
          </a:xfrm>
          <a:prstGeom prst="rect">
            <a:avLst/>
          </a:prstGeom>
          <a:noFill/>
          <a:ln/>
        </p:spPr>
        <p:txBody>
          <a:bodyPr wrap="square" lIns="0" tIns="0" rIns="0" bIns="0" rtlCol="0" anchor="t"/>
          <a:lstStyle/>
          <a:p>
            <a:pPr marL="203200" indent="-203200">
              <a:spcAft>
                <a:spcPts val="900"/>
              </a:spcAft>
              <a:buSzPct val="100000"/>
              <a:buChar char="•"/>
            </a:pPr>
            <a:r>
              <a:rPr lang="en-US" sz="1600" b="1" dirty="0">
                <a:solidFill>
                  <a:schemeClr val="tx1"/>
                </a:solidFill>
              </a:rPr>
              <a:t>Goal: </a:t>
            </a:r>
            <a:r>
              <a:rPr lang="en-US" sz="1600" dirty="0">
                <a:solidFill>
                  <a:schemeClr val="tx1"/>
                </a:solidFill>
              </a:rPr>
              <a:t>train once, then place any new chip in minutes.</a:t>
            </a:r>
            <a:endParaRPr lang="en-US" sz="1600" dirty="0"/>
          </a:p>
          <a:p>
            <a:pPr marL="203200" indent="-203200">
              <a:spcAft>
                <a:spcPts val="900"/>
              </a:spcAft>
              <a:buSzPct val="100000"/>
              <a:buChar char="•"/>
            </a:pPr>
            <a:r>
              <a:rPr lang="en-US" sz="1600" b="1" dirty="0">
                <a:solidFill>
                  <a:schemeClr val="tx1"/>
                </a:solidFill>
              </a:rPr>
              <a:t>Idea: </a:t>
            </a:r>
            <a:r>
              <a:rPr lang="en-US" sz="1600" dirty="0">
                <a:solidFill>
                  <a:schemeClr val="tx1"/>
                </a:solidFill>
              </a:rPr>
              <a:t>like an image generator: start from randomly scattered macros and nudge them all, step by step, into a clean layout.</a:t>
            </a:r>
            <a:endParaRPr lang="en-US" sz="1600" dirty="0"/>
          </a:p>
          <a:p>
            <a:pPr marL="203200" indent="-203200">
              <a:spcAft>
                <a:spcPts val="900"/>
              </a:spcAft>
              <a:buSzPct val="100000"/>
              <a:buChar char="•"/>
            </a:pPr>
            <a:r>
              <a:rPr lang="en-US" sz="1600" b="1" dirty="0">
                <a:solidFill>
                  <a:schemeClr val="tx1"/>
                </a:solidFill>
              </a:rPr>
              <a:t>Free training data: </a:t>
            </a:r>
            <a:r>
              <a:rPr lang="en-US" sz="1600" dirty="0">
                <a:solidFill>
                  <a:schemeClr val="tx1"/>
                </a:solidFill>
              </a:rPr>
              <a:t>scatter blocks first, then add wires between nearby blocks, so the layout is already good.</a:t>
            </a:r>
            <a:endParaRPr lang="en-US" sz="1600" dirty="0"/>
          </a:p>
        </p:txBody>
      </p:sp>
      <p:sp>
        <p:nvSpPr>
          <p:cNvPr id="4" name="diff-0"/>
          <p:cNvSpPr/>
          <p:nvPr/>
        </p:nvSpPr>
        <p:spPr>
          <a:xfrm>
            <a:off x="5760720" y="868680"/>
            <a:ext cx="868680" cy="868680"/>
          </a:xfrm>
          <a:prstGeom prst="rect">
            <a:avLst/>
          </a:prstGeom>
          <a:solidFill>
            <a:schemeClr val="bg1"/>
          </a:solidFill>
          <a:ln w="12700">
            <a:solidFill>
              <a:schemeClr val="tx2"/>
            </a:solidFill>
            <a:prstDash val="solid"/>
          </a:ln>
        </p:spPr>
      </p:sp>
      <p:sp>
        <p:nvSpPr>
          <p:cNvPr id="5" name="diff-0-cell-0-0"/>
          <p:cNvSpPr/>
          <p:nvPr/>
        </p:nvSpPr>
        <p:spPr>
          <a:xfrm>
            <a:off x="5819242" y="927202"/>
            <a:ext cx="21946" cy="21946"/>
          </a:xfrm>
          <a:prstGeom prst="ellipse">
            <a:avLst/>
          </a:prstGeom>
          <a:solidFill>
            <a:schemeClr val="accent5"/>
          </a:solidFill>
          <a:ln/>
        </p:spPr>
      </p:sp>
      <p:sp>
        <p:nvSpPr>
          <p:cNvPr id="6" name="diff-0-cell-0-1"/>
          <p:cNvSpPr/>
          <p:nvPr/>
        </p:nvSpPr>
        <p:spPr>
          <a:xfrm>
            <a:off x="5819242" y="1031443"/>
            <a:ext cx="21946" cy="21946"/>
          </a:xfrm>
          <a:prstGeom prst="ellipse">
            <a:avLst/>
          </a:prstGeom>
          <a:solidFill>
            <a:schemeClr val="accent5"/>
          </a:solidFill>
          <a:ln/>
        </p:spPr>
      </p:sp>
      <p:sp>
        <p:nvSpPr>
          <p:cNvPr id="7" name="diff-0-cell-0-2"/>
          <p:cNvSpPr/>
          <p:nvPr/>
        </p:nvSpPr>
        <p:spPr>
          <a:xfrm>
            <a:off x="5819242" y="1135685"/>
            <a:ext cx="21946" cy="21946"/>
          </a:xfrm>
          <a:prstGeom prst="ellipse">
            <a:avLst/>
          </a:prstGeom>
          <a:solidFill>
            <a:schemeClr val="accent5"/>
          </a:solidFill>
          <a:ln/>
        </p:spPr>
      </p:sp>
      <p:sp>
        <p:nvSpPr>
          <p:cNvPr id="8" name="diff-0-cell-0-3"/>
          <p:cNvSpPr/>
          <p:nvPr/>
        </p:nvSpPr>
        <p:spPr>
          <a:xfrm>
            <a:off x="5819242" y="1239926"/>
            <a:ext cx="21946" cy="21946"/>
          </a:xfrm>
          <a:prstGeom prst="ellipse">
            <a:avLst/>
          </a:prstGeom>
          <a:solidFill>
            <a:schemeClr val="accent5"/>
          </a:solidFill>
          <a:ln/>
        </p:spPr>
      </p:sp>
      <p:sp>
        <p:nvSpPr>
          <p:cNvPr id="9" name="diff-0-cell-0-4"/>
          <p:cNvSpPr/>
          <p:nvPr/>
        </p:nvSpPr>
        <p:spPr>
          <a:xfrm>
            <a:off x="5819242" y="1344168"/>
            <a:ext cx="21946" cy="21946"/>
          </a:xfrm>
          <a:prstGeom prst="ellipse">
            <a:avLst/>
          </a:prstGeom>
          <a:solidFill>
            <a:schemeClr val="accent5"/>
          </a:solidFill>
          <a:ln/>
        </p:spPr>
      </p:sp>
      <p:sp>
        <p:nvSpPr>
          <p:cNvPr id="10" name="diff-0-cell-0-5"/>
          <p:cNvSpPr/>
          <p:nvPr/>
        </p:nvSpPr>
        <p:spPr>
          <a:xfrm>
            <a:off x="5819242" y="1448410"/>
            <a:ext cx="21946" cy="21946"/>
          </a:xfrm>
          <a:prstGeom prst="ellipse">
            <a:avLst/>
          </a:prstGeom>
          <a:solidFill>
            <a:schemeClr val="accent5"/>
          </a:solidFill>
          <a:ln/>
        </p:spPr>
      </p:sp>
      <p:sp>
        <p:nvSpPr>
          <p:cNvPr id="11" name="diff-0-cell-0-6"/>
          <p:cNvSpPr/>
          <p:nvPr/>
        </p:nvSpPr>
        <p:spPr>
          <a:xfrm>
            <a:off x="5819242" y="1552651"/>
            <a:ext cx="21946" cy="21946"/>
          </a:xfrm>
          <a:prstGeom prst="ellipse">
            <a:avLst/>
          </a:prstGeom>
          <a:solidFill>
            <a:schemeClr val="accent5"/>
          </a:solidFill>
          <a:ln/>
        </p:spPr>
      </p:sp>
      <p:sp>
        <p:nvSpPr>
          <p:cNvPr id="12" name="diff-0-cell-0-7"/>
          <p:cNvSpPr/>
          <p:nvPr/>
        </p:nvSpPr>
        <p:spPr>
          <a:xfrm>
            <a:off x="5819242" y="1656893"/>
            <a:ext cx="21946" cy="21946"/>
          </a:xfrm>
          <a:prstGeom prst="ellipse">
            <a:avLst/>
          </a:prstGeom>
          <a:solidFill>
            <a:schemeClr val="accent5"/>
          </a:solidFill>
          <a:ln/>
        </p:spPr>
      </p:sp>
      <p:sp>
        <p:nvSpPr>
          <p:cNvPr id="13" name="diff-0-cell-1-0"/>
          <p:cNvSpPr/>
          <p:nvPr/>
        </p:nvSpPr>
        <p:spPr>
          <a:xfrm>
            <a:off x="5923483" y="927202"/>
            <a:ext cx="21946" cy="21946"/>
          </a:xfrm>
          <a:prstGeom prst="ellipse">
            <a:avLst/>
          </a:prstGeom>
          <a:solidFill>
            <a:schemeClr val="accent5"/>
          </a:solidFill>
          <a:ln/>
        </p:spPr>
      </p:sp>
      <p:sp>
        <p:nvSpPr>
          <p:cNvPr id="14" name="diff-0-cell-1-1"/>
          <p:cNvSpPr/>
          <p:nvPr/>
        </p:nvSpPr>
        <p:spPr>
          <a:xfrm>
            <a:off x="5923483" y="1031443"/>
            <a:ext cx="21946" cy="21946"/>
          </a:xfrm>
          <a:prstGeom prst="ellipse">
            <a:avLst/>
          </a:prstGeom>
          <a:solidFill>
            <a:schemeClr val="accent5"/>
          </a:solidFill>
          <a:ln/>
        </p:spPr>
      </p:sp>
      <p:sp>
        <p:nvSpPr>
          <p:cNvPr id="15" name="diff-0-cell-1-2"/>
          <p:cNvSpPr/>
          <p:nvPr/>
        </p:nvSpPr>
        <p:spPr>
          <a:xfrm>
            <a:off x="5923483" y="1135685"/>
            <a:ext cx="21946" cy="21946"/>
          </a:xfrm>
          <a:prstGeom prst="ellipse">
            <a:avLst/>
          </a:prstGeom>
          <a:solidFill>
            <a:schemeClr val="accent5"/>
          </a:solidFill>
          <a:ln/>
        </p:spPr>
      </p:sp>
      <p:sp>
        <p:nvSpPr>
          <p:cNvPr id="16" name="diff-0-cell-1-3"/>
          <p:cNvSpPr/>
          <p:nvPr/>
        </p:nvSpPr>
        <p:spPr>
          <a:xfrm>
            <a:off x="5923483" y="1239926"/>
            <a:ext cx="21946" cy="21946"/>
          </a:xfrm>
          <a:prstGeom prst="ellipse">
            <a:avLst/>
          </a:prstGeom>
          <a:solidFill>
            <a:schemeClr val="accent5"/>
          </a:solidFill>
          <a:ln/>
        </p:spPr>
      </p:sp>
      <p:sp>
        <p:nvSpPr>
          <p:cNvPr id="17" name="diff-0-cell-1-4"/>
          <p:cNvSpPr/>
          <p:nvPr/>
        </p:nvSpPr>
        <p:spPr>
          <a:xfrm>
            <a:off x="5923483" y="1344168"/>
            <a:ext cx="21946" cy="21946"/>
          </a:xfrm>
          <a:prstGeom prst="ellipse">
            <a:avLst/>
          </a:prstGeom>
          <a:solidFill>
            <a:schemeClr val="accent5"/>
          </a:solidFill>
          <a:ln/>
        </p:spPr>
      </p:sp>
      <p:sp>
        <p:nvSpPr>
          <p:cNvPr id="18" name="diff-0-cell-1-5"/>
          <p:cNvSpPr/>
          <p:nvPr/>
        </p:nvSpPr>
        <p:spPr>
          <a:xfrm>
            <a:off x="5923483" y="1448410"/>
            <a:ext cx="21946" cy="21946"/>
          </a:xfrm>
          <a:prstGeom prst="ellipse">
            <a:avLst/>
          </a:prstGeom>
          <a:solidFill>
            <a:schemeClr val="accent5"/>
          </a:solidFill>
          <a:ln/>
        </p:spPr>
      </p:sp>
      <p:sp>
        <p:nvSpPr>
          <p:cNvPr id="19" name="diff-0-cell-1-6"/>
          <p:cNvSpPr/>
          <p:nvPr/>
        </p:nvSpPr>
        <p:spPr>
          <a:xfrm>
            <a:off x="5923483" y="1552651"/>
            <a:ext cx="21946" cy="21946"/>
          </a:xfrm>
          <a:prstGeom prst="ellipse">
            <a:avLst/>
          </a:prstGeom>
          <a:solidFill>
            <a:schemeClr val="accent5"/>
          </a:solidFill>
          <a:ln/>
        </p:spPr>
      </p:sp>
      <p:sp>
        <p:nvSpPr>
          <p:cNvPr id="20" name="diff-0-cell-1-7"/>
          <p:cNvSpPr/>
          <p:nvPr/>
        </p:nvSpPr>
        <p:spPr>
          <a:xfrm>
            <a:off x="5923483" y="1656893"/>
            <a:ext cx="21946" cy="21946"/>
          </a:xfrm>
          <a:prstGeom prst="ellipse">
            <a:avLst/>
          </a:prstGeom>
          <a:solidFill>
            <a:schemeClr val="accent5"/>
          </a:solidFill>
          <a:ln/>
        </p:spPr>
      </p:sp>
      <p:sp>
        <p:nvSpPr>
          <p:cNvPr id="21" name="diff-0-cell-2-0"/>
          <p:cNvSpPr/>
          <p:nvPr/>
        </p:nvSpPr>
        <p:spPr>
          <a:xfrm>
            <a:off x="6027725" y="927202"/>
            <a:ext cx="21946" cy="21946"/>
          </a:xfrm>
          <a:prstGeom prst="ellipse">
            <a:avLst/>
          </a:prstGeom>
          <a:solidFill>
            <a:schemeClr val="accent5"/>
          </a:solidFill>
          <a:ln/>
        </p:spPr>
      </p:sp>
      <p:sp>
        <p:nvSpPr>
          <p:cNvPr id="22" name="diff-0-cell-2-1"/>
          <p:cNvSpPr/>
          <p:nvPr/>
        </p:nvSpPr>
        <p:spPr>
          <a:xfrm>
            <a:off x="6027725" y="1031443"/>
            <a:ext cx="21946" cy="21946"/>
          </a:xfrm>
          <a:prstGeom prst="ellipse">
            <a:avLst/>
          </a:prstGeom>
          <a:solidFill>
            <a:schemeClr val="accent5"/>
          </a:solidFill>
          <a:ln/>
        </p:spPr>
      </p:sp>
      <p:sp>
        <p:nvSpPr>
          <p:cNvPr id="23" name="diff-0-cell-2-2"/>
          <p:cNvSpPr/>
          <p:nvPr/>
        </p:nvSpPr>
        <p:spPr>
          <a:xfrm>
            <a:off x="6027725" y="1135685"/>
            <a:ext cx="21946" cy="21946"/>
          </a:xfrm>
          <a:prstGeom prst="ellipse">
            <a:avLst/>
          </a:prstGeom>
          <a:solidFill>
            <a:schemeClr val="accent5"/>
          </a:solidFill>
          <a:ln/>
        </p:spPr>
      </p:sp>
      <p:sp>
        <p:nvSpPr>
          <p:cNvPr id="24" name="diff-0-cell-2-3"/>
          <p:cNvSpPr/>
          <p:nvPr/>
        </p:nvSpPr>
        <p:spPr>
          <a:xfrm>
            <a:off x="6027725" y="1239926"/>
            <a:ext cx="21946" cy="21946"/>
          </a:xfrm>
          <a:prstGeom prst="ellipse">
            <a:avLst/>
          </a:prstGeom>
          <a:solidFill>
            <a:schemeClr val="accent5"/>
          </a:solidFill>
          <a:ln/>
        </p:spPr>
      </p:sp>
      <p:sp>
        <p:nvSpPr>
          <p:cNvPr id="25" name="diff-0-cell-2-4"/>
          <p:cNvSpPr/>
          <p:nvPr/>
        </p:nvSpPr>
        <p:spPr>
          <a:xfrm>
            <a:off x="6027725" y="1344168"/>
            <a:ext cx="21946" cy="21946"/>
          </a:xfrm>
          <a:prstGeom prst="ellipse">
            <a:avLst/>
          </a:prstGeom>
          <a:solidFill>
            <a:schemeClr val="accent5"/>
          </a:solidFill>
          <a:ln/>
        </p:spPr>
      </p:sp>
      <p:sp>
        <p:nvSpPr>
          <p:cNvPr id="26" name="diff-0-cell-2-5"/>
          <p:cNvSpPr/>
          <p:nvPr/>
        </p:nvSpPr>
        <p:spPr>
          <a:xfrm>
            <a:off x="6027725" y="1448410"/>
            <a:ext cx="21946" cy="21946"/>
          </a:xfrm>
          <a:prstGeom prst="ellipse">
            <a:avLst/>
          </a:prstGeom>
          <a:solidFill>
            <a:schemeClr val="accent5"/>
          </a:solidFill>
          <a:ln/>
        </p:spPr>
      </p:sp>
      <p:sp>
        <p:nvSpPr>
          <p:cNvPr id="27" name="diff-0-cell-2-6"/>
          <p:cNvSpPr/>
          <p:nvPr/>
        </p:nvSpPr>
        <p:spPr>
          <a:xfrm>
            <a:off x="6027725" y="1552651"/>
            <a:ext cx="21946" cy="21946"/>
          </a:xfrm>
          <a:prstGeom prst="ellipse">
            <a:avLst/>
          </a:prstGeom>
          <a:solidFill>
            <a:schemeClr val="accent5"/>
          </a:solidFill>
          <a:ln/>
        </p:spPr>
      </p:sp>
      <p:sp>
        <p:nvSpPr>
          <p:cNvPr id="28" name="diff-0-cell-2-7"/>
          <p:cNvSpPr/>
          <p:nvPr/>
        </p:nvSpPr>
        <p:spPr>
          <a:xfrm>
            <a:off x="6027725" y="1656893"/>
            <a:ext cx="21946" cy="21946"/>
          </a:xfrm>
          <a:prstGeom prst="ellipse">
            <a:avLst/>
          </a:prstGeom>
          <a:solidFill>
            <a:schemeClr val="accent5"/>
          </a:solidFill>
          <a:ln/>
        </p:spPr>
      </p:sp>
      <p:sp>
        <p:nvSpPr>
          <p:cNvPr id="29" name="diff-0-cell-3-0"/>
          <p:cNvSpPr/>
          <p:nvPr/>
        </p:nvSpPr>
        <p:spPr>
          <a:xfrm>
            <a:off x="6131966" y="927202"/>
            <a:ext cx="21946" cy="21946"/>
          </a:xfrm>
          <a:prstGeom prst="ellipse">
            <a:avLst/>
          </a:prstGeom>
          <a:solidFill>
            <a:schemeClr val="accent5"/>
          </a:solidFill>
          <a:ln/>
        </p:spPr>
      </p:sp>
      <p:sp>
        <p:nvSpPr>
          <p:cNvPr id="30" name="diff-0-cell-3-1"/>
          <p:cNvSpPr/>
          <p:nvPr/>
        </p:nvSpPr>
        <p:spPr>
          <a:xfrm>
            <a:off x="6131966" y="1031443"/>
            <a:ext cx="21946" cy="21946"/>
          </a:xfrm>
          <a:prstGeom prst="ellipse">
            <a:avLst/>
          </a:prstGeom>
          <a:solidFill>
            <a:schemeClr val="accent5"/>
          </a:solidFill>
          <a:ln/>
        </p:spPr>
      </p:sp>
      <p:sp>
        <p:nvSpPr>
          <p:cNvPr id="31" name="diff-0-cell-3-2"/>
          <p:cNvSpPr/>
          <p:nvPr/>
        </p:nvSpPr>
        <p:spPr>
          <a:xfrm>
            <a:off x="6131966" y="1135685"/>
            <a:ext cx="21946" cy="21946"/>
          </a:xfrm>
          <a:prstGeom prst="ellipse">
            <a:avLst/>
          </a:prstGeom>
          <a:solidFill>
            <a:schemeClr val="accent5"/>
          </a:solidFill>
          <a:ln/>
        </p:spPr>
      </p:sp>
      <p:sp>
        <p:nvSpPr>
          <p:cNvPr id="32" name="diff-0-cell-3-3"/>
          <p:cNvSpPr/>
          <p:nvPr/>
        </p:nvSpPr>
        <p:spPr>
          <a:xfrm>
            <a:off x="6131966" y="1239926"/>
            <a:ext cx="21946" cy="21946"/>
          </a:xfrm>
          <a:prstGeom prst="ellipse">
            <a:avLst/>
          </a:prstGeom>
          <a:solidFill>
            <a:schemeClr val="accent5"/>
          </a:solidFill>
          <a:ln/>
        </p:spPr>
      </p:sp>
      <p:sp>
        <p:nvSpPr>
          <p:cNvPr id="33" name="diff-0-cell-3-4"/>
          <p:cNvSpPr/>
          <p:nvPr/>
        </p:nvSpPr>
        <p:spPr>
          <a:xfrm>
            <a:off x="6131966" y="1344168"/>
            <a:ext cx="21946" cy="21946"/>
          </a:xfrm>
          <a:prstGeom prst="ellipse">
            <a:avLst/>
          </a:prstGeom>
          <a:solidFill>
            <a:schemeClr val="accent5"/>
          </a:solidFill>
          <a:ln/>
        </p:spPr>
      </p:sp>
      <p:sp>
        <p:nvSpPr>
          <p:cNvPr id="34" name="diff-0-cell-3-5"/>
          <p:cNvSpPr/>
          <p:nvPr/>
        </p:nvSpPr>
        <p:spPr>
          <a:xfrm>
            <a:off x="6131966" y="1448410"/>
            <a:ext cx="21946" cy="21946"/>
          </a:xfrm>
          <a:prstGeom prst="ellipse">
            <a:avLst/>
          </a:prstGeom>
          <a:solidFill>
            <a:schemeClr val="accent5"/>
          </a:solidFill>
          <a:ln/>
        </p:spPr>
      </p:sp>
      <p:sp>
        <p:nvSpPr>
          <p:cNvPr id="35" name="diff-0-cell-3-6"/>
          <p:cNvSpPr/>
          <p:nvPr/>
        </p:nvSpPr>
        <p:spPr>
          <a:xfrm>
            <a:off x="6131966" y="1552651"/>
            <a:ext cx="21946" cy="21946"/>
          </a:xfrm>
          <a:prstGeom prst="ellipse">
            <a:avLst/>
          </a:prstGeom>
          <a:solidFill>
            <a:schemeClr val="accent5"/>
          </a:solidFill>
          <a:ln/>
        </p:spPr>
      </p:sp>
      <p:sp>
        <p:nvSpPr>
          <p:cNvPr id="36" name="diff-0-cell-3-7"/>
          <p:cNvSpPr/>
          <p:nvPr/>
        </p:nvSpPr>
        <p:spPr>
          <a:xfrm>
            <a:off x="6131966" y="1656893"/>
            <a:ext cx="21946" cy="21946"/>
          </a:xfrm>
          <a:prstGeom prst="ellipse">
            <a:avLst/>
          </a:prstGeom>
          <a:solidFill>
            <a:schemeClr val="accent5"/>
          </a:solidFill>
          <a:ln/>
        </p:spPr>
      </p:sp>
      <p:sp>
        <p:nvSpPr>
          <p:cNvPr id="37" name="diff-0-cell-4-0"/>
          <p:cNvSpPr/>
          <p:nvPr/>
        </p:nvSpPr>
        <p:spPr>
          <a:xfrm>
            <a:off x="6236208" y="927202"/>
            <a:ext cx="21946" cy="21946"/>
          </a:xfrm>
          <a:prstGeom prst="ellipse">
            <a:avLst/>
          </a:prstGeom>
          <a:solidFill>
            <a:schemeClr val="accent5"/>
          </a:solidFill>
          <a:ln/>
        </p:spPr>
      </p:sp>
      <p:sp>
        <p:nvSpPr>
          <p:cNvPr id="38" name="diff-0-cell-4-1"/>
          <p:cNvSpPr/>
          <p:nvPr/>
        </p:nvSpPr>
        <p:spPr>
          <a:xfrm>
            <a:off x="6236208" y="1031443"/>
            <a:ext cx="21946" cy="21946"/>
          </a:xfrm>
          <a:prstGeom prst="ellipse">
            <a:avLst/>
          </a:prstGeom>
          <a:solidFill>
            <a:schemeClr val="accent5"/>
          </a:solidFill>
          <a:ln/>
        </p:spPr>
      </p:sp>
      <p:sp>
        <p:nvSpPr>
          <p:cNvPr id="39" name="diff-0-cell-4-2"/>
          <p:cNvSpPr/>
          <p:nvPr/>
        </p:nvSpPr>
        <p:spPr>
          <a:xfrm>
            <a:off x="6236208" y="1135685"/>
            <a:ext cx="21946" cy="21946"/>
          </a:xfrm>
          <a:prstGeom prst="ellipse">
            <a:avLst/>
          </a:prstGeom>
          <a:solidFill>
            <a:schemeClr val="accent5"/>
          </a:solidFill>
          <a:ln/>
        </p:spPr>
      </p:sp>
      <p:sp>
        <p:nvSpPr>
          <p:cNvPr id="40" name="diff-0-cell-4-3"/>
          <p:cNvSpPr/>
          <p:nvPr/>
        </p:nvSpPr>
        <p:spPr>
          <a:xfrm>
            <a:off x="6236208" y="1239926"/>
            <a:ext cx="21946" cy="21946"/>
          </a:xfrm>
          <a:prstGeom prst="ellipse">
            <a:avLst/>
          </a:prstGeom>
          <a:solidFill>
            <a:schemeClr val="accent5"/>
          </a:solidFill>
          <a:ln/>
        </p:spPr>
      </p:sp>
      <p:sp>
        <p:nvSpPr>
          <p:cNvPr id="41" name="diff-0-cell-4-4"/>
          <p:cNvSpPr/>
          <p:nvPr/>
        </p:nvSpPr>
        <p:spPr>
          <a:xfrm>
            <a:off x="6236208" y="1344168"/>
            <a:ext cx="21946" cy="21946"/>
          </a:xfrm>
          <a:prstGeom prst="ellipse">
            <a:avLst/>
          </a:prstGeom>
          <a:solidFill>
            <a:schemeClr val="accent5"/>
          </a:solidFill>
          <a:ln/>
        </p:spPr>
      </p:sp>
      <p:sp>
        <p:nvSpPr>
          <p:cNvPr id="42" name="diff-0-cell-4-5"/>
          <p:cNvSpPr/>
          <p:nvPr/>
        </p:nvSpPr>
        <p:spPr>
          <a:xfrm>
            <a:off x="6236208" y="1448410"/>
            <a:ext cx="21946" cy="21946"/>
          </a:xfrm>
          <a:prstGeom prst="ellipse">
            <a:avLst/>
          </a:prstGeom>
          <a:solidFill>
            <a:schemeClr val="accent5"/>
          </a:solidFill>
          <a:ln/>
        </p:spPr>
      </p:sp>
      <p:sp>
        <p:nvSpPr>
          <p:cNvPr id="43" name="diff-0-cell-4-6"/>
          <p:cNvSpPr/>
          <p:nvPr/>
        </p:nvSpPr>
        <p:spPr>
          <a:xfrm>
            <a:off x="6236208" y="1552651"/>
            <a:ext cx="21946" cy="21946"/>
          </a:xfrm>
          <a:prstGeom prst="ellipse">
            <a:avLst/>
          </a:prstGeom>
          <a:solidFill>
            <a:schemeClr val="accent5"/>
          </a:solidFill>
          <a:ln/>
        </p:spPr>
      </p:sp>
      <p:sp>
        <p:nvSpPr>
          <p:cNvPr id="44" name="diff-0-cell-4-7"/>
          <p:cNvSpPr/>
          <p:nvPr/>
        </p:nvSpPr>
        <p:spPr>
          <a:xfrm>
            <a:off x="6236208" y="1656893"/>
            <a:ext cx="21946" cy="21946"/>
          </a:xfrm>
          <a:prstGeom prst="ellipse">
            <a:avLst/>
          </a:prstGeom>
          <a:solidFill>
            <a:schemeClr val="accent5"/>
          </a:solidFill>
          <a:ln/>
        </p:spPr>
      </p:sp>
      <p:sp>
        <p:nvSpPr>
          <p:cNvPr id="45" name="diff-0-cell-5-0"/>
          <p:cNvSpPr/>
          <p:nvPr/>
        </p:nvSpPr>
        <p:spPr>
          <a:xfrm>
            <a:off x="6340450" y="927202"/>
            <a:ext cx="21946" cy="21946"/>
          </a:xfrm>
          <a:prstGeom prst="ellipse">
            <a:avLst/>
          </a:prstGeom>
          <a:solidFill>
            <a:schemeClr val="accent5"/>
          </a:solidFill>
          <a:ln/>
        </p:spPr>
      </p:sp>
      <p:sp>
        <p:nvSpPr>
          <p:cNvPr id="46" name="diff-0-cell-5-1"/>
          <p:cNvSpPr/>
          <p:nvPr/>
        </p:nvSpPr>
        <p:spPr>
          <a:xfrm>
            <a:off x="6340450" y="1031443"/>
            <a:ext cx="21946" cy="21946"/>
          </a:xfrm>
          <a:prstGeom prst="ellipse">
            <a:avLst/>
          </a:prstGeom>
          <a:solidFill>
            <a:schemeClr val="accent5"/>
          </a:solidFill>
          <a:ln/>
        </p:spPr>
      </p:sp>
      <p:sp>
        <p:nvSpPr>
          <p:cNvPr id="47" name="diff-0-cell-5-2"/>
          <p:cNvSpPr/>
          <p:nvPr/>
        </p:nvSpPr>
        <p:spPr>
          <a:xfrm>
            <a:off x="6340450" y="1135685"/>
            <a:ext cx="21946" cy="21946"/>
          </a:xfrm>
          <a:prstGeom prst="ellipse">
            <a:avLst/>
          </a:prstGeom>
          <a:solidFill>
            <a:schemeClr val="accent5"/>
          </a:solidFill>
          <a:ln/>
        </p:spPr>
      </p:sp>
      <p:sp>
        <p:nvSpPr>
          <p:cNvPr id="48" name="diff-0-cell-5-3"/>
          <p:cNvSpPr/>
          <p:nvPr/>
        </p:nvSpPr>
        <p:spPr>
          <a:xfrm>
            <a:off x="6340450" y="1239926"/>
            <a:ext cx="21946" cy="21946"/>
          </a:xfrm>
          <a:prstGeom prst="ellipse">
            <a:avLst/>
          </a:prstGeom>
          <a:solidFill>
            <a:schemeClr val="accent5"/>
          </a:solidFill>
          <a:ln/>
        </p:spPr>
      </p:sp>
      <p:sp>
        <p:nvSpPr>
          <p:cNvPr id="49" name="diff-0-cell-5-4"/>
          <p:cNvSpPr/>
          <p:nvPr/>
        </p:nvSpPr>
        <p:spPr>
          <a:xfrm>
            <a:off x="6340450" y="1344168"/>
            <a:ext cx="21946" cy="21946"/>
          </a:xfrm>
          <a:prstGeom prst="ellipse">
            <a:avLst/>
          </a:prstGeom>
          <a:solidFill>
            <a:schemeClr val="accent5"/>
          </a:solidFill>
          <a:ln/>
        </p:spPr>
      </p:sp>
      <p:sp>
        <p:nvSpPr>
          <p:cNvPr id="50" name="diff-0-cell-5-5"/>
          <p:cNvSpPr/>
          <p:nvPr/>
        </p:nvSpPr>
        <p:spPr>
          <a:xfrm>
            <a:off x="6340450" y="1448410"/>
            <a:ext cx="21946" cy="21946"/>
          </a:xfrm>
          <a:prstGeom prst="ellipse">
            <a:avLst/>
          </a:prstGeom>
          <a:solidFill>
            <a:schemeClr val="accent5"/>
          </a:solidFill>
          <a:ln/>
        </p:spPr>
      </p:sp>
      <p:sp>
        <p:nvSpPr>
          <p:cNvPr id="51" name="diff-0-cell-5-6"/>
          <p:cNvSpPr/>
          <p:nvPr/>
        </p:nvSpPr>
        <p:spPr>
          <a:xfrm>
            <a:off x="6340450" y="1552651"/>
            <a:ext cx="21946" cy="21946"/>
          </a:xfrm>
          <a:prstGeom prst="ellipse">
            <a:avLst/>
          </a:prstGeom>
          <a:solidFill>
            <a:schemeClr val="accent5"/>
          </a:solidFill>
          <a:ln/>
        </p:spPr>
      </p:sp>
      <p:sp>
        <p:nvSpPr>
          <p:cNvPr id="52" name="diff-0-cell-5-7"/>
          <p:cNvSpPr/>
          <p:nvPr/>
        </p:nvSpPr>
        <p:spPr>
          <a:xfrm>
            <a:off x="6340450" y="1656893"/>
            <a:ext cx="21946" cy="21946"/>
          </a:xfrm>
          <a:prstGeom prst="ellipse">
            <a:avLst/>
          </a:prstGeom>
          <a:solidFill>
            <a:schemeClr val="accent5"/>
          </a:solidFill>
          <a:ln/>
        </p:spPr>
      </p:sp>
      <p:sp>
        <p:nvSpPr>
          <p:cNvPr id="53" name="diff-0-cell-6-0"/>
          <p:cNvSpPr/>
          <p:nvPr/>
        </p:nvSpPr>
        <p:spPr>
          <a:xfrm>
            <a:off x="6444691" y="927202"/>
            <a:ext cx="21946" cy="21946"/>
          </a:xfrm>
          <a:prstGeom prst="ellipse">
            <a:avLst/>
          </a:prstGeom>
          <a:solidFill>
            <a:schemeClr val="accent5"/>
          </a:solidFill>
          <a:ln/>
        </p:spPr>
      </p:sp>
      <p:sp>
        <p:nvSpPr>
          <p:cNvPr id="54" name="diff-0-cell-6-1"/>
          <p:cNvSpPr/>
          <p:nvPr/>
        </p:nvSpPr>
        <p:spPr>
          <a:xfrm>
            <a:off x="6444691" y="1031443"/>
            <a:ext cx="21946" cy="21946"/>
          </a:xfrm>
          <a:prstGeom prst="ellipse">
            <a:avLst/>
          </a:prstGeom>
          <a:solidFill>
            <a:schemeClr val="accent5"/>
          </a:solidFill>
          <a:ln/>
        </p:spPr>
      </p:sp>
      <p:sp>
        <p:nvSpPr>
          <p:cNvPr id="55" name="diff-0-cell-6-2"/>
          <p:cNvSpPr/>
          <p:nvPr/>
        </p:nvSpPr>
        <p:spPr>
          <a:xfrm>
            <a:off x="6444691" y="1135685"/>
            <a:ext cx="21946" cy="21946"/>
          </a:xfrm>
          <a:prstGeom prst="ellipse">
            <a:avLst/>
          </a:prstGeom>
          <a:solidFill>
            <a:schemeClr val="accent5"/>
          </a:solidFill>
          <a:ln/>
        </p:spPr>
      </p:sp>
      <p:sp>
        <p:nvSpPr>
          <p:cNvPr id="56" name="diff-0-cell-6-3"/>
          <p:cNvSpPr/>
          <p:nvPr/>
        </p:nvSpPr>
        <p:spPr>
          <a:xfrm>
            <a:off x="6444691" y="1239926"/>
            <a:ext cx="21946" cy="21946"/>
          </a:xfrm>
          <a:prstGeom prst="ellipse">
            <a:avLst/>
          </a:prstGeom>
          <a:solidFill>
            <a:schemeClr val="accent5"/>
          </a:solidFill>
          <a:ln/>
        </p:spPr>
      </p:sp>
      <p:sp>
        <p:nvSpPr>
          <p:cNvPr id="57" name="diff-0-cell-6-4"/>
          <p:cNvSpPr/>
          <p:nvPr/>
        </p:nvSpPr>
        <p:spPr>
          <a:xfrm>
            <a:off x="6444691" y="1344168"/>
            <a:ext cx="21946" cy="21946"/>
          </a:xfrm>
          <a:prstGeom prst="ellipse">
            <a:avLst/>
          </a:prstGeom>
          <a:solidFill>
            <a:schemeClr val="accent5"/>
          </a:solidFill>
          <a:ln/>
        </p:spPr>
      </p:sp>
      <p:sp>
        <p:nvSpPr>
          <p:cNvPr id="58" name="diff-0-cell-6-5"/>
          <p:cNvSpPr/>
          <p:nvPr/>
        </p:nvSpPr>
        <p:spPr>
          <a:xfrm>
            <a:off x="6444691" y="1448410"/>
            <a:ext cx="21946" cy="21946"/>
          </a:xfrm>
          <a:prstGeom prst="ellipse">
            <a:avLst/>
          </a:prstGeom>
          <a:solidFill>
            <a:schemeClr val="accent5"/>
          </a:solidFill>
          <a:ln/>
        </p:spPr>
      </p:sp>
      <p:sp>
        <p:nvSpPr>
          <p:cNvPr id="59" name="diff-0-cell-6-6"/>
          <p:cNvSpPr/>
          <p:nvPr/>
        </p:nvSpPr>
        <p:spPr>
          <a:xfrm>
            <a:off x="6444691" y="1552651"/>
            <a:ext cx="21946" cy="21946"/>
          </a:xfrm>
          <a:prstGeom prst="ellipse">
            <a:avLst/>
          </a:prstGeom>
          <a:solidFill>
            <a:schemeClr val="accent5"/>
          </a:solidFill>
          <a:ln/>
        </p:spPr>
      </p:sp>
      <p:sp>
        <p:nvSpPr>
          <p:cNvPr id="60" name="diff-0-cell-6-7"/>
          <p:cNvSpPr/>
          <p:nvPr/>
        </p:nvSpPr>
        <p:spPr>
          <a:xfrm>
            <a:off x="6444691" y="1656893"/>
            <a:ext cx="21946" cy="21946"/>
          </a:xfrm>
          <a:prstGeom prst="ellipse">
            <a:avLst/>
          </a:prstGeom>
          <a:solidFill>
            <a:schemeClr val="accent5"/>
          </a:solidFill>
          <a:ln/>
        </p:spPr>
      </p:sp>
      <p:sp>
        <p:nvSpPr>
          <p:cNvPr id="61" name="diff-0-cell-7-0"/>
          <p:cNvSpPr/>
          <p:nvPr/>
        </p:nvSpPr>
        <p:spPr>
          <a:xfrm>
            <a:off x="6548933" y="927202"/>
            <a:ext cx="21946" cy="21946"/>
          </a:xfrm>
          <a:prstGeom prst="ellipse">
            <a:avLst/>
          </a:prstGeom>
          <a:solidFill>
            <a:schemeClr val="accent5"/>
          </a:solidFill>
          <a:ln/>
        </p:spPr>
      </p:sp>
      <p:sp>
        <p:nvSpPr>
          <p:cNvPr id="62" name="diff-0-cell-7-1"/>
          <p:cNvSpPr/>
          <p:nvPr/>
        </p:nvSpPr>
        <p:spPr>
          <a:xfrm>
            <a:off x="6548933" y="1031443"/>
            <a:ext cx="21946" cy="21946"/>
          </a:xfrm>
          <a:prstGeom prst="ellipse">
            <a:avLst/>
          </a:prstGeom>
          <a:solidFill>
            <a:schemeClr val="accent5"/>
          </a:solidFill>
          <a:ln/>
        </p:spPr>
      </p:sp>
      <p:sp>
        <p:nvSpPr>
          <p:cNvPr id="63" name="diff-0-cell-7-2"/>
          <p:cNvSpPr/>
          <p:nvPr/>
        </p:nvSpPr>
        <p:spPr>
          <a:xfrm>
            <a:off x="6548933" y="1135685"/>
            <a:ext cx="21946" cy="21946"/>
          </a:xfrm>
          <a:prstGeom prst="ellipse">
            <a:avLst/>
          </a:prstGeom>
          <a:solidFill>
            <a:schemeClr val="accent5"/>
          </a:solidFill>
          <a:ln/>
        </p:spPr>
      </p:sp>
      <p:sp>
        <p:nvSpPr>
          <p:cNvPr id="64" name="diff-0-cell-7-3"/>
          <p:cNvSpPr/>
          <p:nvPr/>
        </p:nvSpPr>
        <p:spPr>
          <a:xfrm>
            <a:off x="6548933" y="1239926"/>
            <a:ext cx="21946" cy="21946"/>
          </a:xfrm>
          <a:prstGeom prst="ellipse">
            <a:avLst/>
          </a:prstGeom>
          <a:solidFill>
            <a:schemeClr val="accent5"/>
          </a:solidFill>
          <a:ln/>
        </p:spPr>
      </p:sp>
      <p:sp>
        <p:nvSpPr>
          <p:cNvPr id="65" name="diff-0-cell-7-4"/>
          <p:cNvSpPr/>
          <p:nvPr/>
        </p:nvSpPr>
        <p:spPr>
          <a:xfrm>
            <a:off x="6548933" y="1344168"/>
            <a:ext cx="21946" cy="21946"/>
          </a:xfrm>
          <a:prstGeom prst="ellipse">
            <a:avLst/>
          </a:prstGeom>
          <a:solidFill>
            <a:schemeClr val="accent5"/>
          </a:solidFill>
          <a:ln/>
        </p:spPr>
      </p:sp>
      <p:sp>
        <p:nvSpPr>
          <p:cNvPr id="66" name="diff-0-cell-7-5"/>
          <p:cNvSpPr/>
          <p:nvPr/>
        </p:nvSpPr>
        <p:spPr>
          <a:xfrm>
            <a:off x="6548933" y="1448410"/>
            <a:ext cx="21946" cy="21946"/>
          </a:xfrm>
          <a:prstGeom prst="ellipse">
            <a:avLst/>
          </a:prstGeom>
          <a:solidFill>
            <a:schemeClr val="accent5"/>
          </a:solidFill>
          <a:ln/>
        </p:spPr>
      </p:sp>
      <p:sp>
        <p:nvSpPr>
          <p:cNvPr id="67" name="diff-0-cell-7-6"/>
          <p:cNvSpPr/>
          <p:nvPr/>
        </p:nvSpPr>
        <p:spPr>
          <a:xfrm>
            <a:off x="6548933" y="1552651"/>
            <a:ext cx="21946" cy="21946"/>
          </a:xfrm>
          <a:prstGeom prst="ellipse">
            <a:avLst/>
          </a:prstGeom>
          <a:solidFill>
            <a:schemeClr val="accent5"/>
          </a:solidFill>
          <a:ln/>
        </p:spPr>
      </p:sp>
      <p:sp>
        <p:nvSpPr>
          <p:cNvPr id="68" name="diff-0-cell-7-7"/>
          <p:cNvSpPr/>
          <p:nvPr/>
        </p:nvSpPr>
        <p:spPr>
          <a:xfrm>
            <a:off x="6548933" y="1656893"/>
            <a:ext cx="21946" cy="21946"/>
          </a:xfrm>
          <a:prstGeom prst="ellipse">
            <a:avLst/>
          </a:prstGeom>
          <a:solidFill>
            <a:schemeClr val="accent5"/>
          </a:solidFill>
          <a:ln/>
        </p:spPr>
      </p:sp>
      <p:sp>
        <p:nvSpPr>
          <p:cNvPr id="69" name="diff-0-macro-0"/>
          <p:cNvSpPr/>
          <p:nvPr/>
        </p:nvSpPr>
        <p:spPr>
          <a:xfrm>
            <a:off x="5830214" y="1346454"/>
            <a:ext cx="173736" cy="147676"/>
          </a:xfrm>
          <a:prstGeom prst="rect">
            <a:avLst/>
          </a:prstGeom>
          <a:solidFill>
            <a:schemeClr val="accent1">
              <a:alpha val="75000"/>
            </a:schemeClr>
          </a:solidFill>
          <a:ln w="9525">
            <a:solidFill>
              <a:schemeClr val="bg1"/>
            </a:solidFill>
            <a:prstDash val="solid"/>
          </a:ln>
        </p:spPr>
      </p:sp>
      <p:sp>
        <p:nvSpPr>
          <p:cNvPr id="70" name="diff-0-macro-1"/>
          <p:cNvSpPr/>
          <p:nvPr/>
        </p:nvSpPr>
        <p:spPr>
          <a:xfrm>
            <a:off x="6238494" y="955548"/>
            <a:ext cx="147676" cy="191110"/>
          </a:xfrm>
          <a:prstGeom prst="rect">
            <a:avLst/>
          </a:prstGeom>
          <a:solidFill>
            <a:schemeClr val="accent1">
              <a:alpha val="75000"/>
            </a:schemeClr>
          </a:solidFill>
          <a:ln w="9525">
            <a:solidFill>
              <a:schemeClr val="bg1"/>
            </a:solidFill>
            <a:prstDash val="solid"/>
          </a:ln>
        </p:spPr>
      </p:sp>
      <p:sp>
        <p:nvSpPr>
          <p:cNvPr id="71" name="diff-0-macro-2"/>
          <p:cNvSpPr/>
          <p:nvPr/>
        </p:nvSpPr>
        <p:spPr>
          <a:xfrm>
            <a:off x="6368796" y="1407262"/>
            <a:ext cx="112928" cy="130302"/>
          </a:xfrm>
          <a:prstGeom prst="rect">
            <a:avLst/>
          </a:prstGeom>
          <a:solidFill>
            <a:schemeClr val="accent1">
              <a:alpha val="75000"/>
            </a:schemeClr>
          </a:solidFill>
          <a:ln w="9525">
            <a:solidFill>
              <a:schemeClr val="bg1"/>
            </a:solidFill>
            <a:prstDash val="solid"/>
          </a:ln>
        </p:spPr>
      </p:sp>
      <p:sp>
        <p:nvSpPr>
          <p:cNvPr id="72" name="diff-0-macro-3"/>
          <p:cNvSpPr/>
          <p:nvPr/>
        </p:nvSpPr>
        <p:spPr>
          <a:xfrm>
            <a:off x="6021324" y="1085850"/>
            <a:ext cx="208483" cy="156362"/>
          </a:xfrm>
          <a:prstGeom prst="rect">
            <a:avLst/>
          </a:prstGeom>
          <a:solidFill>
            <a:schemeClr val="accent1">
              <a:alpha val="75000"/>
            </a:schemeClr>
          </a:solidFill>
          <a:ln w="9525">
            <a:solidFill>
              <a:schemeClr val="bg1"/>
            </a:solidFill>
            <a:prstDash val="solid"/>
          </a:ln>
        </p:spPr>
      </p:sp>
      <p:sp>
        <p:nvSpPr>
          <p:cNvPr id="73" name="diff-0-macro-4"/>
          <p:cNvSpPr/>
          <p:nvPr/>
        </p:nvSpPr>
        <p:spPr>
          <a:xfrm>
            <a:off x="6125566" y="1389888"/>
            <a:ext cx="173736" cy="191110"/>
          </a:xfrm>
          <a:prstGeom prst="rect">
            <a:avLst/>
          </a:prstGeom>
          <a:solidFill>
            <a:schemeClr val="accent1">
              <a:alpha val="75000"/>
            </a:schemeClr>
          </a:solidFill>
          <a:ln w="9525">
            <a:solidFill>
              <a:schemeClr val="bg1"/>
            </a:solidFill>
            <a:prstDash val="solid"/>
          </a:ln>
        </p:spPr>
      </p:sp>
      <p:sp>
        <p:nvSpPr>
          <p:cNvPr id="74" name="diff-0-macro-5"/>
          <p:cNvSpPr/>
          <p:nvPr/>
        </p:nvSpPr>
        <p:spPr>
          <a:xfrm>
            <a:off x="5864962" y="938174"/>
            <a:ext cx="156362" cy="130302"/>
          </a:xfrm>
          <a:prstGeom prst="rect">
            <a:avLst/>
          </a:prstGeom>
          <a:solidFill>
            <a:schemeClr val="accent1">
              <a:alpha val="75000"/>
            </a:schemeClr>
          </a:solidFill>
          <a:ln w="9525">
            <a:solidFill>
              <a:schemeClr val="bg1"/>
            </a:solidFill>
            <a:prstDash val="solid"/>
          </a:ln>
        </p:spPr>
      </p:sp>
      <p:sp>
        <p:nvSpPr>
          <p:cNvPr id="75" name="diff-0-macro-6"/>
          <p:cNvSpPr/>
          <p:nvPr/>
        </p:nvSpPr>
        <p:spPr>
          <a:xfrm>
            <a:off x="6412230" y="1198778"/>
            <a:ext cx="138989" cy="104242"/>
          </a:xfrm>
          <a:prstGeom prst="rect">
            <a:avLst/>
          </a:prstGeom>
          <a:solidFill>
            <a:schemeClr val="accent1">
              <a:alpha val="75000"/>
            </a:schemeClr>
          </a:solidFill>
          <a:ln w="9525">
            <a:solidFill>
              <a:schemeClr val="bg1"/>
            </a:solidFill>
            <a:prstDash val="solid"/>
          </a:ln>
        </p:spPr>
      </p:sp>
      <p:sp>
        <p:nvSpPr>
          <p:cNvPr id="76" name="Text 74"/>
          <p:cNvSpPr txBox="1"/>
          <p:nvPr/>
        </p:nvSpPr>
        <p:spPr>
          <a:xfrm>
            <a:off x="5715000" y="1783080"/>
            <a:ext cx="960120" cy="274320"/>
          </a:xfrm>
          <a:prstGeom prst="rect">
            <a:avLst/>
          </a:prstGeom>
          <a:noFill/>
          <a:ln/>
        </p:spPr>
        <p:txBody>
          <a:bodyPr wrap="square" lIns="0" tIns="0" rIns="0" bIns="0" rtlCol="0" anchor="t"/>
          <a:lstStyle/>
          <a:p>
            <a:pPr algn="ctr" indent="0" marL="0">
              <a:buNone/>
            </a:pPr>
            <a:r>
              <a:rPr lang="en-US" sz="1100" b="1" dirty="0">
                <a:solidFill>
                  <a:schemeClr val="accent1"/>
                </a:solidFill>
              </a:rPr>
              <a:t>Random start</a:t>
            </a:r>
            <a:endParaRPr lang="en-US" sz="1100" dirty="0"/>
          </a:p>
        </p:txBody>
      </p:sp>
      <p:sp>
        <p:nvSpPr>
          <p:cNvPr id="77" name="diff-arrow-0"/>
          <p:cNvSpPr/>
          <p:nvPr/>
        </p:nvSpPr>
        <p:spPr>
          <a:xfrm>
            <a:off x="6638544" y="1216152"/>
            <a:ext cx="137160" cy="164592"/>
          </a:xfrm>
          <a:prstGeom prst="rightArrow">
            <a:avLst/>
          </a:prstGeom>
          <a:solidFill>
            <a:schemeClr val="accent1"/>
          </a:solidFill>
          <a:ln/>
        </p:spPr>
      </p:sp>
      <p:sp>
        <p:nvSpPr>
          <p:cNvPr id="78" name="diff-1"/>
          <p:cNvSpPr/>
          <p:nvPr/>
        </p:nvSpPr>
        <p:spPr>
          <a:xfrm>
            <a:off x="6784848" y="868680"/>
            <a:ext cx="868680" cy="868680"/>
          </a:xfrm>
          <a:prstGeom prst="rect">
            <a:avLst/>
          </a:prstGeom>
          <a:solidFill>
            <a:schemeClr val="bg1"/>
          </a:solidFill>
          <a:ln w="12700">
            <a:solidFill>
              <a:schemeClr val="tx2"/>
            </a:solidFill>
            <a:prstDash val="solid"/>
          </a:ln>
        </p:spPr>
      </p:sp>
      <p:sp>
        <p:nvSpPr>
          <p:cNvPr id="79" name="diff-1-cell-0-0"/>
          <p:cNvSpPr/>
          <p:nvPr/>
        </p:nvSpPr>
        <p:spPr>
          <a:xfrm>
            <a:off x="6843370" y="927202"/>
            <a:ext cx="21946" cy="21946"/>
          </a:xfrm>
          <a:prstGeom prst="ellipse">
            <a:avLst/>
          </a:prstGeom>
          <a:solidFill>
            <a:schemeClr val="accent5"/>
          </a:solidFill>
          <a:ln/>
        </p:spPr>
      </p:sp>
      <p:sp>
        <p:nvSpPr>
          <p:cNvPr id="80" name="diff-1-cell-0-1"/>
          <p:cNvSpPr/>
          <p:nvPr/>
        </p:nvSpPr>
        <p:spPr>
          <a:xfrm>
            <a:off x="6843370" y="1031443"/>
            <a:ext cx="21946" cy="21946"/>
          </a:xfrm>
          <a:prstGeom prst="ellipse">
            <a:avLst/>
          </a:prstGeom>
          <a:solidFill>
            <a:schemeClr val="accent5"/>
          </a:solidFill>
          <a:ln/>
        </p:spPr>
      </p:sp>
      <p:sp>
        <p:nvSpPr>
          <p:cNvPr id="81" name="diff-1-cell-0-2"/>
          <p:cNvSpPr/>
          <p:nvPr/>
        </p:nvSpPr>
        <p:spPr>
          <a:xfrm>
            <a:off x="6843370" y="1135685"/>
            <a:ext cx="21946" cy="21946"/>
          </a:xfrm>
          <a:prstGeom prst="ellipse">
            <a:avLst/>
          </a:prstGeom>
          <a:solidFill>
            <a:schemeClr val="accent5"/>
          </a:solidFill>
          <a:ln/>
        </p:spPr>
      </p:sp>
      <p:sp>
        <p:nvSpPr>
          <p:cNvPr id="82" name="diff-1-cell-0-3"/>
          <p:cNvSpPr/>
          <p:nvPr/>
        </p:nvSpPr>
        <p:spPr>
          <a:xfrm>
            <a:off x="6843370" y="1239926"/>
            <a:ext cx="21946" cy="21946"/>
          </a:xfrm>
          <a:prstGeom prst="ellipse">
            <a:avLst/>
          </a:prstGeom>
          <a:solidFill>
            <a:schemeClr val="accent5"/>
          </a:solidFill>
          <a:ln/>
        </p:spPr>
      </p:sp>
      <p:sp>
        <p:nvSpPr>
          <p:cNvPr id="83" name="diff-1-cell-0-4"/>
          <p:cNvSpPr/>
          <p:nvPr/>
        </p:nvSpPr>
        <p:spPr>
          <a:xfrm>
            <a:off x="6843370" y="1344168"/>
            <a:ext cx="21946" cy="21946"/>
          </a:xfrm>
          <a:prstGeom prst="ellipse">
            <a:avLst/>
          </a:prstGeom>
          <a:solidFill>
            <a:schemeClr val="accent5"/>
          </a:solidFill>
          <a:ln/>
        </p:spPr>
      </p:sp>
      <p:sp>
        <p:nvSpPr>
          <p:cNvPr id="84" name="diff-1-cell-0-5"/>
          <p:cNvSpPr/>
          <p:nvPr/>
        </p:nvSpPr>
        <p:spPr>
          <a:xfrm>
            <a:off x="6843370" y="1448410"/>
            <a:ext cx="21946" cy="21946"/>
          </a:xfrm>
          <a:prstGeom prst="ellipse">
            <a:avLst/>
          </a:prstGeom>
          <a:solidFill>
            <a:schemeClr val="accent5"/>
          </a:solidFill>
          <a:ln/>
        </p:spPr>
      </p:sp>
      <p:sp>
        <p:nvSpPr>
          <p:cNvPr id="85" name="diff-1-cell-0-6"/>
          <p:cNvSpPr/>
          <p:nvPr/>
        </p:nvSpPr>
        <p:spPr>
          <a:xfrm>
            <a:off x="6843370" y="1552651"/>
            <a:ext cx="21946" cy="21946"/>
          </a:xfrm>
          <a:prstGeom prst="ellipse">
            <a:avLst/>
          </a:prstGeom>
          <a:solidFill>
            <a:schemeClr val="accent5"/>
          </a:solidFill>
          <a:ln/>
        </p:spPr>
      </p:sp>
      <p:sp>
        <p:nvSpPr>
          <p:cNvPr id="86" name="diff-1-cell-0-7"/>
          <p:cNvSpPr/>
          <p:nvPr/>
        </p:nvSpPr>
        <p:spPr>
          <a:xfrm>
            <a:off x="6843370" y="1656893"/>
            <a:ext cx="21946" cy="21946"/>
          </a:xfrm>
          <a:prstGeom prst="ellipse">
            <a:avLst/>
          </a:prstGeom>
          <a:solidFill>
            <a:schemeClr val="accent5"/>
          </a:solidFill>
          <a:ln/>
        </p:spPr>
      </p:sp>
      <p:sp>
        <p:nvSpPr>
          <p:cNvPr id="87" name="diff-1-cell-1-0"/>
          <p:cNvSpPr/>
          <p:nvPr/>
        </p:nvSpPr>
        <p:spPr>
          <a:xfrm>
            <a:off x="6947611" y="927202"/>
            <a:ext cx="21946" cy="21946"/>
          </a:xfrm>
          <a:prstGeom prst="ellipse">
            <a:avLst/>
          </a:prstGeom>
          <a:solidFill>
            <a:schemeClr val="accent5"/>
          </a:solidFill>
          <a:ln/>
        </p:spPr>
      </p:sp>
      <p:sp>
        <p:nvSpPr>
          <p:cNvPr id="88" name="diff-1-cell-1-1"/>
          <p:cNvSpPr/>
          <p:nvPr/>
        </p:nvSpPr>
        <p:spPr>
          <a:xfrm>
            <a:off x="6947611" y="1031443"/>
            <a:ext cx="21946" cy="21946"/>
          </a:xfrm>
          <a:prstGeom prst="ellipse">
            <a:avLst/>
          </a:prstGeom>
          <a:solidFill>
            <a:schemeClr val="accent5"/>
          </a:solidFill>
          <a:ln/>
        </p:spPr>
      </p:sp>
      <p:sp>
        <p:nvSpPr>
          <p:cNvPr id="89" name="diff-1-cell-1-2"/>
          <p:cNvSpPr/>
          <p:nvPr/>
        </p:nvSpPr>
        <p:spPr>
          <a:xfrm>
            <a:off x="6947611" y="1135685"/>
            <a:ext cx="21946" cy="21946"/>
          </a:xfrm>
          <a:prstGeom prst="ellipse">
            <a:avLst/>
          </a:prstGeom>
          <a:solidFill>
            <a:schemeClr val="accent5"/>
          </a:solidFill>
          <a:ln/>
        </p:spPr>
      </p:sp>
      <p:sp>
        <p:nvSpPr>
          <p:cNvPr id="90" name="diff-1-cell-1-3"/>
          <p:cNvSpPr/>
          <p:nvPr/>
        </p:nvSpPr>
        <p:spPr>
          <a:xfrm>
            <a:off x="6947611" y="1239926"/>
            <a:ext cx="21946" cy="21946"/>
          </a:xfrm>
          <a:prstGeom prst="ellipse">
            <a:avLst/>
          </a:prstGeom>
          <a:solidFill>
            <a:schemeClr val="accent5"/>
          </a:solidFill>
          <a:ln/>
        </p:spPr>
      </p:sp>
      <p:sp>
        <p:nvSpPr>
          <p:cNvPr id="91" name="diff-1-cell-1-4"/>
          <p:cNvSpPr/>
          <p:nvPr/>
        </p:nvSpPr>
        <p:spPr>
          <a:xfrm>
            <a:off x="6947611" y="1344168"/>
            <a:ext cx="21946" cy="21946"/>
          </a:xfrm>
          <a:prstGeom prst="ellipse">
            <a:avLst/>
          </a:prstGeom>
          <a:solidFill>
            <a:schemeClr val="accent5"/>
          </a:solidFill>
          <a:ln/>
        </p:spPr>
      </p:sp>
      <p:sp>
        <p:nvSpPr>
          <p:cNvPr id="92" name="diff-1-cell-1-5"/>
          <p:cNvSpPr/>
          <p:nvPr/>
        </p:nvSpPr>
        <p:spPr>
          <a:xfrm>
            <a:off x="6947611" y="1448410"/>
            <a:ext cx="21946" cy="21946"/>
          </a:xfrm>
          <a:prstGeom prst="ellipse">
            <a:avLst/>
          </a:prstGeom>
          <a:solidFill>
            <a:schemeClr val="accent5"/>
          </a:solidFill>
          <a:ln/>
        </p:spPr>
      </p:sp>
      <p:sp>
        <p:nvSpPr>
          <p:cNvPr id="93" name="diff-1-cell-1-6"/>
          <p:cNvSpPr/>
          <p:nvPr/>
        </p:nvSpPr>
        <p:spPr>
          <a:xfrm>
            <a:off x="6947611" y="1552651"/>
            <a:ext cx="21946" cy="21946"/>
          </a:xfrm>
          <a:prstGeom prst="ellipse">
            <a:avLst/>
          </a:prstGeom>
          <a:solidFill>
            <a:schemeClr val="accent5"/>
          </a:solidFill>
          <a:ln/>
        </p:spPr>
      </p:sp>
      <p:sp>
        <p:nvSpPr>
          <p:cNvPr id="94" name="diff-1-cell-1-7"/>
          <p:cNvSpPr/>
          <p:nvPr/>
        </p:nvSpPr>
        <p:spPr>
          <a:xfrm>
            <a:off x="6947611" y="1656893"/>
            <a:ext cx="21946" cy="21946"/>
          </a:xfrm>
          <a:prstGeom prst="ellipse">
            <a:avLst/>
          </a:prstGeom>
          <a:solidFill>
            <a:schemeClr val="accent5"/>
          </a:solidFill>
          <a:ln/>
        </p:spPr>
      </p:sp>
      <p:sp>
        <p:nvSpPr>
          <p:cNvPr id="95" name="diff-1-cell-2-0"/>
          <p:cNvSpPr/>
          <p:nvPr/>
        </p:nvSpPr>
        <p:spPr>
          <a:xfrm>
            <a:off x="7051853" y="927202"/>
            <a:ext cx="21946" cy="21946"/>
          </a:xfrm>
          <a:prstGeom prst="ellipse">
            <a:avLst/>
          </a:prstGeom>
          <a:solidFill>
            <a:schemeClr val="accent5"/>
          </a:solidFill>
          <a:ln/>
        </p:spPr>
      </p:sp>
      <p:sp>
        <p:nvSpPr>
          <p:cNvPr id="96" name="diff-1-cell-2-1"/>
          <p:cNvSpPr/>
          <p:nvPr/>
        </p:nvSpPr>
        <p:spPr>
          <a:xfrm>
            <a:off x="7051853" y="1031443"/>
            <a:ext cx="21946" cy="21946"/>
          </a:xfrm>
          <a:prstGeom prst="ellipse">
            <a:avLst/>
          </a:prstGeom>
          <a:solidFill>
            <a:schemeClr val="accent5"/>
          </a:solidFill>
          <a:ln/>
        </p:spPr>
      </p:sp>
      <p:sp>
        <p:nvSpPr>
          <p:cNvPr id="97" name="diff-1-cell-2-2"/>
          <p:cNvSpPr/>
          <p:nvPr/>
        </p:nvSpPr>
        <p:spPr>
          <a:xfrm>
            <a:off x="7051853" y="1135685"/>
            <a:ext cx="21946" cy="21946"/>
          </a:xfrm>
          <a:prstGeom prst="ellipse">
            <a:avLst/>
          </a:prstGeom>
          <a:solidFill>
            <a:schemeClr val="accent5"/>
          </a:solidFill>
          <a:ln/>
        </p:spPr>
      </p:sp>
      <p:sp>
        <p:nvSpPr>
          <p:cNvPr id="98" name="diff-1-cell-2-3"/>
          <p:cNvSpPr/>
          <p:nvPr/>
        </p:nvSpPr>
        <p:spPr>
          <a:xfrm>
            <a:off x="7051853" y="1239926"/>
            <a:ext cx="21946" cy="21946"/>
          </a:xfrm>
          <a:prstGeom prst="ellipse">
            <a:avLst/>
          </a:prstGeom>
          <a:solidFill>
            <a:schemeClr val="accent5"/>
          </a:solidFill>
          <a:ln/>
        </p:spPr>
      </p:sp>
      <p:sp>
        <p:nvSpPr>
          <p:cNvPr id="99" name="diff-1-cell-2-4"/>
          <p:cNvSpPr/>
          <p:nvPr/>
        </p:nvSpPr>
        <p:spPr>
          <a:xfrm>
            <a:off x="7051853" y="1344168"/>
            <a:ext cx="21946" cy="21946"/>
          </a:xfrm>
          <a:prstGeom prst="ellipse">
            <a:avLst/>
          </a:prstGeom>
          <a:solidFill>
            <a:schemeClr val="accent5"/>
          </a:solidFill>
          <a:ln/>
        </p:spPr>
      </p:sp>
      <p:sp>
        <p:nvSpPr>
          <p:cNvPr id="100" name="diff-1-cell-2-5"/>
          <p:cNvSpPr/>
          <p:nvPr/>
        </p:nvSpPr>
        <p:spPr>
          <a:xfrm>
            <a:off x="7051853" y="1448410"/>
            <a:ext cx="21946" cy="21946"/>
          </a:xfrm>
          <a:prstGeom prst="ellipse">
            <a:avLst/>
          </a:prstGeom>
          <a:solidFill>
            <a:schemeClr val="accent5"/>
          </a:solidFill>
          <a:ln/>
        </p:spPr>
      </p:sp>
      <p:sp>
        <p:nvSpPr>
          <p:cNvPr id="101" name="diff-1-cell-2-6"/>
          <p:cNvSpPr/>
          <p:nvPr/>
        </p:nvSpPr>
        <p:spPr>
          <a:xfrm>
            <a:off x="7051853" y="1552651"/>
            <a:ext cx="21946" cy="21946"/>
          </a:xfrm>
          <a:prstGeom prst="ellipse">
            <a:avLst/>
          </a:prstGeom>
          <a:solidFill>
            <a:schemeClr val="accent5"/>
          </a:solidFill>
          <a:ln/>
        </p:spPr>
      </p:sp>
      <p:sp>
        <p:nvSpPr>
          <p:cNvPr id="102" name="diff-1-cell-2-7"/>
          <p:cNvSpPr/>
          <p:nvPr/>
        </p:nvSpPr>
        <p:spPr>
          <a:xfrm>
            <a:off x="7051853" y="1656893"/>
            <a:ext cx="21946" cy="21946"/>
          </a:xfrm>
          <a:prstGeom prst="ellipse">
            <a:avLst/>
          </a:prstGeom>
          <a:solidFill>
            <a:schemeClr val="accent5"/>
          </a:solidFill>
          <a:ln/>
        </p:spPr>
      </p:sp>
      <p:sp>
        <p:nvSpPr>
          <p:cNvPr id="103" name="diff-1-cell-3-0"/>
          <p:cNvSpPr/>
          <p:nvPr/>
        </p:nvSpPr>
        <p:spPr>
          <a:xfrm>
            <a:off x="7156094" y="927202"/>
            <a:ext cx="21946" cy="21946"/>
          </a:xfrm>
          <a:prstGeom prst="ellipse">
            <a:avLst/>
          </a:prstGeom>
          <a:solidFill>
            <a:schemeClr val="accent5"/>
          </a:solidFill>
          <a:ln/>
        </p:spPr>
      </p:sp>
      <p:sp>
        <p:nvSpPr>
          <p:cNvPr id="104" name="diff-1-cell-3-1"/>
          <p:cNvSpPr/>
          <p:nvPr/>
        </p:nvSpPr>
        <p:spPr>
          <a:xfrm>
            <a:off x="7156094" y="1031443"/>
            <a:ext cx="21946" cy="21946"/>
          </a:xfrm>
          <a:prstGeom prst="ellipse">
            <a:avLst/>
          </a:prstGeom>
          <a:solidFill>
            <a:schemeClr val="accent5"/>
          </a:solidFill>
          <a:ln/>
        </p:spPr>
      </p:sp>
      <p:sp>
        <p:nvSpPr>
          <p:cNvPr id="105" name="diff-1-cell-3-2"/>
          <p:cNvSpPr/>
          <p:nvPr/>
        </p:nvSpPr>
        <p:spPr>
          <a:xfrm>
            <a:off x="7156094" y="1135685"/>
            <a:ext cx="21946" cy="21946"/>
          </a:xfrm>
          <a:prstGeom prst="ellipse">
            <a:avLst/>
          </a:prstGeom>
          <a:solidFill>
            <a:schemeClr val="accent5"/>
          </a:solidFill>
          <a:ln/>
        </p:spPr>
      </p:sp>
      <p:sp>
        <p:nvSpPr>
          <p:cNvPr id="106" name="diff-1-cell-3-3"/>
          <p:cNvSpPr/>
          <p:nvPr/>
        </p:nvSpPr>
        <p:spPr>
          <a:xfrm>
            <a:off x="7156094" y="1239926"/>
            <a:ext cx="21946" cy="21946"/>
          </a:xfrm>
          <a:prstGeom prst="ellipse">
            <a:avLst/>
          </a:prstGeom>
          <a:solidFill>
            <a:schemeClr val="accent5"/>
          </a:solidFill>
          <a:ln/>
        </p:spPr>
      </p:sp>
      <p:sp>
        <p:nvSpPr>
          <p:cNvPr id="107" name="diff-1-cell-3-4"/>
          <p:cNvSpPr/>
          <p:nvPr/>
        </p:nvSpPr>
        <p:spPr>
          <a:xfrm>
            <a:off x="7156094" y="1344168"/>
            <a:ext cx="21946" cy="21946"/>
          </a:xfrm>
          <a:prstGeom prst="ellipse">
            <a:avLst/>
          </a:prstGeom>
          <a:solidFill>
            <a:schemeClr val="accent5"/>
          </a:solidFill>
          <a:ln/>
        </p:spPr>
      </p:sp>
      <p:sp>
        <p:nvSpPr>
          <p:cNvPr id="108" name="diff-1-cell-3-5"/>
          <p:cNvSpPr/>
          <p:nvPr/>
        </p:nvSpPr>
        <p:spPr>
          <a:xfrm>
            <a:off x="7156094" y="1448410"/>
            <a:ext cx="21946" cy="21946"/>
          </a:xfrm>
          <a:prstGeom prst="ellipse">
            <a:avLst/>
          </a:prstGeom>
          <a:solidFill>
            <a:schemeClr val="accent5"/>
          </a:solidFill>
          <a:ln/>
        </p:spPr>
      </p:sp>
      <p:sp>
        <p:nvSpPr>
          <p:cNvPr id="109" name="diff-1-cell-3-6"/>
          <p:cNvSpPr/>
          <p:nvPr/>
        </p:nvSpPr>
        <p:spPr>
          <a:xfrm>
            <a:off x="7156094" y="1552651"/>
            <a:ext cx="21946" cy="21946"/>
          </a:xfrm>
          <a:prstGeom prst="ellipse">
            <a:avLst/>
          </a:prstGeom>
          <a:solidFill>
            <a:schemeClr val="accent5"/>
          </a:solidFill>
          <a:ln/>
        </p:spPr>
      </p:sp>
      <p:sp>
        <p:nvSpPr>
          <p:cNvPr id="110" name="diff-1-cell-3-7"/>
          <p:cNvSpPr/>
          <p:nvPr/>
        </p:nvSpPr>
        <p:spPr>
          <a:xfrm>
            <a:off x="7156094" y="1656893"/>
            <a:ext cx="21946" cy="21946"/>
          </a:xfrm>
          <a:prstGeom prst="ellipse">
            <a:avLst/>
          </a:prstGeom>
          <a:solidFill>
            <a:schemeClr val="accent5"/>
          </a:solidFill>
          <a:ln/>
        </p:spPr>
      </p:sp>
      <p:sp>
        <p:nvSpPr>
          <p:cNvPr id="111" name="diff-1-cell-4-0"/>
          <p:cNvSpPr/>
          <p:nvPr/>
        </p:nvSpPr>
        <p:spPr>
          <a:xfrm>
            <a:off x="7260336" y="927202"/>
            <a:ext cx="21946" cy="21946"/>
          </a:xfrm>
          <a:prstGeom prst="ellipse">
            <a:avLst/>
          </a:prstGeom>
          <a:solidFill>
            <a:schemeClr val="accent5"/>
          </a:solidFill>
          <a:ln/>
        </p:spPr>
      </p:sp>
      <p:sp>
        <p:nvSpPr>
          <p:cNvPr id="112" name="diff-1-cell-4-1"/>
          <p:cNvSpPr/>
          <p:nvPr/>
        </p:nvSpPr>
        <p:spPr>
          <a:xfrm>
            <a:off x="7260336" y="1031443"/>
            <a:ext cx="21946" cy="21946"/>
          </a:xfrm>
          <a:prstGeom prst="ellipse">
            <a:avLst/>
          </a:prstGeom>
          <a:solidFill>
            <a:schemeClr val="accent5"/>
          </a:solidFill>
          <a:ln/>
        </p:spPr>
      </p:sp>
      <p:sp>
        <p:nvSpPr>
          <p:cNvPr id="113" name="diff-1-cell-4-2"/>
          <p:cNvSpPr/>
          <p:nvPr/>
        </p:nvSpPr>
        <p:spPr>
          <a:xfrm>
            <a:off x="7260336" y="1135685"/>
            <a:ext cx="21946" cy="21946"/>
          </a:xfrm>
          <a:prstGeom prst="ellipse">
            <a:avLst/>
          </a:prstGeom>
          <a:solidFill>
            <a:schemeClr val="accent5"/>
          </a:solidFill>
          <a:ln/>
        </p:spPr>
      </p:sp>
      <p:sp>
        <p:nvSpPr>
          <p:cNvPr id="114" name="diff-1-cell-4-3"/>
          <p:cNvSpPr/>
          <p:nvPr/>
        </p:nvSpPr>
        <p:spPr>
          <a:xfrm>
            <a:off x="7260336" y="1239926"/>
            <a:ext cx="21946" cy="21946"/>
          </a:xfrm>
          <a:prstGeom prst="ellipse">
            <a:avLst/>
          </a:prstGeom>
          <a:solidFill>
            <a:schemeClr val="accent5"/>
          </a:solidFill>
          <a:ln/>
        </p:spPr>
      </p:sp>
      <p:sp>
        <p:nvSpPr>
          <p:cNvPr id="115" name="diff-1-cell-4-4"/>
          <p:cNvSpPr/>
          <p:nvPr/>
        </p:nvSpPr>
        <p:spPr>
          <a:xfrm>
            <a:off x="7260336" y="1344168"/>
            <a:ext cx="21946" cy="21946"/>
          </a:xfrm>
          <a:prstGeom prst="ellipse">
            <a:avLst/>
          </a:prstGeom>
          <a:solidFill>
            <a:schemeClr val="accent5"/>
          </a:solidFill>
          <a:ln/>
        </p:spPr>
      </p:sp>
      <p:sp>
        <p:nvSpPr>
          <p:cNvPr id="116" name="diff-1-cell-4-5"/>
          <p:cNvSpPr/>
          <p:nvPr/>
        </p:nvSpPr>
        <p:spPr>
          <a:xfrm>
            <a:off x="7260336" y="1448410"/>
            <a:ext cx="21946" cy="21946"/>
          </a:xfrm>
          <a:prstGeom prst="ellipse">
            <a:avLst/>
          </a:prstGeom>
          <a:solidFill>
            <a:schemeClr val="accent5"/>
          </a:solidFill>
          <a:ln/>
        </p:spPr>
      </p:sp>
      <p:sp>
        <p:nvSpPr>
          <p:cNvPr id="117" name="diff-1-cell-4-6"/>
          <p:cNvSpPr/>
          <p:nvPr/>
        </p:nvSpPr>
        <p:spPr>
          <a:xfrm>
            <a:off x="7260336" y="1552651"/>
            <a:ext cx="21946" cy="21946"/>
          </a:xfrm>
          <a:prstGeom prst="ellipse">
            <a:avLst/>
          </a:prstGeom>
          <a:solidFill>
            <a:schemeClr val="accent5"/>
          </a:solidFill>
          <a:ln/>
        </p:spPr>
      </p:sp>
      <p:sp>
        <p:nvSpPr>
          <p:cNvPr id="118" name="diff-1-cell-4-7"/>
          <p:cNvSpPr/>
          <p:nvPr/>
        </p:nvSpPr>
        <p:spPr>
          <a:xfrm>
            <a:off x="7260336" y="1656893"/>
            <a:ext cx="21946" cy="21946"/>
          </a:xfrm>
          <a:prstGeom prst="ellipse">
            <a:avLst/>
          </a:prstGeom>
          <a:solidFill>
            <a:schemeClr val="accent5"/>
          </a:solidFill>
          <a:ln/>
        </p:spPr>
      </p:sp>
      <p:sp>
        <p:nvSpPr>
          <p:cNvPr id="119" name="diff-1-cell-5-0"/>
          <p:cNvSpPr/>
          <p:nvPr/>
        </p:nvSpPr>
        <p:spPr>
          <a:xfrm>
            <a:off x="7364578" y="927202"/>
            <a:ext cx="21946" cy="21946"/>
          </a:xfrm>
          <a:prstGeom prst="ellipse">
            <a:avLst/>
          </a:prstGeom>
          <a:solidFill>
            <a:schemeClr val="accent5"/>
          </a:solidFill>
          <a:ln/>
        </p:spPr>
      </p:sp>
      <p:sp>
        <p:nvSpPr>
          <p:cNvPr id="120" name="diff-1-cell-5-1"/>
          <p:cNvSpPr/>
          <p:nvPr/>
        </p:nvSpPr>
        <p:spPr>
          <a:xfrm>
            <a:off x="7364578" y="1031443"/>
            <a:ext cx="21946" cy="21946"/>
          </a:xfrm>
          <a:prstGeom prst="ellipse">
            <a:avLst/>
          </a:prstGeom>
          <a:solidFill>
            <a:schemeClr val="accent5"/>
          </a:solidFill>
          <a:ln/>
        </p:spPr>
      </p:sp>
      <p:sp>
        <p:nvSpPr>
          <p:cNvPr id="121" name="diff-1-cell-5-2"/>
          <p:cNvSpPr/>
          <p:nvPr/>
        </p:nvSpPr>
        <p:spPr>
          <a:xfrm>
            <a:off x="7364578" y="1135685"/>
            <a:ext cx="21946" cy="21946"/>
          </a:xfrm>
          <a:prstGeom prst="ellipse">
            <a:avLst/>
          </a:prstGeom>
          <a:solidFill>
            <a:schemeClr val="accent5"/>
          </a:solidFill>
          <a:ln/>
        </p:spPr>
      </p:sp>
      <p:sp>
        <p:nvSpPr>
          <p:cNvPr id="122" name="diff-1-cell-5-3"/>
          <p:cNvSpPr/>
          <p:nvPr/>
        </p:nvSpPr>
        <p:spPr>
          <a:xfrm>
            <a:off x="7364578" y="1239926"/>
            <a:ext cx="21946" cy="21946"/>
          </a:xfrm>
          <a:prstGeom prst="ellipse">
            <a:avLst/>
          </a:prstGeom>
          <a:solidFill>
            <a:schemeClr val="accent5"/>
          </a:solidFill>
          <a:ln/>
        </p:spPr>
      </p:sp>
      <p:sp>
        <p:nvSpPr>
          <p:cNvPr id="123" name="diff-1-cell-5-4"/>
          <p:cNvSpPr/>
          <p:nvPr/>
        </p:nvSpPr>
        <p:spPr>
          <a:xfrm>
            <a:off x="7364578" y="1344168"/>
            <a:ext cx="21946" cy="21946"/>
          </a:xfrm>
          <a:prstGeom prst="ellipse">
            <a:avLst/>
          </a:prstGeom>
          <a:solidFill>
            <a:schemeClr val="accent5"/>
          </a:solidFill>
          <a:ln/>
        </p:spPr>
      </p:sp>
      <p:sp>
        <p:nvSpPr>
          <p:cNvPr id="124" name="diff-1-cell-5-5"/>
          <p:cNvSpPr/>
          <p:nvPr/>
        </p:nvSpPr>
        <p:spPr>
          <a:xfrm>
            <a:off x="7364578" y="1448410"/>
            <a:ext cx="21946" cy="21946"/>
          </a:xfrm>
          <a:prstGeom prst="ellipse">
            <a:avLst/>
          </a:prstGeom>
          <a:solidFill>
            <a:schemeClr val="accent5"/>
          </a:solidFill>
          <a:ln/>
        </p:spPr>
      </p:sp>
      <p:sp>
        <p:nvSpPr>
          <p:cNvPr id="125" name="diff-1-cell-5-6"/>
          <p:cNvSpPr/>
          <p:nvPr/>
        </p:nvSpPr>
        <p:spPr>
          <a:xfrm>
            <a:off x="7364578" y="1552651"/>
            <a:ext cx="21946" cy="21946"/>
          </a:xfrm>
          <a:prstGeom prst="ellipse">
            <a:avLst/>
          </a:prstGeom>
          <a:solidFill>
            <a:schemeClr val="accent5"/>
          </a:solidFill>
          <a:ln/>
        </p:spPr>
      </p:sp>
      <p:sp>
        <p:nvSpPr>
          <p:cNvPr id="126" name="diff-1-cell-5-7"/>
          <p:cNvSpPr/>
          <p:nvPr/>
        </p:nvSpPr>
        <p:spPr>
          <a:xfrm>
            <a:off x="7364578" y="1656893"/>
            <a:ext cx="21946" cy="21946"/>
          </a:xfrm>
          <a:prstGeom prst="ellipse">
            <a:avLst/>
          </a:prstGeom>
          <a:solidFill>
            <a:schemeClr val="accent5"/>
          </a:solidFill>
          <a:ln/>
        </p:spPr>
      </p:sp>
      <p:sp>
        <p:nvSpPr>
          <p:cNvPr id="127" name="diff-1-cell-6-0"/>
          <p:cNvSpPr/>
          <p:nvPr/>
        </p:nvSpPr>
        <p:spPr>
          <a:xfrm>
            <a:off x="7468819" y="927202"/>
            <a:ext cx="21946" cy="21946"/>
          </a:xfrm>
          <a:prstGeom prst="ellipse">
            <a:avLst/>
          </a:prstGeom>
          <a:solidFill>
            <a:schemeClr val="accent5"/>
          </a:solidFill>
          <a:ln/>
        </p:spPr>
      </p:sp>
      <p:sp>
        <p:nvSpPr>
          <p:cNvPr id="128" name="diff-1-cell-6-1"/>
          <p:cNvSpPr/>
          <p:nvPr/>
        </p:nvSpPr>
        <p:spPr>
          <a:xfrm>
            <a:off x="7468819" y="1031443"/>
            <a:ext cx="21946" cy="21946"/>
          </a:xfrm>
          <a:prstGeom prst="ellipse">
            <a:avLst/>
          </a:prstGeom>
          <a:solidFill>
            <a:schemeClr val="accent5"/>
          </a:solidFill>
          <a:ln/>
        </p:spPr>
      </p:sp>
      <p:sp>
        <p:nvSpPr>
          <p:cNvPr id="129" name="diff-1-cell-6-2"/>
          <p:cNvSpPr/>
          <p:nvPr/>
        </p:nvSpPr>
        <p:spPr>
          <a:xfrm>
            <a:off x="7468819" y="1135685"/>
            <a:ext cx="21946" cy="21946"/>
          </a:xfrm>
          <a:prstGeom prst="ellipse">
            <a:avLst/>
          </a:prstGeom>
          <a:solidFill>
            <a:schemeClr val="accent5"/>
          </a:solidFill>
          <a:ln/>
        </p:spPr>
      </p:sp>
      <p:sp>
        <p:nvSpPr>
          <p:cNvPr id="130" name="diff-1-cell-6-3"/>
          <p:cNvSpPr/>
          <p:nvPr/>
        </p:nvSpPr>
        <p:spPr>
          <a:xfrm>
            <a:off x="7468819" y="1239926"/>
            <a:ext cx="21946" cy="21946"/>
          </a:xfrm>
          <a:prstGeom prst="ellipse">
            <a:avLst/>
          </a:prstGeom>
          <a:solidFill>
            <a:schemeClr val="accent5"/>
          </a:solidFill>
          <a:ln/>
        </p:spPr>
      </p:sp>
      <p:sp>
        <p:nvSpPr>
          <p:cNvPr id="131" name="diff-1-cell-6-4"/>
          <p:cNvSpPr/>
          <p:nvPr/>
        </p:nvSpPr>
        <p:spPr>
          <a:xfrm>
            <a:off x="7468819" y="1344168"/>
            <a:ext cx="21946" cy="21946"/>
          </a:xfrm>
          <a:prstGeom prst="ellipse">
            <a:avLst/>
          </a:prstGeom>
          <a:solidFill>
            <a:schemeClr val="accent5"/>
          </a:solidFill>
          <a:ln/>
        </p:spPr>
      </p:sp>
      <p:sp>
        <p:nvSpPr>
          <p:cNvPr id="132" name="diff-1-cell-6-5"/>
          <p:cNvSpPr/>
          <p:nvPr/>
        </p:nvSpPr>
        <p:spPr>
          <a:xfrm>
            <a:off x="7468819" y="1448410"/>
            <a:ext cx="21946" cy="21946"/>
          </a:xfrm>
          <a:prstGeom prst="ellipse">
            <a:avLst/>
          </a:prstGeom>
          <a:solidFill>
            <a:schemeClr val="accent5"/>
          </a:solidFill>
          <a:ln/>
        </p:spPr>
      </p:sp>
      <p:sp>
        <p:nvSpPr>
          <p:cNvPr id="133" name="diff-1-cell-6-6"/>
          <p:cNvSpPr/>
          <p:nvPr/>
        </p:nvSpPr>
        <p:spPr>
          <a:xfrm>
            <a:off x="7468819" y="1552651"/>
            <a:ext cx="21946" cy="21946"/>
          </a:xfrm>
          <a:prstGeom prst="ellipse">
            <a:avLst/>
          </a:prstGeom>
          <a:solidFill>
            <a:schemeClr val="accent5"/>
          </a:solidFill>
          <a:ln/>
        </p:spPr>
      </p:sp>
      <p:sp>
        <p:nvSpPr>
          <p:cNvPr id="134" name="diff-1-cell-6-7"/>
          <p:cNvSpPr/>
          <p:nvPr/>
        </p:nvSpPr>
        <p:spPr>
          <a:xfrm>
            <a:off x="7468819" y="1656893"/>
            <a:ext cx="21946" cy="21946"/>
          </a:xfrm>
          <a:prstGeom prst="ellipse">
            <a:avLst/>
          </a:prstGeom>
          <a:solidFill>
            <a:schemeClr val="accent5"/>
          </a:solidFill>
          <a:ln/>
        </p:spPr>
      </p:sp>
      <p:sp>
        <p:nvSpPr>
          <p:cNvPr id="135" name="diff-1-cell-7-0"/>
          <p:cNvSpPr/>
          <p:nvPr/>
        </p:nvSpPr>
        <p:spPr>
          <a:xfrm>
            <a:off x="7573061" y="927202"/>
            <a:ext cx="21946" cy="21946"/>
          </a:xfrm>
          <a:prstGeom prst="ellipse">
            <a:avLst/>
          </a:prstGeom>
          <a:solidFill>
            <a:schemeClr val="accent5"/>
          </a:solidFill>
          <a:ln/>
        </p:spPr>
      </p:sp>
      <p:sp>
        <p:nvSpPr>
          <p:cNvPr id="136" name="diff-1-cell-7-1"/>
          <p:cNvSpPr/>
          <p:nvPr/>
        </p:nvSpPr>
        <p:spPr>
          <a:xfrm>
            <a:off x="7573061" y="1031443"/>
            <a:ext cx="21946" cy="21946"/>
          </a:xfrm>
          <a:prstGeom prst="ellipse">
            <a:avLst/>
          </a:prstGeom>
          <a:solidFill>
            <a:schemeClr val="accent5"/>
          </a:solidFill>
          <a:ln/>
        </p:spPr>
      </p:sp>
      <p:sp>
        <p:nvSpPr>
          <p:cNvPr id="137" name="diff-1-cell-7-2"/>
          <p:cNvSpPr/>
          <p:nvPr/>
        </p:nvSpPr>
        <p:spPr>
          <a:xfrm>
            <a:off x="7573061" y="1135685"/>
            <a:ext cx="21946" cy="21946"/>
          </a:xfrm>
          <a:prstGeom prst="ellipse">
            <a:avLst/>
          </a:prstGeom>
          <a:solidFill>
            <a:schemeClr val="accent5"/>
          </a:solidFill>
          <a:ln/>
        </p:spPr>
      </p:sp>
      <p:sp>
        <p:nvSpPr>
          <p:cNvPr id="138" name="diff-1-cell-7-3"/>
          <p:cNvSpPr/>
          <p:nvPr/>
        </p:nvSpPr>
        <p:spPr>
          <a:xfrm>
            <a:off x="7573061" y="1239926"/>
            <a:ext cx="21946" cy="21946"/>
          </a:xfrm>
          <a:prstGeom prst="ellipse">
            <a:avLst/>
          </a:prstGeom>
          <a:solidFill>
            <a:schemeClr val="accent5"/>
          </a:solidFill>
          <a:ln/>
        </p:spPr>
      </p:sp>
      <p:sp>
        <p:nvSpPr>
          <p:cNvPr id="139" name="diff-1-cell-7-4"/>
          <p:cNvSpPr/>
          <p:nvPr/>
        </p:nvSpPr>
        <p:spPr>
          <a:xfrm>
            <a:off x="7573061" y="1344168"/>
            <a:ext cx="21946" cy="21946"/>
          </a:xfrm>
          <a:prstGeom prst="ellipse">
            <a:avLst/>
          </a:prstGeom>
          <a:solidFill>
            <a:schemeClr val="accent5"/>
          </a:solidFill>
          <a:ln/>
        </p:spPr>
      </p:sp>
      <p:sp>
        <p:nvSpPr>
          <p:cNvPr id="140" name="diff-1-cell-7-5"/>
          <p:cNvSpPr/>
          <p:nvPr/>
        </p:nvSpPr>
        <p:spPr>
          <a:xfrm>
            <a:off x="7573061" y="1448410"/>
            <a:ext cx="21946" cy="21946"/>
          </a:xfrm>
          <a:prstGeom prst="ellipse">
            <a:avLst/>
          </a:prstGeom>
          <a:solidFill>
            <a:schemeClr val="accent5"/>
          </a:solidFill>
          <a:ln/>
        </p:spPr>
      </p:sp>
      <p:sp>
        <p:nvSpPr>
          <p:cNvPr id="141" name="diff-1-cell-7-6"/>
          <p:cNvSpPr/>
          <p:nvPr/>
        </p:nvSpPr>
        <p:spPr>
          <a:xfrm>
            <a:off x="7573061" y="1552651"/>
            <a:ext cx="21946" cy="21946"/>
          </a:xfrm>
          <a:prstGeom prst="ellipse">
            <a:avLst/>
          </a:prstGeom>
          <a:solidFill>
            <a:schemeClr val="accent5"/>
          </a:solidFill>
          <a:ln/>
        </p:spPr>
      </p:sp>
      <p:sp>
        <p:nvSpPr>
          <p:cNvPr id="142" name="diff-1-cell-7-7"/>
          <p:cNvSpPr/>
          <p:nvPr/>
        </p:nvSpPr>
        <p:spPr>
          <a:xfrm>
            <a:off x="7573061" y="1656893"/>
            <a:ext cx="21946" cy="21946"/>
          </a:xfrm>
          <a:prstGeom prst="ellipse">
            <a:avLst/>
          </a:prstGeom>
          <a:solidFill>
            <a:schemeClr val="accent5"/>
          </a:solidFill>
          <a:ln/>
        </p:spPr>
      </p:sp>
      <p:sp>
        <p:nvSpPr>
          <p:cNvPr id="143" name="diff-1-macro-0"/>
          <p:cNvSpPr/>
          <p:nvPr/>
        </p:nvSpPr>
        <p:spPr>
          <a:xfrm>
            <a:off x="6975958" y="1042416"/>
            <a:ext cx="173736" cy="147676"/>
          </a:xfrm>
          <a:prstGeom prst="rect">
            <a:avLst/>
          </a:prstGeom>
          <a:solidFill>
            <a:schemeClr val="accent1">
              <a:alpha val="75000"/>
            </a:schemeClr>
          </a:solidFill>
          <a:ln w="9525">
            <a:solidFill>
              <a:schemeClr val="bg1"/>
            </a:solidFill>
            <a:prstDash val="solid"/>
          </a:ln>
        </p:spPr>
      </p:sp>
      <p:sp>
        <p:nvSpPr>
          <p:cNvPr id="144" name="diff-1-macro-1"/>
          <p:cNvSpPr/>
          <p:nvPr/>
        </p:nvSpPr>
        <p:spPr>
          <a:xfrm>
            <a:off x="7167067" y="1042416"/>
            <a:ext cx="147676" cy="191110"/>
          </a:xfrm>
          <a:prstGeom prst="rect">
            <a:avLst/>
          </a:prstGeom>
          <a:solidFill>
            <a:schemeClr val="accent1">
              <a:alpha val="75000"/>
            </a:schemeClr>
          </a:solidFill>
          <a:ln w="9525">
            <a:solidFill>
              <a:schemeClr val="bg1"/>
            </a:solidFill>
            <a:prstDash val="solid"/>
          </a:ln>
        </p:spPr>
      </p:sp>
      <p:sp>
        <p:nvSpPr>
          <p:cNvPr id="145" name="diff-1-macro-2"/>
          <p:cNvSpPr/>
          <p:nvPr/>
        </p:nvSpPr>
        <p:spPr>
          <a:xfrm>
            <a:off x="7332116" y="1077163"/>
            <a:ext cx="112928" cy="130302"/>
          </a:xfrm>
          <a:prstGeom prst="rect">
            <a:avLst/>
          </a:prstGeom>
          <a:solidFill>
            <a:schemeClr val="accent1">
              <a:alpha val="75000"/>
            </a:schemeClr>
          </a:solidFill>
          <a:ln w="9525">
            <a:solidFill>
              <a:schemeClr val="bg1"/>
            </a:solidFill>
            <a:prstDash val="solid"/>
          </a:ln>
        </p:spPr>
      </p:sp>
      <p:sp>
        <p:nvSpPr>
          <p:cNvPr id="146" name="diff-1-macro-3"/>
          <p:cNvSpPr/>
          <p:nvPr/>
        </p:nvSpPr>
        <p:spPr>
          <a:xfrm>
            <a:off x="6993331" y="1216152"/>
            <a:ext cx="208483" cy="156362"/>
          </a:xfrm>
          <a:prstGeom prst="rect">
            <a:avLst/>
          </a:prstGeom>
          <a:solidFill>
            <a:schemeClr val="accent1">
              <a:alpha val="75000"/>
            </a:schemeClr>
          </a:solidFill>
          <a:ln w="9525">
            <a:solidFill>
              <a:schemeClr val="bg1"/>
            </a:solidFill>
            <a:prstDash val="solid"/>
          </a:ln>
        </p:spPr>
      </p:sp>
      <p:sp>
        <p:nvSpPr>
          <p:cNvPr id="147" name="diff-1-macro-4"/>
          <p:cNvSpPr/>
          <p:nvPr/>
        </p:nvSpPr>
        <p:spPr>
          <a:xfrm>
            <a:off x="7219188" y="1259586"/>
            <a:ext cx="173736" cy="191110"/>
          </a:xfrm>
          <a:prstGeom prst="rect">
            <a:avLst/>
          </a:prstGeom>
          <a:solidFill>
            <a:schemeClr val="accent1">
              <a:alpha val="75000"/>
            </a:schemeClr>
          </a:solidFill>
          <a:ln w="9525">
            <a:solidFill>
              <a:schemeClr val="bg1"/>
            </a:solidFill>
            <a:prstDash val="solid"/>
          </a:ln>
        </p:spPr>
      </p:sp>
      <p:sp>
        <p:nvSpPr>
          <p:cNvPr id="148" name="diff-1-macro-5"/>
          <p:cNvSpPr/>
          <p:nvPr/>
        </p:nvSpPr>
        <p:spPr>
          <a:xfrm>
            <a:off x="7045452" y="1389888"/>
            <a:ext cx="156362" cy="130302"/>
          </a:xfrm>
          <a:prstGeom prst="rect">
            <a:avLst/>
          </a:prstGeom>
          <a:solidFill>
            <a:schemeClr val="accent1">
              <a:alpha val="75000"/>
            </a:schemeClr>
          </a:solidFill>
          <a:ln w="9525">
            <a:solidFill>
              <a:schemeClr val="bg1"/>
            </a:solidFill>
            <a:prstDash val="solid"/>
          </a:ln>
        </p:spPr>
      </p:sp>
      <p:sp>
        <p:nvSpPr>
          <p:cNvPr id="149" name="diff-1-macro-6"/>
          <p:cNvSpPr/>
          <p:nvPr/>
        </p:nvSpPr>
        <p:spPr>
          <a:xfrm>
            <a:off x="7219188" y="1468069"/>
            <a:ext cx="138989" cy="104242"/>
          </a:xfrm>
          <a:prstGeom prst="rect">
            <a:avLst/>
          </a:prstGeom>
          <a:solidFill>
            <a:schemeClr val="accent1">
              <a:alpha val="75000"/>
            </a:schemeClr>
          </a:solidFill>
          <a:ln w="9525">
            <a:solidFill>
              <a:schemeClr val="bg1"/>
            </a:solidFill>
            <a:prstDash val="solid"/>
          </a:ln>
        </p:spPr>
      </p:sp>
      <p:sp>
        <p:nvSpPr>
          <p:cNvPr id="150" name="Text 148"/>
          <p:cNvSpPr txBox="1"/>
          <p:nvPr/>
        </p:nvSpPr>
        <p:spPr>
          <a:xfrm>
            <a:off x="6739128" y="1783080"/>
            <a:ext cx="960120" cy="274320"/>
          </a:xfrm>
          <a:prstGeom prst="rect">
            <a:avLst/>
          </a:prstGeom>
          <a:noFill/>
          <a:ln/>
        </p:spPr>
        <p:txBody>
          <a:bodyPr wrap="square" lIns="0" tIns="0" rIns="0" bIns="0" rtlCol="0" anchor="t"/>
          <a:lstStyle/>
          <a:p>
            <a:pPr algn="ctr" indent="0" marL="0">
              <a:buNone/>
            </a:pPr>
            <a:r>
              <a:rPr lang="en-US" sz="1100" b="1" dirty="0">
                <a:solidFill>
                  <a:schemeClr val="accent1"/>
                </a:solidFill>
              </a:rPr>
              <a:t>Step by step</a:t>
            </a:r>
            <a:endParaRPr lang="en-US" sz="1100" dirty="0"/>
          </a:p>
        </p:txBody>
      </p:sp>
      <p:sp>
        <p:nvSpPr>
          <p:cNvPr id="151" name="diff-arrow-1"/>
          <p:cNvSpPr/>
          <p:nvPr/>
        </p:nvSpPr>
        <p:spPr>
          <a:xfrm>
            <a:off x="7662672" y="1216152"/>
            <a:ext cx="137160" cy="164592"/>
          </a:xfrm>
          <a:prstGeom prst="rightArrow">
            <a:avLst/>
          </a:prstGeom>
          <a:solidFill>
            <a:schemeClr val="accent1"/>
          </a:solidFill>
          <a:ln/>
        </p:spPr>
      </p:sp>
      <p:sp>
        <p:nvSpPr>
          <p:cNvPr id="152" name="diff-2"/>
          <p:cNvSpPr/>
          <p:nvPr/>
        </p:nvSpPr>
        <p:spPr>
          <a:xfrm>
            <a:off x="7808976" y="868680"/>
            <a:ext cx="868680" cy="868680"/>
          </a:xfrm>
          <a:prstGeom prst="rect">
            <a:avLst/>
          </a:prstGeom>
          <a:solidFill>
            <a:schemeClr val="bg1"/>
          </a:solidFill>
          <a:ln w="12700">
            <a:solidFill>
              <a:schemeClr val="tx2"/>
            </a:solidFill>
            <a:prstDash val="solid"/>
          </a:ln>
        </p:spPr>
      </p:sp>
      <p:sp>
        <p:nvSpPr>
          <p:cNvPr id="153" name="diff-2-cell-0-0"/>
          <p:cNvSpPr/>
          <p:nvPr/>
        </p:nvSpPr>
        <p:spPr>
          <a:xfrm>
            <a:off x="7867498" y="927202"/>
            <a:ext cx="21946" cy="21946"/>
          </a:xfrm>
          <a:prstGeom prst="ellipse">
            <a:avLst/>
          </a:prstGeom>
          <a:solidFill>
            <a:schemeClr val="accent5"/>
          </a:solidFill>
          <a:ln/>
        </p:spPr>
      </p:sp>
      <p:sp>
        <p:nvSpPr>
          <p:cNvPr id="154" name="diff-2-cell-0-1"/>
          <p:cNvSpPr/>
          <p:nvPr/>
        </p:nvSpPr>
        <p:spPr>
          <a:xfrm>
            <a:off x="7867498" y="1031443"/>
            <a:ext cx="21946" cy="21946"/>
          </a:xfrm>
          <a:prstGeom prst="ellipse">
            <a:avLst/>
          </a:prstGeom>
          <a:solidFill>
            <a:schemeClr val="accent5"/>
          </a:solidFill>
          <a:ln/>
        </p:spPr>
      </p:sp>
      <p:sp>
        <p:nvSpPr>
          <p:cNvPr id="155" name="diff-2-cell-0-2"/>
          <p:cNvSpPr/>
          <p:nvPr/>
        </p:nvSpPr>
        <p:spPr>
          <a:xfrm>
            <a:off x="7867498" y="1135685"/>
            <a:ext cx="21946" cy="21946"/>
          </a:xfrm>
          <a:prstGeom prst="ellipse">
            <a:avLst/>
          </a:prstGeom>
          <a:solidFill>
            <a:schemeClr val="accent5"/>
          </a:solidFill>
          <a:ln/>
        </p:spPr>
      </p:sp>
      <p:sp>
        <p:nvSpPr>
          <p:cNvPr id="156" name="diff-2-cell-0-3"/>
          <p:cNvSpPr/>
          <p:nvPr/>
        </p:nvSpPr>
        <p:spPr>
          <a:xfrm>
            <a:off x="7867498" y="1239926"/>
            <a:ext cx="21946" cy="21946"/>
          </a:xfrm>
          <a:prstGeom prst="ellipse">
            <a:avLst/>
          </a:prstGeom>
          <a:solidFill>
            <a:schemeClr val="accent5"/>
          </a:solidFill>
          <a:ln/>
        </p:spPr>
      </p:sp>
      <p:sp>
        <p:nvSpPr>
          <p:cNvPr id="157" name="diff-2-cell-0-4"/>
          <p:cNvSpPr/>
          <p:nvPr/>
        </p:nvSpPr>
        <p:spPr>
          <a:xfrm>
            <a:off x="7867498" y="1344168"/>
            <a:ext cx="21946" cy="21946"/>
          </a:xfrm>
          <a:prstGeom prst="ellipse">
            <a:avLst/>
          </a:prstGeom>
          <a:solidFill>
            <a:schemeClr val="accent5"/>
          </a:solidFill>
          <a:ln/>
        </p:spPr>
      </p:sp>
      <p:sp>
        <p:nvSpPr>
          <p:cNvPr id="158" name="diff-2-cell-0-5"/>
          <p:cNvSpPr/>
          <p:nvPr/>
        </p:nvSpPr>
        <p:spPr>
          <a:xfrm>
            <a:off x="7867498" y="1448410"/>
            <a:ext cx="21946" cy="21946"/>
          </a:xfrm>
          <a:prstGeom prst="ellipse">
            <a:avLst/>
          </a:prstGeom>
          <a:solidFill>
            <a:schemeClr val="accent5"/>
          </a:solidFill>
          <a:ln/>
        </p:spPr>
      </p:sp>
      <p:sp>
        <p:nvSpPr>
          <p:cNvPr id="159" name="diff-2-cell-0-6"/>
          <p:cNvSpPr/>
          <p:nvPr/>
        </p:nvSpPr>
        <p:spPr>
          <a:xfrm>
            <a:off x="7867498" y="1552651"/>
            <a:ext cx="21946" cy="21946"/>
          </a:xfrm>
          <a:prstGeom prst="ellipse">
            <a:avLst/>
          </a:prstGeom>
          <a:solidFill>
            <a:schemeClr val="accent5"/>
          </a:solidFill>
          <a:ln/>
        </p:spPr>
      </p:sp>
      <p:sp>
        <p:nvSpPr>
          <p:cNvPr id="160" name="diff-2-cell-0-7"/>
          <p:cNvSpPr/>
          <p:nvPr/>
        </p:nvSpPr>
        <p:spPr>
          <a:xfrm>
            <a:off x="7867498" y="1656893"/>
            <a:ext cx="21946" cy="21946"/>
          </a:xfrm>
          <a:prstGeom prst="ellipse">
            <a:avLst/>
          </a:prstGeom>
          <a:solidFill>
            <a:schemeClr val="accent5"/>
          </a:solidFill>
          <a:ln/>
        </p:spPr>
      </p:sp>
      <p:sp>
        <p:nvSpPr>
          <p:cNvPr id="161" name="diff-2-cell-1-0"/>
          <p:cNvSpPr/>
          <p:nvPr/>
        </p:nvSpPr>
        <p:spPr>
          <a:xfrm>
            <a:off x="7971739" y="927202"/>
            <a:ext cx="21946" cy="21946"/>
          </a:xfrm>
          <a:prstGeom prst="ellipse">
            <a:avLst/>
          </a:prstGeom>
          <a:solidFill>
            <a:schemeClr val="accent5"/>
          </a:solidFill>
          <a:ln/>
        </p:spPr>
      </p:sp>
      <p:sp>
        <p:nvSpPr>
          <p:cNvPr id="162" name="diff-2-cell-1-1"/>
          <p:cNvSpPr/>
          <p:nvPr/>
        </p:nvSpPr>
        <p:spPr>
          <a:xfrm>
            <a:off x="7971739" y="1031443"/>
            <a:ext cx="21946" cy="21946"/>
          </a:xfrm>
          <a:prstGeom prst="ellipse">
            <a:avLst/>
          </a:prstGeom>
          <a:solidFill>
            <a:schemeClr val="accent5"/>
          </a:solidFill>
          <a:ln/>
        </p:spPr>
      </p:sp>
      <p:sp>
        <p:nvSpPr>
          <p:cNvPr id="163" name="diff-2-cell-1-2"/>
          <p:cNvSpPr/>
          <p:nvPr/>
        </p:nvSpPr>
        <p:spPr>
          <a:xfrm>
            <a:off x="7971739" y="1135685"/>
            <a:ext cx="21946" cy="21946"/>
          </a:xfrm>
          <a:prstGeom prst="ellipse">
            <a:avLst/>
          </a:prstGeom>
          <a:solidFill>
            <a:schemeClr val="accent5"/>
          </a:solidFill>
          <a:ln/>
        </p:spPr>
      </p:sp>
      <p:sp>
        <p:nvSpPr>
          <p:cNvPr id="164" name="diff-2-cell-1-3"/>
          <p:cNvSpPr/>
          <p:nvPr/>
        </p:nvSpPr>
        <p:spPr>
          <a:xfrm>
            <a:off x="7971739" y="1239926"/>
            <a:ext cx="21946" cy="21946"/>
          </a:xfrm>
          <a:prstGeom prst="ellipse">
            <a:avLst/>
          </a:prstGeom>
          <a:solidFill>
            <a:schemeClr val="accent5"/>
          </a:solidFill>
          <a:ln/>
        </p:spPr>
      </p:sp>
      <p:sp>
        <p:nvSpPr>
          <p:cNvPr id="165" name="diff-2-cell-1-4"/>
          <p:cNvSpPr/>
          <p:nvPr/>
        </p:nvSpPr>
        <p:spPr>
          <a:xfrm>
            <a:off x="7971739" y="1344168"/>
            <a:ext cx="21946" cy="21946"/>
          </a:xfrm>
          <a:prstGeom prst="ellipse">
            <a:avLst/>
          </a:prstGeom>
          <a:solidFill>
            <a:schemeClr val="accent5"/>
          </a:solidFill>
          <a:ln/>
        </p:spPr>
      </p:sp>
      <p:sp>
        <p:nvSpPr>
          <p:cNvPr id="166" name="diff-2-cell-1-5"/>
          <p:cNvSpPr/>
          <p:nvPr/>
        </p:nvSpPr>
        <p:spPr>
          <a:xfrm>
            <a:off x="7971739" y="1448410"/>
            <a:ext cx="21946" cy="21946"/>
          </a:xfrm>
          <a:prstGeom prst="ellipse">
            <a:avLst/>
          </a:prstGeom>
          <a:solidFill>
            <a:schemeClr val="accent5"/>
          </a:solidFill>
          <a:ln/>
        </p:spPr>
      </p:sp>
      <p:sp>
        <p:nvSpPr>
          <p:cNvPr id="167" name="diff-2-cell-1-6"/>
          <p:cNvSpPr/>
          <p:nvPr/>
        </p:nvSpPr>
        <p:spPr>
          <a:xfrm>
            <a:off x="7971739" y="1552651"/>
            <a:ext cx="21946" cy="21946"/>
          </a:xfrm>
          <a:prstGeom prst="ellipse">
            <a:avLst/>
          </a:prstGeom>
          <a:solidFill>
            <a:schemeClr val="accent5"/>
          </a:solidFill>
          <a:ln/>
        </p:spPr>
      </p:sp>
      <p:sp>
        <p:nvSpPr>
          <p:cNvPr id="168" name="diff-2-cell-1-7"/>
          <p:cNvSpPr/>
          <p:nvPr/>
        </p:nvSpPr>
        <p:spPr>
          <a:xfrm>
            <a:off x="7971739" y="1656893"/>
            <a:ext cx="21946" cy="21946"/>
          </a:xfrm>
          <a:prstGeom prst="ellipse">
            <a:avLst/>
          </a:prstGeom>
          <a:solidFill>
            <a:schemeClr val="accent5"/>
          </a:solidFill>
          <a:ln/>
        </p:spPr>
      </p:sp>
      <p:sp>
        <p:nvSpPr>
          <p:cNvPr id="169" name="diff-2-cell-2-0"/>
          <p:cNvSpPr/>
          <p:nvPr/>
        </p:nvSpPr>
        <p:spPr>
          <a:xfrm>
            <a:off x="8075981" y="927202"/>
            <a:ext cx="21946" cy="21946"/>
          </a:xfrm>
          <a:prstGeom prst="ellipse">
            <a:avLst/>
          </a:prstGeom>
          <a:solidFill>
            <a:schemeClr val="accent5"/>
          </a:solidFill>
          <a:ln/>
        </p:spPr>
      </p:sp>
      <p:sp>
        <p:nvSpPr>
          <p:cNvPr id="170" name="diff-2-cell-2-1"/>
          <p:cNvSpPr/>
          <p:nvPr/>
        </p:nvSpPr>
        <p:spPr>
          <a:xfrm>
            <a:off x="8075981" y="1031443"/>
            <a:ext cx="21946" cy="21946"/>
          </a:xfrm>
          <a:prstGeom prst="ellipse">
            <a:avLst/>
          </a:prstGeom>
          <a:solidFill>
            <a:schemeClr val="accent5"/>
          </a:solidFill>
          <a:ln/>
        </p:spPr>
      </p:sp>
      <p:sp>
        <p:nvSpPr>
          <p:cNvPr id="171" name="diff-2-cell-2-2"/>
          <p:cNvSpPr/>
          <p:nvPr/>
        </p:nvSpPr>
        <p:spPr>
          <a:xfrm>
            <a:off x="8075981" y="1135685"/>
            <a:ext cx="21946" cy="21946"/>
          </a:xfrm>
          <a:prstGeom prst="ellipse">
            <a:avLst/>
          </a:prstGeom>
          <a:solidFill>
            <a:schemeClr val="accent5"/>
          </a:solidFill>
          <a:ln/>
        </p:spPr>
      </p:sp>
      <p:sp>
        <p:nvSpPr>
          <p:cNvPr id="172" name="diff-2-cell-2-3"/>
          <p:cNvSpPr/>
          <p:nvPr/>
        </p:nvSpPr>
        <p:spPr>
          <a:xfrm>
            <a:off x="8075981" y="1239926"/>
            <a:ext cx="21946" cy="21946"/>
          </a:xfrm>
          <a:prstGeom prst="ellipse">
            <a:avLst/>
          </a:prstGeom>
          <a:solidFill>
            <a:schemeClr val="accent5"/>
          </a:solidFill>
          <a:ln/>
        </p:spPr>
      </p:sp>
      <p:sp>
        <p:nvSpPr>
          <p:cNvPr id="173" name="diff-2-cell-2-4"/>
          <p:cNvSpPr/>
          <p:nvPr/>
        </p:nvSpPr>
        <p:spPr>
          <a:xfrm>
            <a:off x="8075981" y="1344168"/>
            <a:ext cx="21946" cy="21946"/>
          </a:xfrm>
          <a:prstGeom prst="ellipse">
            <a:avLst/>
          </a:prstGeom>
          <a:solidFill>
            <a:schemeClr val="accent5"/>
          </a:solidFill>
          <a:ln/>
        </p:spPr>
      </p:sp>
      <p:sp>
        <p:nvSpPr>
          <p:cNvPr id="174" name="diff-2-cell-2-5"/>
          <p:cNvSpPr/>
          <p:nvPr/>
        </p:nvSpPr>
        <p:spPr>
          <a:xfrm>
            <a:off x="8075981" y="1448410"/>
            <a:ext cx="21946" cy="21946"/>
          </a:xfrm>
          <a:prstGeom prst="ellipse">
            <a:avLst/>
          </a:prstGeom>
          <a:solidFill>
            <a:schemeClr val="accent5"/>
          </a:solidFill>
          <a:ln/>
        </p:spPr>
      </p:sp>
      <p:sp>
        <p:nvSpPr>
          <p:cNvPr id="175" name="diff-2-cell-2-6"/>
          <p:cNvSpPr/>
          <p:nvPr/>
        </p:nvSpPr>
        <p:spPr>
          <a:xfrm>
            <a:off x="8075981" y="1552651"/>
            <a:ext cx="21946" cy="21946"/>
          </a:xfrm>
          <a:prstGeom prst="ellipse">
            <a:avLst/>
          </a:prstGeom>
          <a:solidFill>
            <a:schemeClr val="accent5"/>
          </a:solidFill>
          <a:ln/>
        </p:spPr>
      </p:sp>
      <p:sp>
        <p:nvSpPr>
          <p:cNvPr id="176" name="diff-2-cell-2-7"/>
          <p:cNvSpPr/>
          <p:nvPr/>
        </p:nvSpPr>
        <p:spPr>
          <a:xfrm>
            <a:off x="8075981" y="1656893"/>
            <a:ext cx="21946" cy="21946"/>
          </a:xfrm>
          <a:prstGeom prst="ellipse">
            <a:avLst/>
          </a:prstGeom>
          <a:solidFill>
            <a:schemeClr val="accent5"/>
          </a:solidFill>
          <a:ln/>
        </p:spPr>
      </p:sp>
      <p:sp>
        <p:nvSpPr>
          <p:cNvPr id="177" name="diff-2-cell-3-0"/>
          <p:cNvSpPr/>
          <p:nvPr/>
        </p:nvSpPr>
        <p:spPr>
          <a:xfrm>
            <a:off x="8180222" y="927202"/>
            <a:ext cx="21946" cy="21946"/>
          </a:xfrm>
          <a:prstGeom prst="ellipse">
            <a:avLst/>
          </a:prstGeom>
          <a:solidFill>
            <a:schemeClr val="accent5"/>
          </a:solidFill>
          <a:ln/>
        </p:spPr>
      </p:sp>
      <p:sp>
        <p:nvSpPr>
          <p:cNvPr id="178" name="diff-2-cell-3-1"/>
          <p:cNvSpPr/>
          <p:nvPr/>
        </p:nvSpPr>
        <p:spPr>
          <a:xfrm>
            <a:off x="8180222" y="1031443"/>
            <a:ext cx="21946" cy="21946"/>
          </a:xfrm>
          <a:prstGeom prst="ellipse">
            <a:avLst/>
          </a:prstGeom>
          <a:solidFill>
            <a:schemeClr val="accent5"/>
          </a:solidFill>
          <a:ln/>
        </p:spPr>
      </p:sp>
      <p:sp>
        <p:nvSpPr>
          <p:cNvPr id="179" name="diff-2-cell-3-2"/>
          <p:cNvSpPr/>
          <p:nvPr/>
        </p:nvSpPr>
        <p:spPr>
          <a:xfrm>
            <a:off x="8180222" y="1135685"/>
            <a:ext cx="21946" cy="21946"/>
          </a:xfrm>
          <a:prstGeom prst="ellipse">
            <a:avLst/>
          </a:prstGeom>
          <a:solidFill>
            <a:schemeClr val="accent5"/>
          </a:solidFill>
          <a:ln/>
        </p:spPr>
      </p:sp>
      <p:sp>
        <p:nvSpPr>
          <p:cNvPr id="180" name="diff-2-cell-3-3"/>
          <p:cNvSpPr/>
          <p:nvPr/>
        </p:nvSpPr>
        <p:spPr>
          <a:xfrm>
            <a:off x="8180222" y="1239926"/>
            <a:ext cx="21946" cy="21946"/>
          </a:xfrm>
          <a:prstGeom prst="ellipse">
            <a:avLst/>
          </a:prstGeom>
          <a:solidFill>
            <a:schemeClr val="accent5"/>
          </a:solidFill>
          <a:ln/>
        </p:spPr>
      </p:sp>
      <p:sp>
        <p:nvSpPr>
          <p:cNvPr id="181" name="diff-2-cell-3-4"/>
          <p:cNvSpPr/>
          <p:nvPr/>
        </p:nvSpPr>
        <p:spPr>
          <a:xfrm>
            <a:off x="8180222" y="1344168"/>
            <a:ext cx="21946" cy="21946"/>
          </a:xfrm>
          <a:prstGeom prst="ellipse">
            <a:avLst/>
          </a:prstGeom>
          <a:solidFill>
            <a:schemeClr val="accent5"/>
          </a:solidFill>
          <a:ln/>
        </p:spPr>
      </p:sp>
      <p:sp>
        <p:nvSpPr>
          <p:cNvPr id="182" name="diff-2-cell-3-5"/>
          <p:cNvSpPr/>
          <p:nvPr/>
        </p:nvSpPr>
        <p:spPr>
          <a:xfrm>
            <a:off x="8180222" y="1448410"/>
            <a:ext cx="21946" cy="21946"/>
          </a:xfrm>
          <a:prstGeom prst="ellipse">
            <a:avLst/>
          </a:prstGeom>
          <a:solidFill>
            <a:schemeClr val="accent5"/>
          </a:solidFill>
          <a:ln/>
        </p:spPr>
      </p:sp>
      <p:sp>
        <p:nvSpPr>
          <p:cNvPr id="183" name="diff-2-cell-3-6"/>
          <p:cNvSpPr/>
          <p:nvPr/>
        </p:nvSpPr>
        <p:spPr>
          <a:xfrm>
            <a:off x="8180222" y="1552651"/>
            <a:ext cx="21946" cy="21946"/>
          </a:xfrm>
          <a:prstGeom prst="ellipse">
            <a:avLst/>
          </a:prstGeom>
          <a:solidFill>
            <a:schemeClr val="accent5"/>
          </a:solidFill>
          <a:ln/>
        </p:spPr>
      </p:sp>
      <p:sp>
        <p:nvSpPr>
          <p:cNvPr id="184" name="diff-2-cell-3-7"/>
          <p:cNvSpPr/>
          <p:nvPr/>
        </p:nvSpPr>
        <p:spPr>
          <a:xfrm>
            <a:off x="8180222" y="1656893"/>
            <a:ext cx="21946" cy="21946"/>
          </a:xfrm>
          <a:prstGeom prst="ellipse">
            <a:avLst/>
          </a:prstGeom>
          <a:solidFill>
            <a:schemeClr val="accent5"/>
          </a:solidFill>
          <a:ln/>
        </p:spPr>
      </p:sp>
      <p:sp>
        <p:nvSpPr>
          <p:cNvPr id="185" name="diff-2-cell-4-0"/>
          <p:cNvSpPr/>
          <p:nvPr/>
        </p:nvSpPr>
        <p:spPr>
          <a:xfrm>
            <a:off x="8284464" y="927202"/>
            <a:ext cx="21946" cy="21946"/>
          </a:xfrm>
          <a:prstGeom prst="ellipse">
            <a:avLst/>
          </a:prstGeom>
          <a:solidFill>
            <a:schemeClr val="accent5"/>
          </a:solidFill>
          <a:ln/>
        </p:spPr>
      </p:sp>
      <p:sp>
        <p:nvSpPr>
          <p:cNvPr id="186" name="diff-2-cell-4-1"/>
          <p:cNvSpPr/>
          <p:nvPr/>
        </p:nvSpPr>
        <p:spPr>
          <a:xfrm>
            <a:off x="8284464" y="1031443"/>
            <a:ext cx="21946" cy="21946"/>
          </a:xfrm>
          <a:prstGeom prst="ellipse">
            <a:avLst/>
          </a:prstGeom>
          <a:solidFill>
            <a:schemeClr val="accent5"/>
          </a:solidFill>
          <a:ln/>
        </p:spPr>
      </p:sp>
      <p:sp>
        <p:nvSpPr>
          <p:cNvPr id="187" name="diff-2-cell-4-2"/>
          <p:cNvSpPr/>
          <p:nvPr/>
        </p:nvSpPr>
        <p:spPr>
          <a:xfrm>
            <a:off x="8284464" y="1135685"/>
            <a:ext cx="21946" cy="21946"/>
          </a:xfrm>
          <a:prstGeom prst="ellipse">
            <a:avLst/>
          </a:prstGeom>
          <a:solidFill>
            <a:schemeClr val="accent5"/>
          </a:solidFill>
          <a:ln/>
        </p:spPr>
      </p:sp>
      <p:sp>
        <p:nvSpPr>
          <p:cNvPr id="188" name="diff-2-cell-4-3"/>
          <p:cNvSpPr/>
          <p:nvPr/>
        </p:nvSpPr>
        <p:spPr>
          <a:xfrm>
            <a:off x="8284464" y="1239926"/>
            <a:ext cx="21946" cy="21946"/>
          </a:xfrm>
          <a:prstGeom prst="ellipse">
            <a:avLst/>
          </a:prstGeom>
          <a:solidFill>
            <a:schemeClr val="accent5"/>
          </a:solidFill>
          <a:ln/>
        </p:spPr>
      </p:sp>
      <p:sp>
        <p:nvSpPr>
          <p:cNvPr id="189" name="diff-2-cell-4-4"/>
          <p:cNvSpPr/>
          <p:nvPr/>
        </p:nvSpPr>
        <p:spPr>
          <a:xfrm>
            <a:off x="8284464" y="1344168"/>
            <a:ext cx="21946" cy="21946"/>
          </a:xfrm>
          <a:prstGeom prst="ellipse">
            <a:avLst/>
          </a:prstGeom>
          <a:solidFill>
            <a:schemeClr val="accent5"/>
          </a:solidFill>
          <a:ln/>
        </p:spPr>
      </p:sp>
      <p:sp>
        <p:nvSpPr>
          <p:cNvPr id="190" name="diff-2-cell-4-5"/>
          <p:cNvSpPr/>
          <p:nvPr/>
        </p:nvSpPr>
        <p:spPr>
          <a:xfrm>
            <a:off x="8284464" y="1448410"/>
            <a:ext cx="21946" cy="21946"/>
          </a:xfrm>
          <a:prstGeom prst="ellipse">
            <a:avLst/>
          </a:prstGeom>
          <a:solidFill>
            <a:schemeClr val="accent5"/>
          </a:solidFill>
          <a:ln/>
        </p:spPr>
      </p:sp>
      <p:sp>
        <p:nvSpPr>
          <p:cNvPr id="191" name="diff-2-cell-4-6"/>
          <p:cNvSpPr/>
          <p:nvPr/>
        </p:nvSpPr>
        <p:spPr>
          <a:xfrm>
            <a:off x="8284464" y="1552651"/>
            <a:ext cx="21946" cy="21946"/>
          </a:xfrm>
          <a:prstGeom prst="ellipse">
            <a:avLst/>
          </a:prstGeom>
          <a:solidFill>
            <a:schemeClr val="accent5"/>
          </a:solidFill>
          <a:ln/>
        </p:spPr>
      </p:sp>
      <p:sp>
        <p:nvSpPr>
          <p:cNvPr id="192" name="diff-2-cell-4-7"/>
          <p:cNvSpPr/>
          <p:nvPr/>
        </p:nvSpPr>
        <p:spPr>
          <a:xfrm>
            <a:off x="8284464" y="1656893"/>
            <a:ext cx="21946" cy="21946"/>
          </a:xfrm>
          <a:prstGeom prst="ellipse">
            <a:avLst/>
          </a:prstGeom>
          <a:solidFill>
            <a:schemeClr val="accent5"/>
          </a:solidFill>
          <a:ln/>
        </p:spPr>
      </p:sp>
      <p:sp>
        <p:nvSpPr>
          <p:cNvPr id="193" name="diff-2-cell-5-0"/>
          <p:cNvSpPr/>
          <p:nvPr/>
        </p:nvSpPr>
        <p:spPr>
          <a:xfrm>
            <a:off x="8388706" y="927202"/>
            <a:ext cx="21946" cy="21946"/>
          </a:xfrm>
          <a:prstGeom prst="ellipse">
            <a:avLst/>
          </a:prstGeom>
          <a:solidFill>
            <a:schemeClr val="accent5"/>
          </a:solidFill>
          <a:ln/>
        </p:spPr>
      </p:sp>
      <p:sp>
        <p:nvSpPr>
          <p:cNvPr id="194" name="diff-2-cell-5-1"/>
          <p:cNvSpPr/>
          <p:nvPr/>
        </p:nvSpPr>
        <p:spPr>
          <a:xfrm>
            <a:off x="8388706" y="1031443"/>
            <a:ext cx="21946" cy="21946"/>
          </a:xfrm>
          <a:prstGeom prst="ellipse">
            <a:avLst/>
          </a:prstGeom>
          <a:solidFill>
            <a:schemeClr val="accent5"/>
          </a:solidFill>
          <a:ln/>
        </p:spPr>
      </p:sp>
      <p:sp>
        <p:nvSpPr>
          <p:cNvPr id="195" name="diff-2-cell-5-2"/>
          <p:cNvSpPr/>
          <p:nvPr/>
        </p:nvSpPr>
        <p:spPr>
          <a:xfrm>
            <a:off x="8388706" y="1135685"/>
            <a:ext cx="21946" cy="21946"/>
          </a:xfrm>
          <a:prstGeom prst="ellipse">
            <a:avLst/>
          </a:prstGeom>
          <a:solidFill>
            <a:schemeClr val="accent5"/>
          </a:solidFill>
          <a:ln/>
        </p:spPr>
      </p:sp>
      <p:sp>
        <p:nvSpPr>
          <p:cNvPr id="196" name="diff-2-cell-5-3"/>
          <p:cNvSpPr/>
          <p:nvPr/>
        </p:nvSpPr>
        <p:spPr>
          <a:xfrm>
            <a:off x="8388706" y="1239926"/>
            <a:ext cx="21946" cy="21946"/>
          </a:xfrm>
          <a:prstGeom prst="ellipse">
            <a:avLst/>
          </a:prstGeom>
          <a:solidFill>
            <a:schemeClr val="accent5"/>
          </a:solidFill>
          <a:ln/>
        </p:spPr>
      </p:sp>
      <p:sp>
        <p:nvSpPr>
          <p:cNvPr id="197" name="diff-2-cell-5-4"/>
          <p:cNvSpPr/>
          <p:nvPr/>
        </p:nvSpPr>
        <p:spPr>
          <a:xfrm>
            <a:off x="8388706" y="1344168"/>
            <a:ext cx="21946" cy="21946"/>
          </a:xfrm>
          <a:prstGeom prst="ellipse">
            <a:avLst/>
          </a:prstGeom>
          <a:solidFill>
            <a:schemeClr val="accent5"/>
          </a:solidFill>
          <a:ln/>
        </p:spPr>
      </p:sp>
      <p:sp>
        <p:nvSpPr>
          <p:cNvPr id="198" name="diff-2-cell-5-5"/>
          <p:cNvSpPr/>
          <p:nvPr/>
        </p:nvSpPr>
        <p:spPr>
          <a:xfrm>
            <a:off x="8388706" y="1448410"/>
            <a:ext cx="21946" cy="21946"/>
          </a:xfrm>
          <a:prstGeom prst="ellipse">
            <a:avLst/>
          </a:prstGeom>
          <a:solidFill>
            <a:schemeClr val="accent5"/>
          </a:solidFill>
          <a:ln/>
        </p:spPr>
      </p:sp>
      <p:sp>
        <p:nvSpPr>
          <p:cNvPr id="199" name="diff-2-cell-5-6"/>
          <p:cNvSpPr/>
          <p:nvPr/>
        </p:nvSpPr>
        <p:spPr>
          <a:xfrm>
            <a:off x="8388706" y="1552651"/>
            <a:ext cx="21946" cy="21946"/>
          </a:xfrm>
          <a:prstGeom prst="ellipse">
            <a:avLst/>
          </a:prstGeom>
          <a:solidFill>
            <a:schemeClr val="accent5"/>
          </a:solidFill>
          <a:ln/>
        </p:spPr>
      </p:sp>
      <p:sp>
        <p:nvSpPr>
          <p:cNvPr id="200" name="diff-2-cell-5-7"/>
          <p:cNvSpPr/>
          <p:nvPr/>
        </p:nvSpPr>
        <p:spPr>
          <a:xfrm>
            <a:off x="8388706" y="1656893"/>
            <a:ext cx="21946" cy="21946"/>
          </a:xfrm>
          <a:prstGeom prst="ellipse">
            <a:avLst/>
          </a:prstGeom>
          <a:solidFill>
            <a:schemeClr val="accent5"/>
          </a:solidFill>
          <a:ln/>
        </p:spPr>
      </p:sp>
      <p:sp>
        <p:nvSpPr>
          <p:cNvPr id="201" name="diff-2-cell-6-0"/>
          <p:cNvSpPr/>
          <p:nvPr/>
        </p:nvSpPr>
        <p:spPr>
          <a:xfrm>
            <a:off x="8492947" y="927202"/>
            <a:ext cx="21946" cy="21946"/>
          </a:xfrm>
          <a:prstGeom prst="ellipse">
            <a:avLst/>
          </a:prstGeom>
          <a:solidFill>
            <a:schemeClr val="accent5"/>
          </a:solidFill>
          <a:ln/>
        </p:spPr>
      </p:sp>
      <p:sp>
        <p:nvSpPr>
          <p:cNvPr id="202" name="diff-2-cell-6-1"/>
          <p:cNvSpPr/>
          <p:nvPr/>
        </p:nvSpPr>
        <p:spPr>
          <a:xfrm>
            <a:off x="8492947" y="1031443"/>
            <a:ext cx="21946" cy="21946"/>
          </a:xfrm>
          <a:prstGeom prst="ellipse">
            <a:avLst/>
          </a:prstGeom>
          <a:solidFill>
            <a:schemeClr val="accent5"/>
          </a:solidFill>
          <a:ln/>
        </p:spPr>
      </p:sp>
      <p:sp>
        <p:nvSpPr>
          <p:cNvPr id="203" name="diff-2-cell-6-2"/>
          <p:cNvSpPr/>
          <p:nvPr/>
        </p:nvSpPr>
        <p:spPr>
          <a:xfrm>
            <a:off x="8492947" y="1135685"/>
            <a:ext cx="21946" cy="21946"/>
          </a:xfrm>
          <a:prstGeom prst="ellipse">
            <a:avLst/>
          </a:prstGeom>
          <a:solidFill>
            <a:schemeClr val="accent5"/>
          </a:solidFill>
          <a:ln/>
        </p:spPr>
      </p:sp>
      <p:sp>
        <p:nvSpPr>
          <p:cNvPr id="204" name="diff-2-cell-6-3"/>
          <p:cNvSpPr/>
          <p:nvPr/>
        </p:nvSpPr>
        <p:spPr>
          <a:xfrm>
            <a:off x="8492947" y="1239926"/>
            <a:ext cx="21946" cy="21946"/>
          </a:xfrm>
          <a:prstGeom prst="ellipse">
            <a:avLst/>
          </a:prstGeom>
          <a:solidFill>
            <a:schemeClr val="accent5"/>
          </a:solidFill>
          <a:ln/>
        </p:spPr>
      </p:sp>
      <p:sp>
        <p:nvSpPr>
          <p:cNvPr id="205" name="diff-2-cell-6-4"/>
          <p:cNvSpPr/>
          <p:nvPr/>
        </p:nvSpPr>
        <p:spPr>
          <a:xfrm>
            <a:off x="8492947" y="1344168"/>
            <a:ext cx="21946" cy="21946"/>
          </a:xfrm>
          <a:prstGeom prst="ellipse">
            <a:avLst/>
          </a:prstGeom>
          <a:solidFill>
            <a:schemeClr val="accent5"/>
          </a:solidFill>
          <a:ln/>
        </p:spPr>
      </p:sp>
      <p:sp>
        <p:nvSpPr>
          <p:cNvPr id="206" name="diff-2-cell-6-5"/>
          <p:cNvSpPr/>
          <p:nvPr/>
        </p:nvSpPr>
        <p:spPr>
          <a:xfrm>
            <a:off x="8492947" y="1448410"/>
            <a:ext cx="21946" cy="21946"/>
          </a:xfrm>
          <a:prstGeom prst="ellipse">
            <a:avLst/>
          </a:prstGeom>
          <a:solidFill>
            <a:schemeClr val="accent5"/>
          </a:solidFill>
          <a:ln/>
        </p:spPr>
      </p:sp>
      <p:sp>
        <p:nvSpPr>
          <p:cNvPr id="207" name="diff-2-cell-6-6"/>
          <p:cNvSpPr/>
          <p:nvPr/>
        </p:nvSpPr>
        <p:spPr>
          <a:xfrm>
            <a:off x="8492947" y="1552651"/>
            <a:ext cx="21946" cy="21946"/>
          </a:xfrm>
          <a:prstGeom prst="ellipse">
            <a:avLst/>
          </a:prstGeom>
          <a:solidFill>
            <a:schemeClr val="accent5"/>
          </a:solidFill>
          <a:ln/>
        </p:spPr>
      </p:sp>
      <p:sp>
        <p:nvSpPr>
          <p:cNvPr id="208" name="diff-2-cell-6-7"/>
          <p:cNvSpPr/>
          <p:nvPr/>
        </p:nvSpPr>
        <p:spPr>
          <a:xfrm>
            <a:off x="8492947" y="1656893"/>
            <a:ext cx="21946" cy="21946"/>
          </a:xfrm>
          <a:prstGeom prst="ellipse">
            <a:avLst/>
          </a:prstGeom>
          <a:solidFill>
            <a:schemeClr val="accent5"/>
          </a:solidFill>
          <a:ln/>
        </p:spPr>
      </p:sp>
      <p:sp>
        <p:nvSpPr>
          <p:cNvPr id="209" name="diff-2-cell-7-0"/>
          <p:cNvSpPr/>
          <p:nvPr/>
        </p:nvSpPr>
        <p:spPr>
          <a:xfrm>
            <a:off x="8597189" y="927202"/>
            <a:ext cx="21946" cy="21946"/>
          </a:xfrm>
          <a:prstGeom prst="ellipse">
            <a:avLst/>
          </a:prstGeom>
          <a:solidFill>
            <a:schemeClr val="accent5"/>
          </a:solidFill>
          <a:ln/>
        </p:spPr>
      </p:sp>
      <p:sp>
        <p:nvSpPr>
          <p:cNvPr id="210" name="diff-2-cell-7-1"/>
          <p:cNvSpPr/>
          <p:nvPr/>
        </p:nvSpPr>
        <p:spPr>
          <a:xfrm>
            <a:off x="8597189" y="1031443"/>
            <a:ext cx="21946" cy="21946"/>
          </a:xfrm>
          <a:prstGeom prst="ellipse">
            <a:avLst/>
          </a:prstGeom>
          <a:solidFill>
            <a:schemeClr val="accent5"/>
          </a:solidFill>
          <a:ln/>
        </p:spPr>
      </p:sp>
      <p:sp>
        <p:nvSpPr>
          <p:cNvPr id="211" name="diff-2-cell-7-2"/>
          <p:cNvSpPr/>
          <p:nvPr/>
        </p:nvSpPr>
        <p:spPr>
          <a:xfrm>
            <a:off x="8597189" y="1135685"/>
            <a:ext cx="21946" cy="21946"/>
          </a:xfrm>
          <a:prstGeom prst="ellipse">
            <a:avLst/>
          </a:prstGeom>
          <a:solidFill>
            <a:schemeClr val="accent5"/>
          </a:solidFill>
          <a:ln/>
        </p:spPr>
      </p:sp>
      <p:sp>
        <p:nvSpPr>
          <p:cNvPr id="212" name="diff-2-cell-7-3"/>
          <p:cNvSpPr/>
          <p:nvPr/>
        </p:nvSpPr>
        <p:spPr>
          <a:xfrm>
            <a:off x="8597189" y="1239926"/>
            <a:ext cx="21946" cy="21946"/>
          </a:xfrm>
          <a:prstGeom prst="ellipse">
            <a:avLst/>
          </a:prstGeom>
          <a:solidFill>
            <a:schemeClr val="accent5"/>
          </a:solidFill>
          <a:ln/>
        </p:spPr>
      </p:sp>
      <p:sp>
        <p:nvSpPr>
          <p:cNvPr id="213" name="diff-2-cell-7-4"/>
          <p:cNvSpPr/>
          <p:nvPr/>
        </p:nvSpPr>
        <p:spPr>
          <a:xfrm>
            <a:off x="8597189" y="1344168"/>
            <a:ext cx="21946" cy="21946"/>
          </a:xfrm>
          <a:prstGeom prst="ellipse">
            <a:avLst/>
          </a:prstGeom>
          <a:solidFill>
            <a:schemeClr val="accent5"/>
          </a:solidFill>
          <a:ln/>
        </p:spPr>
      </p:sp>
      <p:sp>
        <p:nvSpPr>
          <p:cNvPr id="214" name="diff-2-cell-7-5"/>
          <p:cNvSpPr/>
          <p:nvPr/>
        </p:nvSpPr>
        <p:spPr>
          <a:xfrm>
            <a:off x="8597189" y="1448410"/>
            <a:ext cx="21946" cy="21946"/>
          </a:xfrm>
          <a:prstGeom prst="ellipse">
            <a:avLst/>
          </a:prstGeom>
          <a:solidFill>
            <a:schemeClr val="accent5"/>
          </a:solidFill>
          <a:ln/>
        </p:spPr>
      </p:sp>
      <p:sp>
        <p:nvSpPr>
          <p:cNvPr id="215" name="diff-2-cell-7-6"/>
          <p:cNvSpPr/>
          <p:nvPr/>
        </p:nvSpPr>
        <p:spPr>
          <a:xfrm>
            <a:off x="8597189" y="1552651"/>
            <a:ext cx="21946" cy="21946"/>
          </a:xfrm>
          <a:prstGeom prst="ellipse">
            <a:avLst/>
          </a:prstGeom>
          <a:solidFill>
            <a:schemeClr val="accent5"/>
          </a:solidFill>
          <a:ln/>
        </p:spPr>
      </p:sp>
      <p:sp>
        <p:nvSpPr>
          <p:cNvPr id="216" name="diff-2-cell-7-7"/>
          <p:cNvSpPr/>
          <p:nvPr/>
        </p:nvSpPr>
        <p:spPr>
          <a:xfrm>
            <a:off x="8597189" y="1656893"/>
            <a:ext cx="21946" cy="21946"/>
          </a:xfrm>
          <a:prstGeom prst="ellipse">
            <a:avLst/>
          </a:prstGeom>
          <a:solidFill>
            <a:schemeClr val="accent5"/>
          </a:solidFill>
          <a:ln/>
        </p:spPr>
      </p:sp>
      <p:sp>
        <p:nvSpPr>
          <p:cNvPr id="217" name="diff-2-macro-0"/>
          <p:cNvSpPr/>
          <p:nvPr/>
        </p:nvSpPr>
        <p:spPr>
          <a:xfrm>
            <a:off x="7835036" y="894740"/>
            <a:ext cx="225857" cy="156362"/>
          </a:xfrm>
          <a:prstGeom prst="rect">
            <a:avLst/>
          </a:prstGeom>
          <a:solidFill>
            <a:schemeClr val="accent1">
              <a:alpha val="75000"/>
            </a:schemeClr>
          </a:solidFill>
          <a:ln w="9525">
            <a:solidFill>
              <a:schemeClr val="bg1"/>
            </a:solidFill>
            <a:prstDash val="solid"/>
          </a:ln>
        </p:spPr>
      </p:sp>
      <p:sp>
        <p:nvSpPr>
          <p:cNvPr id="218" name="diff-2-macro-1"/>
          <p:cNvSpPr/>
          <p:nvPr/>
        </p:nvSpPr>
        <p:spPr>
          <a:xfrm>
            <a:off x="8104327" y="894740"/>
            <a:ext cx="156362" cy="121615"/>
          </a:xfrm>
          <a:prstGeom prst="rect">
            <a:avLst/>
          </a:prstGeom>
          <a:solidFill>
            <a:schemeClr val="accent1">
              <a:alpha val="75000"/>
            </a:schemeClr>
          </a:solidFill>
          <a:ln w="9525">
            <a:solidFill>
              <a:schemeClr val="bg1"/>
            </a:solidFill>
            <a:prstDash val="solid"/>
          </a:ln>
        </p:spPr>
      </p:sp>
      <p:sp>
        <p:nvSpPr>
          <p:cNvPr id="219" name="diff-2-macro-2"/>
          <p:cNvSpPr/>
          <p:nvPr/>
        </p:nvSpPr>
        <p:spPr>
          <a:xfrm>
            <a:off x="8434426" y="894740"/>
            <a:ext cx="217170" cy="191110"/>
          </a:xfrm>
          <a:prstGeom prst="rect">
            <a:avLst/>
          </a:prstGeom>
          <a:solidFill>
            <a:schemeClr val="accent1">
              <a:alpha val="75000"/>
            </a:schemeClr>
          </a:solidFill>
          <a:ln w="9525">
            <a:solidFill>
              <a:schemeClr val="bg1"/>
            </a:solidFill>
            <a:prstDash val="solid"/>
          </a:ln>
        </p:spPr>
      </p:sp>
      <p:sp>
        <p:nvSpPr>
          <p:cNvPr id="220" name="diff-2-macro-3"/>
          <p:cNvSpPr/>
          <p:nvPr/>
        </p:nvSpPr>
        <p:spPr>
          <a:xfrm>
            <a:off x="7835036" y="1103224"/>
            <a:ext cx="121615" cy="234544"/>
          </a:xfrm>
          <a:prstGeom prst="rect">
            <a:avLst/>
          </a:prstGeom>
          <a:solidFill>
            <a:schemeClr val="accent1">
              <a:alpha val="75000"/>
            </a:schemeClr>
          </a:solidFill>
          <a:ln w="9525">
            <a:solidFill>
              <a:schemeClr val="bg1"/>
            </a:solidFill>
            <a:prstDash val="solid"/>
          </a:ln>
        </p:spPr>
      </p:sp>
      <p:sp>
        <p:nvSpPr>
          <p:cNvPr id="221" name="diff-2-macro-4"/>
          <p:cNvSpPr/>
          <p:nvPr/>
        </p:nvSpPr>
        <p:spPr>
          <a:xfrm>
            <a:off x="8512607" y="1146658"/>
            <a:ext cx="138989" cy="217170"/>
          </a:xfrm>
          <a:prstGeom prst="rect">
            <a:avLst/>
          </a:prstGeom>
          <a:solidFill>
            <a:schemeClr val="accent1">
              <a:alpha val="75000"/>
            </a:schemeClr>
          </a:solidFill>
          <a:ln w="9525">
            <a:solidFill>
              <a:schemeClr val="bg1"/>
            </a:solidFill>
            <a:prstDash val="solid"/>
          </a:ln>
        </p:spPr>
      </p:sp>
      <p:sp>
        <p:nvSpPr>
          <p:cNvPr id="222" name="diff-2-macro-5"/>
          <p:cNvSpPr/>
          <p:nvPr/>
        </p:nvSpPr>
        <p:spPr>
          <a:xfrm>
            <a:off x="7835036" y="1442009"/>
            <a:ext cx="191110" cy="269291"/>
          </a:xfrm>
          <a:prstGeom prst="rect">
            <a:avLst/>
          </a:prstGeom>
          <a:solidFill>
            <a:schemeClr val="accent1">
              <a:alpha val="75000"/>
            </a:schemeClr>
          </a:solidFill>
          <a:ln w="9525">
            <a:solidFill>
              <a:schemeClr val="bg1"/>
            </a:solidFill>
            <a:prstDash val="solid"/>
          </a:ln>
        </p:spPr>
      </p:sp>
      <p:sp>
        <p:nvSpPr>
          <p:cNvPr id="223" name="diff-2-macro-6"/>
          <p:cNvSpPr/>
          <p:nvPr/>
        </p:nvSpPr>
        <p:spPr>
          <a:xfrm>
            <a:off x="8156448" y="1589684"/>
            <a:ext cx="225857" cy="121615"/>
          </a:xfrm>
          <a:prstGeom prst="rect">
            <a:avLst/>
          </a:prstGeom>
          <a:solidFill>
            <a:schemeClr val="accent1">
              <a:alpha val="75000"/>
            </a:schemeClr>
          </a:solidFill>
          <a:ln w="9525">
            <a:solidFill>
              <a:schemeClr val="bg1"/>
            </a:solidFill>
            <a:prstDash val="solid"/>
          </a:ln>
        </p:spPr>
      </p:sp>
      <p:sp>
        <p:nvSpPr>
          <p:cNvPr id="224" name="diff-2-macro-7"/>
          <p:cNvSpPr/>
          <p:nvPr/>
        </p:nvSpPr>
        <p:spPr>
          <a:xfrm>
            <a:off x="8451799" y="1476756"/>
            <a:ext cx="199796" cy="234544"/>
          </a:xfrm>
          <a:prstGeom prst="rect">
            <a:avLst/>
          </a:prstGeom>
          <a:solidFill>
            <a:schemeClr val="accent1">
              <a:alpha val="75000"/>
            </a:schemeClr>
          </a:solidFill>
          <a:ln w="9525">
            <a:solidFill>
              <a:schemeClr val="bg1"/>
            </a:solidFill>
            <a:prstDash val="solid"/>
          </a:ln>
        </p:spPr>
      </p:sp>
      <p:sp>
        <p:nvSpPr>
          <p:cNvPr id="225" name="Text 223"/>
          <p:cNvSpPr txBox="1"/>
          <p:nvPr/>
        </p:nvSpPr>
        <p:spPr>
          <a:xfrm>
            <a:off x="7763256" y="1783080"/>
            <a:ext cx="960120" cy="274320"/>
          </a:xfrm>
          <a:prstGeom prst="rect">
            <a:avLst/>
          </a:prstGeom>
          <a:noFill/>
          <a:ln/>
        </p:spPr>
        <p:txBody>
          <a:bodyPr wrap="square" lIns="0" tIns="0" rIns="0" bIns="0" rtlCol="0" anchor="t"/>
          <a:lstStyle/>
          <a:p>
            <a:pPr algn="ctr" indent="0" marL="0">
              <a:buNone/>
            </a:pPr>
            <a:r>
              <a:rPr lang="en-US" sz="1100" b="1" dirty="0">
                <a:solidFill>
                  <a:schemeClr val="accent1"/>
                </a:solidFill>
              </a:rPr>
              <a:t>Final layout</a:t>
            </a:r>
            <a:endParaRPr lang="en-US" sz="1100" dirty="0"/>
          </a:p>
        </p:txBody>
      </p:sp>
      <p:sp>
        <p:nvSpPr>
          <p:cNvPr id="226" name="A-res"/>
          <p:cNvSpPr/>
          <p:nvPr/>
        </p:nvSpPr>
        <p:spPr>
          <a:xfrm>
            <a:off x="365760" y="3017520"/>
            <a:ext cx="4114800" cy="1691640"/>
          </a:xfrm>
          <a:prstGeom prst="roundRect">
            <a:avLst>
              <a:gd name="adj" fmla="val 3243"/>
            </a:avLst>
          </a:prstGeom>
          <a:solidFill>
            <a:schemeClr val="bg2"/>
          </a:solidFill>
          <a:ln/>
        </p:spPr>
      </p:sp>
      <p:sp>
        <p:nvSpPr>
          <p:cNvPr id="227" name="Text 225"/>
          <p:cNvSpPr txBox="1"/>
          <p:nvPr/>
        </p:nvSpPr>
        <p:spPr>
          <a:xfrm>
            <a:off x="548640" y="3127248"/>
            <a:ext cx="3749040" cy="274320"/>
          </a:xfrm>
          <a:prstGeom prst="rect">
            <a:avLst/>
          </a:prstGeom>
          <a:noFill/>
          <a:ln/>
        </p:spPr>
        <p:txBody>
          <a:bodyPr wrap="square" lIns="0" tIns="0" rIns="0" bIns="0" rtlCol="0" anchor="t"/>
          <a:lstStyle/>
          <a:p>
            <a:pPr indent="0" marL="0">
              <a:buNone/>
            </a:pPr>
            <a:r>
              <a:rPr lang="en-US" sz="1600" b="1" dirty="0">
                <a:solidFill>
                  <a:schemeClr val="accent1"/>
                </a:solidFill>
              </a:rPr>
              <a:t>Reported results</a:t>
            </a:r>
            <a:endParaRPr lang="en-US" sz="1600" dirty="0"/>
          </a:p>
        </p:txBody>
      </p:sp>
      <p:sp>
        <p:nvSpPr>
          <p:cNvPr id="228" name="Text 226"/>
          <p:cNvSpPr txBox="1"/>
          <p:nvPr/>
        </p:nvSpPr>
        <p:spPr>
          <a:xfrm>
            <a:off x="548640" y="3493008"/>
            <a:ext cx="3794760" cy="114300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Minutes per chip instead of hours</a:t>
            </a:r>
            <a:endParaRPr lang="en-US" sz="1500" dirty="0"/>
          </a:p>
          <a:p>
            <a:pPr marL="203200" indent="-203200">
              <a:spcAft>
                <a:spcPts val="500"/>
              </a:spcAft>
              <a:buSzPct val="100000"/>
              <a:buChar char="•"/>
            </a:pPr>
            <a:r>
              <a:rPr lang="en-US" sz="1500" dirty="0">
                <a:solidFill>
                  <a:schemeClr val="tx1"/>
                </a:solidFill>
              </a:rPr>
              <a:t>Shorter wires and less congestion than earlier placers</a:t>
            </a:r>
            <a:endParaRPr lang="en-US" sz="1500" dirty="0"/>
          </a:p>
        </p:txBody>
      </p:sp>
      <p:sp>
        <p:nvSpPr>
          <p:cNvPr id="229" name="A-short"/>
          <p:cNvSpPr/>
          <p:nvPr/>
        </p:nvSpPr>
        <p:spPr>
          <a:xfrm>
            <a:off x="4663440" y="3017520"/>
            <a:ext cx="4114800" cy="1691640"/>
          </a:xfrm>
          <a:prstGeom prst="roundRect">
            <a:avLst>
              <a:gd name="adj" fmla="val 3243"/>
            </a:avLst>
          </a:prstGeom>
          <a:solidFill>
            <a:schemeClr val="bg2"/>
          </a:solidFill>
          <a:ln/>
        </p:spPr>
      </p:sp>
      <p:sp>
        <p:nvSpPr>
          <p:cNvPr id="230" name="Text 228"/>
          <p:cNvSpPr txBox="1"/>
          <p:nvPr/>
        </p:nvSpPr>
        <p:spPr>
          <a:xfrm>
            <a:off x="4846320" y="3127248"/>
            <a:ext cx="3749040" cy="274320"/>
          </a:xfrm>
          <a:prstGeom prst="rect">
            <a:avLst/>
          </a:prstGeom>
          <a:noFill/>
          <a:ln/>
        </p:spPr>
        <p:txBody>
          <a:bodyPr wrap="square" lIns="0" tIns="0" rIns="0" bIns="0" rtlCol="0" anchor="t"/>
          <a:lstStyle/>
          <a:p>
            <a:pPr indent="0" marL="0">
              <a:buNone/>
            </a:pPr>
            <a:r>
              <a:rPr lang="en-US" sz="1600" b="1" dirty="0">
                <a:solidFill>
                  <a:schemeClr val="accent6"/>
                </a:solidFill>
              </a:rPr>
              <a:t>Shortcomings</a:t>
            </a:r>
            <a:endParaRPr lang="en-US" sz="1600" dirty="0"/>
          </a:p>
        </p:txBody>
      </p:sp>
      <p:sp>
        <p:nvSpPr>
          <p:cNvPr id="231" name="Text 229"/>
          <p:cNvSpPr txBox="1"/>
          <p:nvPr/>
        </p:nvSpPr>
        <p:spPr>
          <a:xfrm>
            <a:off x="4846320" y="3493008"/>
            <a:ext cx="3794760" cy="114300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Timing is never checked</a:t>
            </a:r>
            <a:endParaRPr lang="en-US" sz="1500" dirty="0"/>
          </a:p>
          <a:p>
            <a:pPr marL="203200" indent="-203200">
              <a:spcAft>
                <a:spcPts val="500"/>
              </a:spcAft>
              <a:buSzPct val="100000"/>
              <a:buChar char="•"/>
            </a:pPr>
            <a:r>
              <a:rPr lang="en-US" sz="1500" dirty="0">
                <a:solidFill>
                  <a:schemeClr val="tx1"/>
                </a:solidFill>
              </a:rPr>
              <a:t>Cannot easily trade extra compute for quality</a:t>
            </a:r>
            <a:endParaRPr lang="en-US" sz="15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Paper B: MaskRegulate, RL as a Regulator</a:t>
            </a:r>
            <a:endParaRPr lang="en-US" sz="2600" dirty="0"/>
          </a:p>
        </p:txBody>
      </p:sp>
      <p:sp>
        <p:nvSpPr>
          <p:cNvPr id="3" name="Text 1"/>
          <p:cNvSpPr txBox="1"/>
          <p:nvPr/>
        </p:nvSpPr>
        <p:spPr>
          <a:xfrm>
            <a:off x="365760" y="777240"/>
            <a:ext cx="8412480" cy="777240"/>
          </a:xfrm>
          <a:prstGeom prst="rect">
            <a:avLst/>
          </a:prstGeom>
          <a:noFill/>
          <a:ln/>
        </p:spPr>
        <p:txBody>
          <a:bodyPr wrap="square" lIns="0" tIns="0" rIns="0" bIns="0" rtlCol="0" anchor="t"/>
          <a:lstStyle/>
          <a:p>
            <a:pPr indent="0" marL="0">
              <a:buNone/>
            </a:pPr>
            <a:r>
              <a:rPr lang="en-US" sz="1500" b="1" dirty="0">
                <a:solidFill>
                  <a:schemeClr val="accent1"/>
                </a:solidFill>
              </a:rPr>
              <a:t>Key idea: </a:t>
            </a:r>
            <a:r>
              <a:rPr lang="en-US" sz="1500" dirty="0">
                <a:solidFill>
                  <a:schemeClr val="tx1"/>
                </a:solidFill>
              </a:rPr>
              <a:t>instead of building a layout from scratch, RL refines an existing DREAMPlace layout one macro at a time. Every move's effect is known exactly, so the reward is accurate. It also pushes macros towards the edges (regularity).</a:t>
            </a:r>
            <a:endParaRPr lang="en-US" sz="1500" dirty="0"/>
          </a:p>
        </p:txBody>
      </p:sp>
      <p:sp>
        <p:nvSpPr>
          <p:cNvPr id="4" name="mask-0"/>
          <p:cNvSpPr/>
          <p:nvPr/>
        </p:nvSpPr>
        <p:spPr>
          <a:xfrm>
            <a:off x="365760" y="1691640"/>
            <a:ext cx="2651760" cy="822960"/>
          </a:xfrm>
          <a:prstGeom prst="roundRect">
            <a:avLst>
              <a:gd name="adj" fmla="val 6667"/>
            </a:avLst>
          </a:prstGeom>
          <a:solidFill>
            <a:schemeClr val="bg2"/>
          </a:solidFill>
          <a:ln/>
        </p:spPr>
      </p:sp>
      <p:sp>
        <p:nvSpPr>
          <p:cNvPr id="5" name="Text 3"/>
          <p:cNvSpPr txBox="1"/>
          <p:nvPr/>
        </p:nvSpPr>
        <p:spPr>
          <a:xfrm>
            <a:off x="548640" y="1764792"/>
            <a:ext cx="2377440" cy="292608"/>
          </a:xfrm>
          <a:prstGeom prst="rect">
            <a:avLst/>
          </a:prstGeom>
          <a:noFill/>
          <a:ln/>
        </p:spPr>
        <p:txBody>
          <a:bodyPr wrap="square" lIns="0" tIns="0" rIns="0" bIns="0" rtlCol="0" anchor="t"/>
          <a:lstStyle/>
          <a:p>
            <a:pPr indent="0" marL="0">
              <a:buNone/>
            </a:pPr>
            <a:r>
              <a:rPr lang="en-US" sz="1500" b="1" dirty="0">
                <a:solidFill>
                  <a:schemeClr val="accent1"/>
                </a:solidFill>
              </a:rPr>
              <a:t>PositionMask</a:t>
            </a:r>
            <a:endParaRPr lang="en-US" sz="1500" dirty="0"/>
          </a:p>
        </p:txBody>
      </p:sp>
      <p:sp>
        <p:nvSpPr>
          <p:cNvPr id="6" name="Text 4"/>
          <p:cNvSpPr txBox="1"/>
          <p:nvPr/>
        </p:nvSpPr>
        <p:spPr>
          <a:xfrm>
            <a:off x="548640" y="2084832"/>
            <a:ext cx="2377440" cy="365760"/>
          </a:xfrm>
          <a:prstGeom prst="rect">
            <a:avLst/>
          </a:prstGeom>
          <a:noFill/>
          <a:ln/>
        </p:spPr>
        <p:txBody>
          <a:bodyPr wrap="square" lIns="0" tIns="0" rIns="0" bIns="0" rtlCol="0" anchor="t"/>
          <a:lstStyle/>
          <a:p>
            <a:pPr indent="0" marL="0">
              <a:buNone/>
            </a:pPr>
            <a:r>
              <a:rPr lang="en-US" sz="1300" dirty="0">
                <a:solidFill>
                  <a:schemeClr val="tx1"/>
                </a:solidFill>
              </a:rPr>
              <a:t>which cells are free</a:t>
            </a:r>
            <a:endParaRPr lang="en-US" sz="1300" dirty="0"/>
          </a:p>
        </p:txBody>
      </p:sp>
      <p:sp>
        <p:nvSpPr>
          <p:cNvPr id="7" name="mask-1"/>
          <p:cNvSpPr/>
          <p:nvPr/>
        </p:nvSpPr>
        <p:spPr>
          <a:xfrm>
            <a:off x="3200400" y="1691640"/>
            <a:ext cx="2651760" cy="822960"/>
          </a:xfrm>
          <a:prstGeom prst="roundRect">
            <a:avLst>
              <a:gd name="adj" fmla="val 6667"/>
            </a:avLst>
          </a:prstGeom>
          <a:solidFill>
            <a:schemeClr val="bg2"/>
          </a:solidFill>
          <a:ln/>
        </p:spPr>
      </p:sp>
      <p:sp>
        <p:nvSpPr>
          <p:cNvPr id="8" name="Text 6"/>
          <p:cNvSpPr txBox="1"/>
          <p:nvPr/>
        </p:nvSpPr>
        <p:spPr>
          <a:xfrm>
            <a:off x="3383280" y="1764792"/>
            <a:ext cx="2377440" cy="292608"/>
          </a:xfrm>
          <a:prstGeom prst="rect">
            <a:avLst/>
          </a:prstGeom>
          <a:noFill/>
          <a:ln/>
        </p:spPr>
        <p:txBody>
          <a:bodyPr wrap="square" lIns="0" tIns="0" rIns="0" bIns="0" rtlCol="0" anchor="t"/>
          <a:lstStyle/>
          <a:p>
            <a:pPr indent="0" marL="0">
              <a:buNone/>
            </a:pPr>
            <a:r>
              <a:rPr lang="en-US" sz="1500" b="1" dirty="0">
                <a:solidFill>
                  <a:schemeClr val="accent1"/>
                </a:solidFill>
              </a:rPr>
              <a:t>WireMask</a:t>
            </a:r>
            <a:endParaRPr lang="en-US" sz="1500" dirty="0"/>
          </a:p>
        </p:txBody>
      </p:sp>
      <p:sp>
        <p:nvSpPr>
          <p:cNvPr id="9" name="Text 7"/>
          <p:cNvSpPr txBox="1"/>
          <p:nvPr/>
        </p:nvSpPr>
        <p:spPr>
          <a:xfrm>
            <a:off x="3383280" y="2084832"/>
            <a:ext cx="2377440" cy="365760"/>
          </a:xfrm>
          <a:prstGeom prst="rect">
            <a:avLst/>
          </a:prstGeom>
          <a:noFill/>
          <a:ln/>
        </p:spPr>
        <p:txBody>
          <a:bodyPr wrap="square" lIns="0" tIns="0" rIns="0" bIns="0" rtlCol="0" anchor="t"/>
          <a:lstStyle/>
          <a:p>
            <a:pPr indent="0" marL="0">
              <a:buNone/>
            </a:pPr>
            <a:r>
              <a:rPr lang="en-US" sz="1300" dirty="0">
                <a:solidFill>
                  <a:schemeClr val="tx1"/>
                </a:solidFill>
              </a:rPr>
              <a:t>wirelength change per cell</a:t>
            </a:r>
            <a:endParaRPr lang="en-US" sz="1300" dirty="0"/>
          </a:p>
        </p:txBody>
      </p:sp>
      <p:sp>
        <p:nvSpPr>
          <p:cNvPr id="10" name="mask-2"/>
          <p:cNvSpPr/>
          <p:nvPr/>
        </p:nvSpPr>
        <p:spPr>
          <a:xfrm>
            <a:off x="6035040" y="1691640"/>
            <a:ext cx="2651760" cy="822960"/>
          </a:xfrm>
          <a:prstGeom prst="roundRect">
            <a:avLst>
              <a:gd name="adj" fmla="val 6667"/>
            </a:avLst>
          </a:prstGeom>
          <a:solidFill>
            <a:schemeClr val="bg2"/>
          </a:solidFill>
          <a:ln/>
        </p:spPr>
      </p:sp>
      <p:sp>
        <p:nvSpPr>
          <p:cNvPr id="11" name="Text 9"/>
          <p:cNvSpPr txBox="1"/>
          <p:nvPr/>
        </p:nvSpPr>
        <p:spPr>
          <a:xfrm>
            <a:off x="6217920" y="1764792"/>
            <a:ext cx="2377440" cy="292608"/>
          </a:xfrm>
          <a:prstGeom prst="rect">
            <a:avLst/>
          </a:prstGeom>
          <a:noFill/>
          <a:ln/>
        </p:spPr>
        <p:txBody>
          <a:bodyPr wrap="square" lIns="0" tIns="0" rIns="0" bIns="0" rtlCol="0" anchor="t"/>
          <a:lstStyle/>
          <a:p>
            <a:pPr indent="0" marL="0">
              <a:buNone/>
            </a:pPr>
            <a:r>
              <a:rPr lang="en-US" sz="1500" b="1" dirty="0">
                <a:solidFill>
                  <a:schemeClr val="accent1"/>
                </a:solidFill>
              </a:rPr>
              <a:t>RegularMask</a:t>
            </a:r>
            <a:endParaRPr lang="en-US" sz="1500" dirty="0"/>
          </a:p>
        </p:txBody>
      </p:sp>
      <p:sp>
        <p:nvSpPr>
          <p:cNvPr id="12" name="Text 10"/>
          <p:cNvSpPr txBox="1"/>
          <p:nvPr/>
        </p:nvSpPr>
        <p:spPr>
          <a:xfrm>
            <a:off x="6217920" y="2084832"/>
            <a:ext cx="2377440" cy="365760"/>
          </a:xfrm>
          <a:prstGeom prst="rect">
            <a:avLst/>
          </a:prstGeom>
          <a:noFill/>
          <a:ln/>
        </p:spPr>
        <p:txBody>
          <a:bodyPr wrap="square" lIns="0" tIns="0" rIns="0" bIns="0" rtlCol="0" anchor="t"/>
          <a:lstStyle/>
          <a:p>
            <a:pPr indent="0" marL="0">
              <a:buNone/>
            </a:pPr>
            <a:r>
              <a:rPr lang="en-US" sz="1300" dirty="0">
                <a:solidFill>
                  <a:schemeClr val="tx1"/>
                </a:solidFill>
              </a:rPr>
              <a:t>regularity change per cell</a:t>
            </a:r>
            <a:endParaRPr lang="en-US" sz="1300" dirty="0"/>
          </a:p>
        </p:txBody>
      </p:sp>
      <p:sp>
        <p:nvSpPr>
          <p:cNvPr id="13" name="Text 11"/>
          <p:cNvSpPr txBox="1"/>
          <p:nvPr/>
        </p:nvSpPr>
        <p:spPr>
          <a:xfrm>
            <a:off x="365760" y="2697480"/>
            <a:ext cx="1828800" cy="365760"/>
          </a:xfrm>
          <a:prstGeom prst="rect">
            <a:avLst/>
          </a:prstGeom>
          <a:noFill/>
          <a:ln/>
        </p:spPr>
        <p:txBody>
          <a:bodyPr wrap="square" lIns="0" tIns="0" rIns="0" bIns="0" rtlCol="0" anchor="ctr"/>
          <a:lstStyle/>
          <a:p>
            <a:pPr indent="0" marL="0">
              <a:buNone/>
            </a:pPr>
            <a:r>
              <a:rPr lang="en-US" sz="1500" b="1" dirty="0">
                <a:solidFill>
                  <a:schemeClr val="tx1"/>
                </a:solidFill>
              </a:rPr>
              <a:t>Reward per move:</a:t>
            </a:r>
            <a:endParaRPr lang="en-US" sz="1500" dirty="0"/>
          </a:p>
        </p:txBody>
      </p:sp>
      <p:pic>
        <p:nvPicPr>
          <p:cNvPr id="14" name="eq-mrrew" descr="formula">    </p:cNvPr>
          <p:cNvPicPr>
            <a:picLocks noChangeAspect="1"/>
          </p:cNvPicPr>
          <p:nvPr/>
        </p:nvPicPr>
        <p:blipFill>
          <a:blip r:embed="rId1"/>
          <a:stretch>
            <a:fillRect/>
          </a:stretch>
        </p:blipFill>
        <p:spPr>
          <a:xfrm>
            <a:off x="2148840" y="2724912"/>
            <a:ext cx="1818742" cy="215951"/>
          </a:xfrm>
          <a:prstGeom prst="rect">
            <a:avLst/>
          </a:prstGeom>
        </p:spPr>
      </p:pic>
      <p:sp>
        <p:nvSpPr>
          <p:cNvPr id="15" name="Text 12"/>
          <p:cNvSpPr txBox="1"/>
          <p:nvPr/>
        </p:nvSpPr>
        <p:spPr>
          <a:xfrm>
            <a:off x="4937760" y="2697480"/>
            <a:ext cx="2743200" cy="365760"/>
          </a:xfrm>
          <a:prstGeom prst="rect">
            <a:avLst/>
          </a:prstGeom>
          <a:noFill/>
          <a:ln/>
        </p:spPr>
        <p:txBody>
          <a:bodyPr wrap="square" lIns="0" tIns="0" rIns="0" bIns="0" rtlCol="0" anchor="ctr"/>
          <a:lstStyle/>
          <a:p>
            <a:pPr indent="0" marL="0">
              <a:buNone/>
            </a:pPr>
            <a:r>
              <a:rPr lang="en-US" sz="1400" dirty="0">
                <a:solidFill>
                  <a:schemeClr val="tx2"/>
                </a:solidFill>
              </a:rPr>
              <a:t>trained with PPO</a:t>
            </a:r>
            <a:endParaRPr lang="en-US" sz="1400" dirty="0"/>
          </a:p>
        </p:txBody>
      </p:sp>
      <p:sp>
        <p:nvSpPr>
          <p:cNvPr id="16" name="Text 13"/>
          <p:cNvSpPr txBox="1"/>
          <p:nvPr/>
        </p:nvSpPr>
        <p:spPr>
          <a:xfrm>
            <a:off x="365760" y="3200400"/>
            <a:ext cx="2651760" cy="594360"/>
          </a:xfrm>
          <a:prstGeom prst="rect">
            <a:avLst/>
          </a:prstGeom>
          <a:noFill/>
          <a:ln/>
        </p:spPr>
        <p:txBody>
          <a:bodyPr wrap="square" lIns="0" tIns="0" rIns="0" bIns="0" rtlCol="0" anchor="t"/>
          <a:lstStyle/>
          <a:p>
            <a:pPr algn="ctr" indent="0" marL="0">
              <a:buNone/>
            </a:pPr>
            <a:r>
              <a:rPr lang="en-US" sz="3600" b="1" dirty="0">
                <a:solidFill>
                  <a:schemeClr val="accent1"/>
                </a:solidFill>
              </a:rPr>
              <a:t>17%</a:t>
            </a:r>
            <a:endParaRPr lang="en-US" sz="3600" dirty="0"/>
          </a:p>
        </p:txBody>
      </p:sp>
      <p:sp>
        <p:nvSpPr>
          <p:cNvPr id="17" name="Text 14"/>
          <p:cNvSpPr txBox="1"/>
          <p:nvPr/>
        </p:nvSpPr>
        <p:spPr>
          <a:xfrm>
            <a:off x="365760" y="3794760"/>
            <a:ext cx="2651760" cy="274320"/>
          </a:xfrm>
          <a:prstGeom prst="rect">
            <a:avLst/>
          </a:prstGeom>
          <a:noFill/>
          <a:ln/>
        </p:spPr>
        <p:txBody>
          <a:bodyPr wrap="square" lIns="0" tIns="0" rIns="0" bIns="0" rtlCol="0" anchor="t"/>
          <a:lstStyle/>
          <a:p>
            <a:pPr algn="ctr" indent="0" marL="0">
              <a:buNone/>
            </a:pPr>
            <a:r>
              <a:rPr lang="en-US" sz="1300" dirty="0">
                <a:solidFill>
                  <a:schemeClr val="tx1"/>
                </a:solidFill>
              </a:rPr>
              <a:t>better routed wirelength</a:t>
            </a:r>
            <a:endParaRPr lang="en-US" sz="1300" dirty="0"/>
          </a:p>
        </p:txBody>
      </p:sp>
      <p:sp>
        <p:nvSpPr>
          <p:cNvPr id="18" name="Text 15"/>
          <p:cNvSpPr txBox="1"/>
          <p:nvPr/>
        </p:nvSpPr>
        <p:spPr>
          <a:xfrm>
            <a:off x="3200400" y="3200400"/>
            <a:ext cx="2651760" cy="594360"/>
          </a:xfrm>
          <a:prstGeom prst="rect">
            <a:avLst/>
          </a:prstGeom>
          <a:noFill/>
          <a:ln/>
        </p:spPr>
        <p:txBody>
          <a:bodyPr wrap="square" lIns="0" tIns="0" rIns="0" bIns="0" rtlCol="0" anchor="t"/>
          <a:lstStyle/>
          <a:p>
            <a:pPr algn="ctr" indent="0" marL="0">
              <a:buNone/>
            </a:pPr>
            <a:r>
              <a:rPr lang="en-US" sz="3600" b="1" dirty="0">
                <a:solidFill>
                  <a:schemeClr val="accent1"/>
                </a:solidFill>
              </a:rPr>
              <a:t>73%</a:t>
            </a:r>
            <a:endParaRPr lang="en-US" sz="3600" dirty="0"/>
          </a:p>
        </p:txBody>
      </p:sp>
      <p:sp>
        <p:nvSpPr>
          <p:cNvPr id="19" name="Text 16"/>
          <p:cNvSpPr txBox="1"/>
          <p:nvPr/>
        </p:nvSpPr>
        <p:spPr>
          <a:xfrm>
            <a:off x="3200400" y="3794760"/>
            <a:ext cx="2651760" cy="274320"/>
          </a:xfrm>
          <a:prstGeom prst="rect">
            <a:avLst/>
          </a:prstGeom>
          <a:noFill/>
          <a:ln/>
        </p:spPr>
        <p:txBody>
          <a:bodyPr wrap="square" lIns="0" tIns="0" rIns="0" bIns="0" rtlCol="0" anchor="t"/>
          <a:lstStyle/>
          <a:p>
            <a:pPr algn="ctr" indent="0" marL="0">
              <a:buNone/>
            </a:pPr>
            <a:r>
              <a:rPr lang="en-US" sz="1300" dirty="0">
                <a:solidFill>
                  <a:schemeClr val="tx1"/>
                </a:solidFill>
              </a:rPr>
              <a:t>less horizontal overflow</a:t>
            </a:r>
            <a:endParaRPr lang="en-US" sz="1300" dirty="0"/>
          </a:p>
        </p:txBody>
      </p:sp>
      <p:sp>
        <p:nvSpPr>
          <p:cNvPr id="20" name="Text 17"/>
          <p:cNvSpPr txBox="1"/>
          <p:nvPr/>
        </p:nvSpPr>
        <p:spPr>
          <a:xfrm>
            <a:off x="6035040" y="3200400"/>
            <a:ext cx="2651760" cy="594360"/>
          </a:xfrm>
          <a:prstGeom prst="rect">
            <a:avLst/>
          </a:prstGeom>
          <a:noFill/>
          <a:ln/>
        </p:spPr>
        <p:txBody>
          <a:bodyPr wrap="square" lIns="0" tIns="0" rIns="0" bIns="0" rtlCol="0" anchor="t"/>
          <a:lstStyle/>
          <a:p>
            <a:pPr algn="ctr" indent="0" marL="0">
              <a:buNone/>
            </a:pPr>
            <a:r>
              <a:rPr lang="en-US" sz="3600" b="1" dirty="0">
                <a:solidFill>
                  <a:schemeClr val="accent1"/>
                </a:solidFill>
              </a:rPr>
              <a:t>38%</a:t>
            </a:r>
            <a:endParaRPr lang="en-US" sz="3600" dirty="0"/>
          </a:p>
        </p:txBody>
      </p:sp>
      <p:sp>
        <p:nvSpPr>
          <p:cNvPr id="21" name="Text 18"/>
          <p:cNvSpPr txBox="1"/>
          <p:nvPr/>
        </p:nvSpPr>
        <p:spPr>
          <a:xfrm>
            <a:off x="6035040" y="3794760"/>
            <a:ext cx="2651760" cy="274320"/>
          </a:xfrm>
          <a:prstGeom prst="rect">
            <a:avLst/>
          </a:prstGeom>
          <a:noFill/>
          <a:ln/>
        </p:spPr>
        <p:txBody>
          <a:bodyPr wrap="square" lIns="0" tIns="0" rIns="0" bIns="0" rtlCol="0" anchor="t"/>
          <a:lstStyle/>
          <a:p>
            <a:pPr algn="ctr" indent="0" marL="0">
              <a:buNone/>
            </a:pPr>
            <a:r>
              <a:rPr lang="en-US" sz="1300" dirty="0">
                <a:solidFill>
                  <a:schemeClr val="tx1"/>
                </a:solidFill>
              </a:rPr>
              <a:t>better total negative slack</a:t>
            </a:r>
            <a:endParaRPr lang="en-US" sz="1300" dirty="0"/>
          </a:p>
        </p:txBody>
      </p:sp>
      <p:sp>
        <p:nvSpPr>
          <p:cNvPr id="22" name="Text 19"/>
          <p:cNvSpPr txBox="1"/>
          <p:nvPr/>
        </p:nvSpPr>
        <p:spPr>
          <a:xfrm>
            <a:off x="365760" y="4297680"/>
            <a:ext cx="8412480" cy="274320"/>
          </a:xfrm>
          <a:prstGeom prst="rect">
            <a:avLst/>
          </a:prstGeom>
          <a:noFill/>
          <a:ln/>
        </p:spPr>
        <p:txBody>
          <a:bodyPr wrap="square" lIns="0" tIns="0" rIns="0" bIns="0" rtlCol="0" anchor="t"/>
          <a:lstStyle/>
          <a:p>
            <a:pPr algn="ctr" indent="0" marL="0">
              <a:buNone/>
            </a:pPr>
            <a:r>
              <a:rPr lang="en-US" sz="1200" dirty="0">
                <a:solidFill>
                  <a:schemeClr val="tx2"/>
                </a:solidFill>
              </a:rPr>
              <a:t>vs. MaskPlace on ICCAD 2015, evaluated with Cadence Innovus (as reported in the paper)</a:t>
            </a:r>
            <a:endParaRPr lang="en-US" sz="12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Comparing the Two Papers</a:t>
            </a:r>
            <a:endParaRPr lang="en-US" sz="2600" dirty="0"/>
          </a:p>
        </p:txBody>
      </p:sp>
      <p:graphicFrame>
        <p:nvGraphicFramePr>
          <p:cNvPr id="7" name="compare-table"/>
          <p:cNvGraphicFramePr>
            <a:graphicFrameLocks noGrp="1"/>
          </p:cNvGraphicFramePr>
          <p:nvPr>
            <p:extLst>
              <p:ext uri="{D42A27DB-BD31-4B8C-83A1-F6EECF244321}">
                <p14:modId xmlns:p14="http://schemas.microsoft.com/office/powerpoint/2010/main" val="1579011935"/>
              </p:ext>
            </p:extLst>
          </p:nvPr>
        </p:nvGraphicFramePr>
        <p:xfrm>
          <a:off x="365760" y="868680"/>
          <a:ext cx="8412480" cy="914400"/>
        </p:xfrm>
        <a:graphic>
          <a:graphicData uri="http://schemas.openxmlformats.org/drawingml/2006/table">
            <a:tbl>
              <a:tblPr/>
              <a:tblGrid>
                <a:gridCol w="2011680"/>
                <a:gridCol w="3108960"/>
                <a:gridCol w="3291840"/>
              </a:tblGrid>
              <a:tr h="457200">
                <a:tc>
                  <a:txBody>
                    <a:bodyPr/>
                    <a:lstStyle/>
                    <a:p>
                      <a:pPr indent="0" marL="0">
                        <a:buNone/>
                      </a:pPr>
                      <a:endParaRPr lang="en-US" sz="14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00336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Paper A: Diffusion</a:t>
                      </a:r>
                      <a:endParaRPr lang="en-US" sz="14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00336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Paper B: MaskRegulate</a:t>
                      </a:r>
                      <a:endParaRPr lang="en-US" sz="14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003366"/>
                    </a:solidFill>
                  </a:tcPr>
                </a:tc>
              </a:tr>
              <a:tr h="457200">
                <a:tc>
                  <a:txBody>
                    <a:bodyPr/>
                    <a:lstStyle/>
                    <a:p>
                      <a:pPr indent="0" marL="0">
                        <a:buNone/>
                      </a:pPr>
                      <a:r>
                        <a:rPr lang="en-US" sz="1300" b="1" dirty="0">
                          <a:solidFill>
                            <a:srgbClr val="111111"/>
                          </a:solidFill>
                          <a:latin typeface="Calibri" pitchFamily="34" charset="0"/>
                          <a:ea typeface="Calibri" pitchFamily="34" charset="-122"/>
                          <a:cs typeface="Calibri" pitchFamily="34" charset="-120"/>
                        </a:rPr>
                        <a:t>View of RL</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Replace it</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Keep it, as a refiner</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11111"/>
                          </a:solidFill>
                          <a:latin typeface="Calibri" pitchFamily="34" charset="0"/>
                          <a:ea typeface="Calibri" pitchFamily="34" charset="-122"/>
                          <a:cs typeface="Calibri" pitchFamily="34" charset="-120"/>
                        </a:rPr>
                        <a:t>Starts from</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Random positions</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A DREAMPlace placement</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11111"/>
                          </a:solidFill>
                          <a:latin typeface="Calibri" pitchFamily="34" charset="0"/>
                          <a:ea typeface="Calibri" pitchFamily="34" charset="-122"/>
                          <a:cs typeface="Calibri" pitchFamily="34" charset="-120"/>
                        </a:rPr>
                        <a:t>How it decides</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All macros together, step by step</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One macro at a time</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11111"/>
                          </a:solidFill>
                          <a:latin typeface="Calibri" pitchFamily="34" charset="0"/>
                          <a:ea typeface="Calibri" pitchFamily="34" charset="-122"/>
                          <a:cs typeface="Calibri" pitchFamily="34" charset="-120"/>
                        </a:rPr>
                        <a:t>Objectives</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Wirelength + no overlap</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Wirelength + regularity</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11111"/>
                          </a:solidFill>
                          <a:latin typeface="Calibri" pitchFamily="34" charset="0"/>
                          <a:ea typeface="Calibri" pitchFamily="34" charset="-122"/>
                          <a:cs typeface="Calibri" pitchFamily="34" charset="-120"/>
                        </a:rPr>
                        <a:t>Evaluation</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Quick estimates only</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Estimates + routing and timing</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11111"/>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Fast, works on new chips</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Best real PPA, exact rewards</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11111"/>
                          </a:solidFill>
                          <a:latin typeface="Calibri" pitchFamily="34" charset="0"/>
                          <a:ea typeface="Calibri" pitchFamily="34" charset="-122"/>
                          <a:cs typeface="Calibri" pitchFamily="34" charset="-120"/>
                        </a:rPr>
                        <a:t>Main gap</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Not PPA-aware</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No timing/congestion; one fixed trade-off</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Research Gaps We Target</a:t>
            </a:r>
            <a:endParaRPr lang="en-US" sz="2600" dirty="0"/>
          </a:p>
        </p:txBody>
      </p:sp>
      <p:sp>
        <p:nvSpPr>
          <p:cNvPr id="3" name="gap-0"/>
          <p:cNvSpPr/>
          <p:nvPr/>
        </p:nvSpPr>
        <p:spPr>
          <a:xfrm>
            <a:off x="365760" y="914400"/>
            <a:ext cx="3931920" cy="1051560"/>
          </a:xfrm>
          <a:prstGeom prst="roundRect">
            <a:avLst>
              <a:gd name="adj" fmla="val 5217"/>
            </a:avLst>
          </a:prstGeom>
          <a:solidFill>
            <a:schemeClr val="bg2"/>
          </a:solidFill>
          <a:ln/>
        </p:spPr>
      </p:sp>
      <p:sp>
        <p:nvSpPr>
          <p:cNvPr id="4" name="Text 2"/>
          <p:cNvSpPr txBox="1"/>
          <p:nvPr/>
        </p:nvSpPr>
        <p:spPr>
          <a:xfrm>
            <a:off x="548640" y="1188720"/>
            <a:ext cx="640080" cy="502920"/>
          </a:xfrm>
          <a:prstGeom prst="rect">
            <a:avLst/>
          </a:prstGeom>
          <a:noFill/>
          <a:ln/>
        </p:spPr>
        <p:txBody>
          <a:bodyPr wrap="square" lIns="0" tIns="0" rIns="0" bIns="0" rtlCol="0" anchor="ctr"/>
          <a:lstStyle/>
          <a:p>
            <a:pPr indent="0" marL="0">
              <a:buNone/>
            </a:pPr>
            <a:r>
              <a:rPr lang="en-US" sz="2400" b="1" dirty="0">
                <a:solidFill>
                  <a:schemeClr val="accent1"/>
                </a:solidFill>
              </a:rPr>
              <a:t>G1</a:t>
            </a:r>
            <a:endParaRPr lang="en-US" sz="2400" dirty="0"/>
          </a:p>
        </p:txBody>
      </p:sp>
      <p:sp>
        <p:nvSpPr>
          <p:cNvPr id="5" name="Text 3"/>
          <p:cNvSpPr txBox="1"/>
          <p:nvPr/>
        </p:nvSpPr>
        <p:spPr>
          <a:xfrm>
            <a:off x="1234440" y="1005840"/>
            <a:ext cx="2971800" cy="868680"/>
          </a:xfrm>
          <a:prstGeom prst="rect">
            <a:avLst/>
          </a:prstGeom>
          <a:noFill/>
          <a:ln/>
        </p:spPr>
        <p:txBody>
          <a:bodyPr wrap="square" lIns="0" tIns="0" rIns="0" bIns="0" rtlCol="0" anchor="ctr"/>
          <a:lstStyle/>
          <a:p>
            <a:pPr indent="0" marL="0">
              <a:buNone/>
            </a:pPr>
            <a:r>
              <a:rPr lang="en-US" sz="1400" dirty="0">
                <a:solidFill>
                  <a:schemeClr val="tx1"/>
                </a:solidFill>
              </a:rPr>
              <a:t>Timing and congestion are not in Paper B's reward (timing is its weakest metric)</a:t>
            </a:r>
            <a:endParaRPr lang="en-US" sz="1400" dirty="0"/>
          </a:p>
        </p:txBody>
      </p:sp>
      <p:sp>
        <p:nvSpPr>
          <p:cNvPr id="6" name="gap-arrow-0"/>
          <p:cNvSpPr/>
          <p:nvPr/>
        </p:nvSpPr>
        <p:spPr>
          <a:xfrm>
            <a:off x="4434840" y="1307592"/>
            <a:ext cx="292608" cy="256032"/>
          </a:xfrm>
          <a:prstGeom prst="rightArrow">
            <a:avLst/>
          </a:prstGeom>
          <a:solidFill>
            <a:schemeClr val="accent1"/>
          </a:solidFill>
          <a:ln/>
        </p:spPr>
      </p:sp>
      <p:sp>
        <p:nvSpPr>
          <p:cNvPr id="7" name="gap-sol-0"/>
          <p:cNvSpPr/>
          <p:nvPr/>
        </p:nvSpPr>
        <p:spPr>
          <a:xfrm>
            <a:off x="4846320" y="914400"/>
            <a:ext cx="3931920" cy="1051560"/>
          </a:xfrm>
          <a:prstGeom prst="roundRect">
            <a:avLst>
              <a:gd name="adj" fmla="val 5217"/>
            </a:avLst>
          </a:prstGeom>
          <a:solidFill>
            <a:schemeClr val="accent1"/>
          </a:solidFill>
          <a:ln/>
        </p:spPr>
      </p:sp>
      <p:sp>
        <p:nvSpPr>
          <p:cNvPr id="8" name="Text 6"/>
          <p:cNvSpPr txBox="1"/>
          <p:nvPr/>
        </p:nvSpPr>
        <p:spPr>
          <a:xfrm>
            <a:off x="5029200" y="1051560"/>
            <a:ext cx="3566160" cy="777240"/>
          </a:xfrm>
          <a:prstGeom prst="rect">
            <a:avLst/>
          </a:prstGeom>
          <a:noFill/>
          <a:ln/>
        </p:spPr>
        <p:txBody>
          <a:bodyPr wrap="square" lIns="0" tIns="0" rIns="0" bIns="0" rtlCol="0" anchor="ctr"/>
          <a:lstStyle/>
          <a:p>
            <a:pPr indent="0" marL="0">
              <a:buNone/>
            </a:pPr>
            <a:r>
              <a:rPr lang="en-US" sz="1500" b="1" dirty="0">
                <a:solidFill>
                  <a:schemeClr val="bg1"/>
                </a:solidFill>
              </a:rPr>
              <a:t>Direction 1: add them to what the regulator sees and is rewarded for</a:t>
            </a:r>
            <a:endParaRPr lang="en-US" sz="1500" dirty="0"/>
          </a:p>
        </p:txBody>
      </p:sp>
      <p:sp>
        <p:nvSpPr>
          <p:cNvPr id="9" name="gap-1"/>
          <p:cNvSpPr/>
          <p:nvPr/>
        </p:nvSpPr>
        <p:spPr>
          <a:xfrm>
            <a:off x="365760" y="2148840"/>
            <a:ext cx="3931920" cy="1051560"/>
          </a:xfrm>
          <a:prstGeom prst="roundRect">
            <a:avLst>
              <a:gd name="adj" fmla="val 5217"/>
            </a:avLst>
          </a:prstGeom>
          <a:solidFill>
            <a:schemeClr val="bg2"/>
          </a:solidFill>
          <a:ln/>
        </p:spPr>
      </p:sp>
      <p:sp>
        <p:nvSpPr>
          <p:cNvPr id="10" name="Text 8"/>
          <p:cNvSpPr txBox="1"/>
          <p:nvPr/>
        </p:nvSpPr>
        <p:spPr>
          <a:xfrm>
            <a:off x="548640" y="2423160"/>
            <a:ext cx="640080" cy="502920"/>
          </a:xfrm>
          <a:prstGeom prst="rect">
            <a:avLst/>
          </a:prstGeom>
          <a:noFill/>
          <a:ln/>
        </p:spPr>
        <p:txBody>
          <a:bodyPr wrap="square" lIns="0" tIns="0" rIns="0" bIns="0" rtlCol="0" anchor="ctr"/>
          <a:lstStyle/>
          <a:p>
            <a:pPr indent="0" marL="0">
              <a:buNone/>
            </a:pPr>
            <a:r>
              <a:rPr lang="en-US" sz="2400" b="1" dirty="0">
                <a:solidFill>
                  <a:schemeClr val="accent1"/>
                </a:solidFill>
              </a:rPr>
              <a:t>G2</a:t>
            </a:r>
            <a:endParaRPr lang="en-US" sz="2400" dirty="0"/>
          </a:p>
        </p:txBody>
      </p:sp>
      <p:sp>
        <p:nvSpPr>
          <p:cNvPr id="11" name="Text 9"/>
          <p:cNvSpPr txBox="1"/>
          <p:nvPr/>
        </p:nvSpPr>
        <p:spPr>
          <a:xfrm>
            <a:off x="1234440" y="2240280"/>
            <a:ext cx="2971800" cy="868680"/>
          </a:xfrm>
          <a:prstGeom prst="rect">
            <a:avLst/>
          </a:prstGeom>
          <a:noFill/>
          <a:ln/>
        </p:spPr>
        <p:txBody>
          <a:bodyPr wrap="square" lIns="0" tIns="0" rIns="0" bIns="0" rtlCol="0" anchor="ctr"/>
          <a:lstStyle/>
          <a:p>
            <a:pPr indent="0" marL="0">
              <a:buNone/>
            </a:pPr>
            <a:r>
              <a:rPr lang="en-US" sz="1400" dirty="0">
                <a:solidFill>
                  <a:schemeClr val="tx1"/>
                </a:solidFill>
              </a:rPr>
              <a:t>Paper B uses one hand-picked trade-off (0.7 / 0.3)</a:t>
            </a:r>
            <a:endParaRPr lang="en-US" sz="1400" dirty="0"/>
          </a:p>
        </p:txBody>
      </p:sp>
      <p:sp>
        <p:nvSpPr>
          <p:cNvPr id="12" name="gap-arrow-1"/>
          <p:cNvSpPr/>
          <p:nvPr/>
        </p:nvSpPr>
        <p:spPr>
          <a:xfrm>
            <a:off x="4434840" y="2542032"/>
            <a:ext cx="292608" cy="256032"/>
          </a:xfrm>
          <a:prstGeom prst="rightArrow">
            <a:avLst/>
          </a:prstGeom>
          <a:solidFill>
            <a:schemeClr val="accent1"/>
          </a:solidFill>
          <a:ln/>
        </p:spPr>
      </p:sp>
      <p:sp>
        <p:nvSpPr>
          <p:cNvPr id="13" name="gap-sol-1"/>
          <p:cNvSpPr/>
          <p:nvPr/>
        </p:nvSpPr>
        <p:spPr>
          <a:xfrm>
            <a:off x="4846320" y="2148840"/>
            <a:ext cx="3931920" cy="1051560"/>
          </a:xfrm>
          <a:prstGeom prst="roundRect">
            <a:avLst>
              <a:gd name="adj" fmla="val 5217"/>
            </a:avLst>
          </a:prstGeom>
          <a:solidFill>
            <a:schemeClr val="accent1"/>
          </a:solidFill>
          <a:ln/>
        </p:spPr>
      </p:sp>
      <p:sp>
        <p:nvSpPr>
          <p:cNvPr id="14" name="Text 12"/>
          <p:cNvSpPr txBox="1"/>
          <p:nvPr/>
        </p:nvSpPr>
        <p:spPr>
          <a:xfrm>
            <a:off x="5029200" y="2286000"/>
            <a:ext cx="3566160" cy="777240"/>
          </a:xfrm>
          <a:prstGeom prst="rect">
            <a:avLst/>
          </a:prstGeom>
          <a:noFill/>
          <a:ln/>
        </p:spPr>
        <p:txBody>
          <a:bodyPr wrap="square" lIns="0" tIns="0" rIns="0" bIns="0" rtlCol="0" anchor="ctr"/>
          <a:lstStyle/>
          <a:p>
            <a:pPr indent="0" marL="0">
              <a:buNone/>
            </a:pPr>
            <a:r>
              <a:rPr lang="en-US" sz="1500" b="1" dirty="0">
                <a:solidFill>
                  <a:schemeClr val="bg1"/>
                </a:solidFill>
              </a:rPr>
              <a:t>Direction 2: return a set of trade-off placements from one policy</a:t>
            </a:r>
            <a:endParaRPr lang="en-US" sz="1500" dirty="0"/>
          </a:p>
        </p:txBody>
      </p:sp>
      <p:sp>
        <p:nvSpPr>
          <p:cNvPr id="15" name="gap-2"/>
          <p:cNvSpPr/>
          <p:nvPr/>
        </p:nvSpPr>
        <p:spPr>
          <a:xfrm>
            <a:off x="365760" y="3383280"/>
            <a:ext cx="3931920" cy="1051560"/>
          </a:xfrm>
          <a:prstGeom prst="roundRect">
            <a:avLst>
              <a:gd name="adj" fmla="val 5217"/>
            </a:avLst>
          </a:prstGeom>
          <a:solidFill>
            <a:schemeClr val="bg2"/>
          </a:solidFill>
          <a:ln/>
        </p:spPr>
      </p:sp>
      <p:sp>
        <p:nvSpPr>
          <p:cNvPr id="16" name="Text 14"/>
          <p:cNvSpPr txBox="1"/>
          <p:nvPr/>
        </p:nvSpPr>
        <p:spPr>
          <a:xfrm>
            <a:off x="548640" y="3657600"/>
            <a:ext cx="640080" cy="502920"/>
          </a:xfrm>
          <a:prstGeom prst="rect">
            <a:avLst/>
          </a:prstGeom>
          <a:noFill/>
          <a:ln/>
        </p:spPr>
        <p:txBody>
          <a:bodyPr wrap="square" lIns="0" tIns="0" rIns="0" bIns="0" rtlCol="0" anchor="ctr"/>
          <a:lstStyle/>
          <a:p>
            <a:pPr indent="0" marL="0">
              <a:buNone/>
            </a:pPr>
            <a:r>
              <a:rPr lang="en-US" sz="2400" b="1" dirty="0">
                <a:solidFill>
                  <a:schemeClr val="accent1"/>
                </a:solidFill>
              </a:rPr>
              <a:t>G3</a:t>
            </a:r>
            <a:endParaRPr lang="en-US" sz="2400" dirty="0"/>
          </a:p>
        </p:txBody>
      </p:sp>
      <p:sp>
        <p:nvSpPr>
          <p:cNvPr id="17" name="Text 15"/>
          <p:cNvSpPr txBox="1"/>
          <p:nvPr/>
        </p:nvSpPr>
        <p:spPr>
          <a:xfrm>
            <a:off x="1234440" y="3474720"/>
            <a:ext cx="2971800" cy="868680"/>
          </a:xfrm>
          <a:prstGeom prst="rect">
            <a:avLst/>
          </a:prstGeom>
          <a:noFill/>
          <a:ln/>
        </p:spPr>
        <p:txBody>
          <a:bodyPr wrap="square" lIns="0" tIns="0" rIns="0" bIns="0" rtlCol="0" anchor="ctr"/>
          <a:lstStyle/>
          <a:p>
            <a:pPr indent="0" marL="0">
              <a:buNone/>
            </a:pPr>
            <a:r>
              <a:rPr lang="en-US" sz="1400" dirty="0">
                <a:solidFill>
                  <a:schemeClr val="tx1"/>
                </a:solidFill>
              </a:rPr>
              <a:t>The regulator is limited by its starting draft</a:t>
            </a:r>
            <a:endParaRPr lang="en-US" sz="1400" dirty="0"/>
          </a:p>
        </p:txBody>
      </p:sp>
      <p:sp>
        <p:nvSpPr>
          <p:cNvPr id="18" name="gap-arrow-2"/>
          <p:cNvSpPr/>
          <p:nvPr/>
        </p:nvSpPr>
        <p:spPr>
          <a:xfrm>
            <a:off x="4434840" y="3776472"/>
            <a:ext cx="292608" cy="256032"/>
          </a:xfrm>
          <a:prstGeom prst="rightArrow">
            <a:avLst/>
          </a:prstGeom>
          <a:solidFill>
            <a:schemeClr val="accent1"/>
          </a:solidFill>
          <a:ln/>
        </p:spPr>
      </p:sp>
      <p:sp>
        <p:nvSpPr>
          <p:cNvPr id="19" name="gap-sol-2"/>
          <p:cNvSpPr/>
          <p:nvPr/>
        </p:nvSpPr>
        <p:spPr>
          <a:xfrm>
            <a:off x="4846320" y="3383280"/>
            <a:ext cx="3931920" cy="1051560"/>
          </a:xfrm>
          <a:prstGeom prst="roundRect">
            <a:avLst>
              <a:gd name="adj" fmla="val 5217"/>
            </a:avLst>
          </a:prstGeom>
          <a:solidFill>
            <a:schemeClr val="accent1"/>
          </a:solidFill>
          <a:ln/>
        </p:spPr>
      </p:sp>
      <p:sp>
        <p:nvSpPr>
          <p:cNvPr id="20" name="Text 18"/>
          <p:cNvSpPr txBox="1"/>
          <p:nvPr/>
        </p:nvSpPr>
        <p:spPr>
          <a:xfrm>
            <a:off x="5029200" y="3520440"/>
            <a:ext cx="3566160" cy="777240"/>
          </a:xfrm>
          <a:prstGeom prst="rect">
            <a:avLst/>
          </a:prstGeom>
          <a:noFill/>
          <a:ln/>
        </p:spPr>
        <p:txBody>
          <a:bodyPr wrap="square" lIns="0" tIns="0" rIns="0" bIns="0" rtlCol="0" anchor="ctr"/>
          <a:lstStyle/>
          <a:p>
            <a:pPr indent="0" marL="0">
              <a:buNone/>
            </a:pPr>
            <a:r>
              <a:rPr lang="en-US" sz="1500" b="1" dirty="0">
                <a:solidFill>
                  <a:schemeClr val="bg1"/>
                </a:solidFill>
              </a:rPr>
              <a:t>Start the regulator from a diffusion-generated placement</a:t>
            </a:r>
            <a:endParaRPr lang="en-US" sz="15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Proposed Flow and How the Regulator Works</a:t>
            </a:r>
            <a:endParaRPr lang="en-US" sz="2600" dirty="0"/>
          </a:p>
        </p:txBody>
      </p:sp>
      <p:sp>
        <p:nvSpPr>
          <p:cNvPr id="3" name="pipe-0"/>
          <p:cNvSpPr/>
          <p:nvPr/>
        </p:nvSpPr>
        <p:spPr>
          <a:xfrm>
            <a:off x="365760" y="777240"/>
            <a:ext cx="1463040" cy="822960"/>
          </a:xfrm>
          <a:prstGeom prst="roundRect">
            <a:avLst>
              <a:gd name="adj" fmla="val 6667"/>
            </a:avLst>
          </a:prstGeom>
          <a:solidFill>
            <a:schemeClr val="bg2"/>
          </a:solidFill>
          <a:ln/>
        </p:spPr>
      </p:sp>
      <p:sp>
        <p:nvSpPr>
          <p:cNvPr id="4" name="Text 2"/>
          <p:cNvSpPr txBox="1"/>
          <p:nvPr/>
        </p:nvSpPr>
        <p:spPr>
          <a:xfrm>
            <a:off x="420624" y="777240"/>
            <a:ext cx="1353312" cy="822960"/>
          </a:xfrm>
          <a:prstGeom prst="rect">
            <a:avLst/>
          </a:prstGeom>
          <a:noFill/>
          <a:ln/>
        </p:spPr>
        <p:txBody>
          <a:bodyPr wrap="square" lIns="0" tIns="0" rIns="0" bIns="0" rtlCol="0" anchor="ctr"/>
          <a:lstStyle/>
          <a:p>
            <a:pPr algn="ctr" indent="0" marL="0">
              <a:buNone/>
            </a:pPr>
            <a:r>
              <a:rPr lang="en-US" sz="1300" b="1" dirty="0">
                <a:solidFill>
                  <a:schemeClr val="tx1"/>
                </a:solidFill>
              </a:rPr>
              <a:t>Netlist</a:t>
            </a:r>
            <a:endParaRPr lang="en-US" sz="1300" dirty="0"/>
          </a:p>
        </p:txBody>
      </p:sp>
      <p:sp>
        <p:nvSpPr>
          <p:cNvPr id="5" name="pipe-arrow-0"/>
          <p:cNvSpPr/>
          <p:nvPr/>
        </p:nvSpPr>
        <p:spPr>
          <a:xfrm>
            <a:off x="1847088" y="1069848"/>
            <a:ext cx="219456" cy="237744"/>
          </a:xfrm>
          <a:prstGeom prst="rightArrow">
            <a:avLst/>
          </a:prstGeom>
          <a:solidFill>
            <a:schemeClr val="accent1"/>
          </a:solidFill>
          <a:ln/>
        </p:spPr>
      </p:sp>
      <p:sp>
        <p:nvSpPr>
          <p:cNvPr id="6" name="pipe-1"/>
          <p:cNvSpPr/>
          <p:nvPr/>
        </p:nvSpPr>
        <p:spPr>
          <a:xfrm>
            <a:off x="2084832" y="777240"/>
            <a:ext cx="1463040" cy="822960"/>
          </a:xfrm>
          <a:prstGeom prst="roundRect">
            <a:avLst>
              <a:gd name="adj" fmla="val 6667"/>
            </a:avLst>
          </a:prstGeom>
          <a:solidFill>
            <a:schemeClr val="bg2"/>
          </a:solidFill>
          <a:ln/>
        </p:spPr>
      </p:sp>
      <p:sp>
        <p:nvSpPr>
          <p:cNvPr id="7" name="Text 5"/>
          <p:cNvSpPr txBox="1"/>
          <p:nvPr/>
        </p:nvSpPr>
        <p:spPr>
          <a:xfrm>
            <a:off x="2139696" y="777240"/>
            <a:ext cx="1353312" cy="822960"/>
          </a:xfrm>
          <a:prstGeom prst="rect">
            <a:avLst/>
          </a:prstGeom>
          <a:noFill/>
          <a:ln/>
        </p:spPr>
        <p:txBody>
          <a:bodyPr wrap="square" lIns="0" tIns="0" rIns="0" bIns="0" rtlCol="0" anchor="ctr"/>
          <a:lstStyle/>
          <a:p>
            <a:pPr algn="ctr" indent="0" marL="0">
              <a:buNone/>
            </a:pPr>
            <a:r>
              <a:rPr lang="en-US" sz="1300" b="1" dirty="0">
                <a:solidFill>
                  <a:schemeClr val="tx1"/>
                </a:solidFill>
              </a:rPr>
              <a:t>Initial placement</a:t>
            </a:r>
            <a:endParaRPr lang="en-US" sz="1300" dirty="0"/>
          </a:p>
          <a:p>
            <a:pPr algn="ctr" indent="0" marL="0">
              <a:buNone/>
            </a:pPr>
            <a:r>
              <a:rPr lang="en-US" sz="1300" b="1" dirty="0">
                <a:solidFill>
                  <a:schemeClr val="tx1"/>
                </a:solidFill>
              </a:rPr>
              <a:t>(DREAMPlace / diffusion)</a:t>
            </a:r>
            <a:endParaRPr lang="en-US" sz="1300" dirty="0"/>
          </a:p>
        </p:txBody>
      </p:sp>
      <p:sp>
        <p:nvSpPr>
          <p:cNvPr id="8" name="pipe-arrow-1"/>
          <p:cNvSpPr/>
          <p:nvPr/>
        </p:nvSpPr>
        <p:spPr>
          <a:xfrm>
            <a:off x="3566160" y="1069848"/>
            <a:ext cx="219456" cy="237744"/>
          </a:xfrm>
          <a:prstGeom prst="rightArrow">
            <a:avLst/>
          </a:prstGeom>
          <a:solidFill>
            <a:schemeClr val="accent1"/>
          </a:solidFill>
          <a:ln/>
        </p:spPr>
      </p:sp>
      <p:sp>
        <p:nvSpPr>
          <p:cNvPr id="9" name="pipe-2"/>
          <p:cNvSpPr/>
          <p:nvPr/>
        </p:nvSpPr>
        <p:spPr>
          <a:xfrm>
            <a:off x="3803904" y="777240"/>
            <a:ext cx="1463040" cy="822960"/>
          </a:xfrm>
          <a:prstGeom prst="roundRect">
            <a:avLst>
              <a:gd name="adj" fmla="val 6667"/>
            </a:avLst>
          </a:prstGeom>
          <a:solidFill>
            <a:schemeClr val="accent1"/>
          </a:solidFill>
          <a:ln/>
        </p:spPr>
      </p:sp>
      <p:sp>
        <p:nvSpPr>
          <p:cNvPr id="10" name="Text 8"/>
          <p:cNvSpPr txBox="1"/>
          <p:nvPr/>
        </p:nvSpPr>
        <p:spPr>
          <a:xfrm>
            <a:off x="3858768" y="777240"/>
            <a:ext cx="1353312" cy="822960"/>
          </a:xfrm>
          <a:prstGeom prst="rect">
            <a:avLst/>
          </a:prstGeom>
          <a:noFill/>
          <a:ln/>
        </p:spPr>
        <p:txBody>
          <a:bodyPr wrap="square" lIns="0" tIns="0" rIns="0" bIns="0" rtlCol="0" anchor="ctr"/>
          <a:lstStyle/>
          <a:p>
            <a:pPr algn="ctr" indent="0" marL="0">
              <a:buNone/>
            </a:pPr>
            <a:r>
              <a:rPr lang="en-US" sz="1300" b="1" dirty="0">
                <a:solidFill>
                  <a:schemeClr val="bg1"/>
                </a:solidFill>
              </a:rPr>
              <a:t>RL regulator</a:t>
            </a:r>
            <a:endParaRPr lang="en-US" sz="1300" dirty="0"/>
          </a:p>
        </p:txBody>
      </p:sp>
      <p:sp>
        <p:nvSpPr>
          <p:cNvPr id="11" name="pipe-arrow-2"/>
          <p:cNvSpPr/>
          <p:nvPr/>
        </p:nvSpPr>
        <p:spPr>
          <a:xfrm>
            <a:off x="5285232" y="1069848"/>
            <a:ext cx="219456" cy="237744"/>
          </a:xfrm>
          <a:prstGeom prst="rightArrow">
            <a:avLst/>
          </a:prstGeom>
          <a:solidFill>
            <a:schemeClr val="accent1"/>
          </a:solidFill>
          <a:ln/>
        </p:spPr>
      </p:sp>
      <p:sp>
        <p:nvSpPr>
          <p:cNvPr id="12" name="pipe-3"/>
          <p:cNvSpPr/>
          <p:nvPr/>
        </p:nvSpPr>
        <p:spPr>
          <a:xfrm>
            <a:off x="5522976" y="777240"/>
            <a:ext cx="1463040" cy="822960"/>
          </a:xfrm>
          <a:prstGeom prst="roundRect">
            <a:avLst>
              <a:gd name="adj" fmla="val 6667"/>
            </a:avLst>
          </a:prstGeom>
          <a:solidFill>
            <a:schemeClr val="bg2"/>
          </a:solidFill>
          <a:ln/>
        </p:spPr>
      </p:sp>
      <p:sp>
        <p:nvSpPr>
          <p:cNvPr id="13" name="Text 11"/>
          <p:cNvSpPr txBox="1"/>
          <p:nvPr/>
        </p:nvSpPr>
        <p:spPr>
          <a:xfrm>
            <a:off x="5577840" y="777240"/>
            <a:ext cx="1353312" cy="822960"/>
          </a:xfrm>
          <a:prstGeom prst="rect">
            <a:avLst/>
          </a:prstGeom>
          <a:noFill/>
          <a:ln/>
        </p:spPr>
        <p:txBody>
          <a:bodyPr wrap="square" lIns="0" tIns="0" rIns="0" bIns="0" rtlCol="0" anchor="ctr"/>
          <a:lstStyle/>
          <a:p>
            <a:pPr algn="ctr" indent="0" marL="0">
              <a:buNone/>
            </a:pPr>
            <a:r>
              <a:rPr lang="en-US" sz="1300" b="1" dirty="0">
                <a:solidFill>
                  <a:schemeClr val="tx1"/>
                </a:solidFill>
              </a:rPr>
              <a:t>Standard-cell</a:t>
            </a:r>
            <a:endParaRPr lang="en-US" sz="1300" dirty="0"/>
          </a:p>
          <a:p>
            <a:pPr algn="ctr" indent="0" marL="0">
              <a:buNone/>
            </a:pPr>
            <a:r>
              <a:rPr lang="en-US" sz="1300" b="1" dirty="0">
                <a:solidFill>
                  <a:schemeClr val="tx1"/>
                </a:solidFill>
              </a:rPr>
              <a:t>placement</a:t>
            </a:r>
            <a:endParaRPr lang="en-US" sz="1300" dirty="0"/>
          </a:p>
        </p:txBody>
      </p:sp>
      <p:sp>
        <p:nvSpPr>
          <p:cNvPr id="14" name="pipe-arrow-3"/>
          <p:cNvSpPr/>
          <p:nvPr/>
        </p:nvSpPr>
        <p:spPr>
          <a:xfrm>
            <a:off x="7004304" y="1069848"/>
            <a:ext cx="219456" cy="237744"/>
          </a:xfrm>
          <a:prstGeom prst="rightArrow">
            <a:avLst/>
          </a:prstGeom>
          <a:solidFill>
            <a:schemeClr val="accent1"/>
          </a:solidFill>
          <a:ln/>
        </p:spPr>
      </p:sp>
      <p:sp>
        <p:nvSpPr>
          <p:cNvPr id="15" name="pipe-4"/>
          <p:cNvSpPr/>
          <p:nvPr/>
        </p:nvSpPr>
        <p:spPr>
          <a:xfrm>
            <a:off x="7242048" y="777240"/>
            <a:ext cx="1463040" cy="822960"/>
          </a:xfrm>
          <a:prstGeom prst="roundRect">
            <a:avLst>
              <a:gd name="adj" fmla="val 6667"/>
            </a:avLst>
          </a:prstGeom>
          <a:solidFill>
            <a:schemeClr val="bg2"/>
          </a:solidFill>
          <a:ln/>
        </p:spPr>
      </p:sp>
      <p:sp>
        <p:nvSpPr>
          <p:cNvPr id="16" name="Text 14"/>
          <p:cNvSpPr txBox="1"/>
          <p:nvPr/>
        </p:nvSpPr>
        <p:spPr>
          <a:xfrm>
            <a:off x="7296912" y="777240"/>
            <a:ext cx="1353312" cy="822960"/>
          </a:xfrm>
          <a:prstGeom prst="rect">
            <a:avLst/>
          </a:prstGeom>
          <a:noFill/>
          <a:ln/>
        </p:spPr>
        <p:txBody>
          <a:bodyPr wrap="square" lIns="0" tIns="0" rIns="0" bIns="0" rtlCol="0" anchor="ctr"/>
          <a:lstStyle/>
          <a:p>
            <a:pPr algn="ctr" indent="0" marL="0">
              <a:buNone/>
            </a:pPr>
            <a:r>
              <a:rPr lang="en-US" sz="1300" b="1" dirty="0">
                <a:solidFill>
                  <a:schemeClr val="tx1"/>
                </a:solidFill>
              </a:rPr>
              <a:t>Routing +</a:t>
            </a:r>
            <a:endParaRPr lang="en-US" sz="1300" dirty="0"/>
          </a:p>
          <a:p>
            <a:pPr algn="ctr" indent="0" marL="0">
              <a:buNone/>
            </a:pPr>
            <a:r>
              <a:rPr lang="en-US" sz="1300" b="1" dirty="0">
                <a:solidFill>
                  <a:schemeClr val="tx1"/>
                </a:solidFill>
              </a:rPr>
              <a:t>timing check</a:t>
            </a:r>
            <a:endParaRPr lang="en-US" sz="1300" dirty="0"/>
          </a:p>
        </p:txBody>
      </p:sp>
      <p:sp>
        <p:nvSpPr>
          <p:cNvPr id="17" name="Text 15"/>
          <p:cNvSpPr txBox="1"/>
          <p:nvPr/>
        </p:nvSpPr>
        <p:spPr>
          <a:xfrm>
            <a:off x="365760" y="1783080"/>
            <a:ext cx="2743200" cy="274320"/>
          </a:xfrm>
          <a:prstGeom prst="rect">
            <a:avLst/>
          </a:prstGeom>
          <a:noFill/>
          <a:ln/>
        </p:spPr>
        <p:txBody>
          <a:bodyPr wrap="square" lIns="0" tIns="0" rIns="0" bIns="0" rtlCol="0" anchor="t"/>
          <a:lstStyle/>
          <a:p>
            <a:pPr indent="0" marL="0">
              <a:buNone/>
            </a:pPr>
            <a:r>
              <a:rPr lang="en-US" sz="1400" b="1" dirty="0">
                <a:solidFill>
                  <a:schemeClr val="tx1"/>
                </a:solidFill>
              </a:rPr>
              <a:t>Input masks</a:t>
            </a:r>
            <a:endParaRPr lang="en-US" sz="1400" dirty="0"/>
          </a:p>
        </p:txBody>
      </p:sp>
      <p:sp>
        <p:nvSpPr>
          <p:cNvPr id="18" name="state-0"/>
          <p:cNvSpPr/>
          <p:nvPr/>
        </p:nvSpPr>
        <p:spPr>
          <a:xfrm>
            <a:off x="365760" y="2103120"/>
            <a:ext cx="1280160" cy="502920"/>
          </a:xfrm>
          <a:prstGeom prst="roundRect">
            <a:avLst>
              <a:gd name="adj" fmla="val 10909"/>
            </a:avLst>
          </a:prstGeom>
          <a:solidFill>
            <a:schemeClr val="bg2"/>
          </a:solidFill>
          <a:ln w="12700">
            <a:solidFill>
              <a:schemeClr val="accent5"/>
            </a:solidFill>
            <a:prstDash val="solid"/>
          </a:ln>
        </p:spPr>
      </p:sp>
      <p:sp>
        <p:nvSpPr>
          <p:cNvPr id="19" name="Text 17"/>
          <p:cNvSpPr txBox="1"/>
          <p:nvPr/>
        </p:nvSpPr>
        <p:spPr>
          <a:xfrm>
            <a:off x="365760" y="2103120"/>
            <a:ext cx="1280160" cy="502920"/>
          </a:xfrm>
          <a:prstGeom prst="rect">
            <a:avLst/>
          </a:prstGeom>
          <a:noFill/>
          <a:ln/>
        </p:spPr>
        <p:txBody>
          <a:bodyPr wrap="square" lIns="0" tIns="0" rIns="0" bIns="0" rtlCol="0" anchor="ctr"/>
          <a:lstStyle/>
          <a:p>
            <a:pPr algn="ctr" indent="0" marL="0">
              <a:buNone/>
            </a:pPr>
            <a:r>
              <a:rPr lang="en-US" sz="1400" b="1" dirty="0">
                <a:solidFill>
                  <a:schemeClr val="tx1"/>
                </a:solidFill>
              </a:rPr>
              <a:t>Position</a:t>
            </a:r>
            <a:endParaRPr lang="en-US" sz="1400" dirty="0"/>
          </a:p>
        </p:txBody>
      </p:sp>
      <p:sp>
        <p:nvSpPr>
          <p:cNvPr id="20" name="state-1"/>
          <p:cNvSpPr/>
          <p:nvPr/>
        </p:nvSpPr>
        <p:spPr>
          <a:xfrm>
            <a:off x="1783080" y="2103120"/>
            <a:ext cx="1280160" cy="502920"/>
          </a:xfrm>
          <a:prstGeom prst="roundRect">
            <a:avLst>
              <a:gd name="adj" fmla="val 10909"/>
            </a:avLst>
          </a:prstGeom>
          <a:solidFill>
            <a:schemeClr val="bg2"/>
          </a:solidFill>
          <a:ln w="12700">
            <a:solidFill>
              <a:schemeClr val="accent5"/>
            </a:solidFill>
            <a:prstDash val="solid"/>
          </a:ln>
        </p:spPr>
      </p:sp>
      <p:sp>
        <p:nvSpPr>
          <p:cNvPr id="21" name="Text 19"/>
          <p:cNvSpPr txBox="1"/>
          <p:nvPr/>
        </p:nvSpPr>
        <p:spPr>
          <a:xfrm>
            <a:off x="1783080" y="2103120"/>
            <a:ext cx="1280160" cy="502920"/>
          </a:xfrm>
          <a:prstGeom prst="rect">
            <a:avLst/>
          </a:prstGeom>
          <a:noFill/>
          <a:ln/>
        </p:spPr>
        <p:txBody>
          <a:bodyPr wrap="square" lIns="0" tIns="0" rIns="0" bIns="0" rtlCol="0" anchor="ctr"/>
          <a:lstStyle/>
          <a:p>
            <a:pPr algn="ctr" indent="0" marL="0">
              <a:buNone/>
            </a:pPr>
            <a:r>
              <a:rPr lang="en-US" sz="1400" b="1" dirty="0">
                <a:solidFill>
                  <a:schemeClr val="tx1"/>
                </a:solidFill>
              </a:rPr>
              <a:t>Wire</a:t>
            </a:r>
            <a:endParaRPr lang="en-US" sz="1400" dirty="0"/>
          </a:p>
        </p:txBody>
      </p:sp>
      <p:sp>
        <p:nvSpPr>
          <p:cNvPr id="22" name="state-2"/>
          <p:cNvSpPr/>
          <p:nvPr/>
        </p:nvSpPr>
        <p:spPr>
          <a:xfrm>
            <a:off x="3200400" y="2103120"/>
            <a:ext cx="1280160" cy="502920"/>
          </a:xfrm>
          <a:prstGeom prst="roundRect">
            <a:avLst>
              <a:gd name="adj" fmla="val 10909"/>
            </a:avLst>
          </a:prstGeom>
          <a:solidFill>
            <a:schemeClr val="bg2"/>
          </a:solidFill>
          <a:ln w="12700">
            <a:solidFill>
              <a:schemeClr val="accent5"/>
            </a:solidFill>
            <a:prstDash val="solid"/>
          </a:ln>
        </p:spPr>
      </p:sp>
      <p:sp>
        <p:nvSpPr>
          <p:cNvPr id="23" name="Text 21"/>
          <p:cNvSpPr txBox="1"/>
          <p:nvPr/>
        </p:nvSpPr>
        <p:spPr>
          <a:xfrm>
            <a:off x="3200400" y="2103120"/>
            <a:ext cx="1280160" cy="502920"/>
          </a:xfrm>
          <a:prstGeom prst="rect">
            <a:avLst/>
          </a:prstGeom>
          <a:noFill/>
          <a:ln/>
        </p:spPr>
        <p:txBody>
          <a:bodyPr wrap="square" lIns="0" tIns="0" rIns="0" bIns="0" rtlCol="0" anchor="ctr"/>
          <a:lstStyle/>
          <a:p>
            <a:pPr algn="ctr" indent="0" marL="0">
              <a:buNone/>
            </a:pPr>
            <a:r>
              <a:rPr lang="en-US" sz="1400" b="1" dirty="0">
                <a:solidFill>
                  <a:schemeClr val="tx1"/>
                </a:solidFill>
              </a:rPr>
              <a:t>Regular</a:t>
            </a:r>
            <a:endParaRPr lang="en-US" sz="1400" dirty="0"/>
          </a:p>
        </p:txBody>
      </p:sp>
      <p:sp>
        <p:nvSpPr>
          <p:cNvPr id="24" name="state-3"/>
          <p:cNvSpPr/>
          <p:nvPr/>
        </p:nvSpPr>
        <p:spPr>
          <a:xfrm>
            <a:off x="4617720" y="2103120"/>
            <a:ext cx="1280160" cy="502920"/>
          </a:xfrm>
          <a:prstGeom prst="roundRect">
            <a:avLst>
              <a:gd name="adj" fmla="val 10909"/>
            </a:avLst>
          </a:prstGeom>
          <a:solidFill>
            <a:schemeClr val="accent1"/>
          </a:solidFill>
          <a:ln/>
        </p:spPr>
      </p:sp>
      <p:sp>
        <p:nvSpPr>
          <p:cNvPr id="25" name="Text 23"/>
          <p:cNvSpPr txBox="1"/>
          <p:nvPr/>
        </p:nvSpPr>
        <p:spPr>
          <a:xfrm>
            <a:off x="4617720" y="2103120"/>
            <a:ext cx="1280160" cy="502920"/>
          </a:xfrm>
          <a:prstGeom prst="rect">
            <a:avLst/>
          </a:prstGeom>
          <a:noFill/>
          <a:ln/>
        </p:spPr>
        <p:txBody>
          <a:bodyPr wrap="square" lIns="0" tIns="0" rIns="0" bIns="0" rtlCol="0" anchor="ctr"/>
          <a:lstStyle/>
          <a:p>
            <a:pPr algn="ctr" indent="0" marL="0">
              <a:buNone/>
            </a:pPr>
            <a:r>
              <a:rPr lang="en-US" sz="1400" b="1" dirty="0">
                <a:solidFill>
                  <a:schemeClr val="bg1"/>
                </a:solidFill>
              </a:rPr>
              <a:t>Timing</a:t>
            </a:r>
            <a:endParaRPr lang="en-US" sz="1400" dirty="0"/>
          </a:p>
        </p:txBody>
      </p:sp>
      <p:sp>
        <p:nvSpPr>
          <p:cNvPr id="26" name="state-4"/>
          <p:cNvSpPr/>
          <p:nvPr/>
        </p:nvSpPr>
        <p:spPr>
          <a:xfrm>
            <a:off x="6035040" y="2103120"/>
            <a:ext cx="1280160" cy="502920"/>
          </a:xfrm>
          <a:prstGeom prst="roundRect">
            <a:avLst>
              <a:gd name="adj" fmla="val 10909"/>
            </a:avLst>
          </a:prstGeom>
          <a:solidFill>
            <a:schemeClr val="accent1"/>
          </a:solidFill>
          <a:ln/>
        </p:spPr>
      </p:sp>
      <p:sp>
        <p:nvSpPr>
          <p:cNvPr id="27" name="Text 25"/>
          <p:cNvSpPr txBox="1"/>
          <p:nvPr/>
        </p:nvSpPr>
        <p:spPr>
          <a:xfrm>
            <a:off x="6035040" y="2103120"/>
            <a:ext cx="1280160" cy="502920"/>
          </a:xfrm>
          <a:prstGeom prst="rect">
            <a:avLst/>
          </a:prstGeom>
          <a:noFill/>
          <a:ln/>
        </p:spPr>
        <p:txBody>
          <a:bodyPr wrap="square" lIns="0" tIns="0" rIns="0" bIns="0" rtlCol="0" anchor="ctr"/>
          <a:lstStyle/>
          <a:p>
            <a:pPr algn="ctr" indent="0" marL="0">
              <a:buNone/>
            </a:pPr>
            <a:r>
              <a:rPr lang="en-US" sz="1400" b="1" dirty="0">
                <a:solidFill>
                  <a:schemeClr val="bg1"/>
                </a:solidFill>
              </a:rPr>
              <a:t>Congestion</a:t>
            </a:r>
            <a:endParaRPr lang="en-US" sz="1400" dirty="0"/>
          </a:p>
        </p:txBody>
      </p:sp>
      <p:sp>
        <p:nvSpPr>
          <p:cNvPr id="28" name="state-5"/>
          <p:cNvSpPr/>
          <p:nvPr/>
        </p:nvSpPr>
        <p:spPr>
          <a:xfrm>
            <a:off x="7452360" y="2103120"/>
            <a:ext cx="1280160" cy="502920"/>
          </a:xfrm>
          <a:prstGeom prst="roundRect">
            <a:avLst>
              <a:gd name="adj" fmla="val 10909"/>
            </a:avLst>
          </a:prstGeom>
          <a:solidFill>
            <a:schemeClr val="accent1"/>
          </a:solidFill>
          <a:ln/>
        </p:spPr>
      </p:sp>
      <p:sp>
        <p:nvSpPr>
          <p:cNvPr id="29" name="Text 27"/>
          <p:cNvSpPr txBox="1"/>
          <p:nvPr/>
        </p:nvSpPr>
        <p:spPr>
          <a:xfrm>
            <a:off x="7452360" y="2103120"/>
            <a:ext cx="1280160" cy="502920"/>
          </a:xfrm>
          <a:prstGeom prst="rect">
            <a:avLst/>
          </a:prstGeom>
          <a:noFill/>
          <a:ln/>
        </p:spPr>
        <p:txBody>
          <a:bodyPr wrap="square" lIns="0" tIns="0" rIns="0" bIns="0" rtlCol="0" anchor="ctr"/>
          <a:lstStyle/>
          <a:p>
            <a:pPr algn="ctr" indent="0" marL="0">
              <a:buNone/>
            </a:pPr>
            <a:r>
              <a:rPr lang="en-US" sz="1400" b="1" dirty="0">
                <a:solidFill>
                  <a:schemeClr val="bg1"/>
                </a:solidFill>
              </a:rPr>
              <a:t>Preference</a:t>
            </a:r>
            <a:endParaRPr lang="en-US" sz="1400" dirty="0"/>
          </a:p>
        </p:txBody>
      </p:sp>
      <p:sp>
        <p:nvSpPr>
          <p:cNvPr id="30" name="Text 28"/>
          <p:cNvSpPr txBox="1"/>
          <p:nvPr/>
        </p:nvSpPr>
        <p:spPr>
          <a:xfrm>
            <a:off x="6035040" y="1783080"/>
            <a:ext cx="2743200" cy="274320"/>
          </a:xfrm>
          <a:prstGeom prst="rect">
            <a:avLst/>
          </a:prstGeom>
          <a:noFill/>
          <a:ln/>
        </p:spPr>
        <p:txBody>
          <a:bodyPr wrap="square" lIns="0" tIns="0" rIns="0" bIns="0" rtlCol="0" anchor="t"/>
          <a:lstStyle/>
          <a:p>
            <a:pPr algn="r" indent="0" marL="0">
              <a:buNone/>
            </a:pPr>
            <a:r>
              <a:rPr lang="en-US" sz="1200" b="1" dirty="0">
                <a:solidFill>
                  <a:schemeClr val="accent1"/>
                </a:solidFill>
              </a:rPr>
              <a:t>Blue = new in this project</a:t>
            </a:r>
            <a:endParaRPr lang="en-US" sz="1200" dirty="0"/>
          </a:p>
        </p:txBody>
      </p:sp>
      <p:sp>
        <p:nvSpPr>
          <p:cNvPr id="31" name="Text 29"/>
          <p:cNvSpPr txBox="1"/>
          <p:nvPr/>
        </p:nvSpPr>
        <p:spPr>
          <a:xfrm>
            <a:off x="365760" y="2788920"/>
            <a:ext cx="8412480" cy="310896"/>
          </a:xfrm>
          <a:prstGeom prst="rect">
            <a:avLst/>
          </a:prstGeom>
          <a:noFill/>
          <a:ln/>
        </p:spPr>
        <p:txBody>
          <a:bodyPr wrap="square" lIns="0" tIns="0" rIns="0" bIns="0" rtlCol="0" anchor="t"/>
          <a:lstStyle/>
          <a:p>
            <a:pPr indent="0" marL="0">
              <a:buNone/>
            </a:pPr>
            <a:r>
              <a:rPr lang="en-US" sz="1500" b="1" dirty="0">
                <a:solidFill>
                  <a:schemeClr val="accent1"/>
                </a:solidFill>
              </a:rPr>
              <a:t>Sees: </a:t>
            </a:r>
            <a:r>
              <a:rPr lang="en-US" sz="1500" dirty="0">
                <a:solidFill>
                  <a:schemeClr val="tx1"/>
                </a:solidFill>
              </a:rPr>
              <a:t>masks for the current macro</a:t>
            </a:r>
            <a:endParaRPr lang="en-US" sz="1500" dirty="0"/>
          </a:p>
        </p:txBody>
      </p:sp>
      <p:sp>
        <p:nvSpPr>
          <p:cNvPr id="32" name="Text 30"/>
          <p:cNvSpPr txBox="1"/>
          <p:nvPr/>
        </p:nvSpPr>
        <p:spPr>
          <a:xfrm>
            <a:off x="365760" y="3118104"/>
            <a:ext cx="8412480" cy="310896"/>
          </a:xfrm>
          <a:prstGeom prst="rect">
            <a:avLst/>
          </a:prstGeom>
          <a:noFill/>
          <a:ln/>
        </p:spPr>
        <p:txBody>
          <a:bodyPr wrap="square" lIns="0" tIns="0" rIns="0" bIns="0" rtlCol="0" anchor="t"/>
          <a:lstStyle/>
          <a:p>
            <a:pPr indent="0" marL="0">
              <a:buNone/>
            </a:pPr>
            <a:r>
              <a:rPr lang="en-US" sz="1500" b="1" dirty="0">
                <a:solidFill>
                  <a:schemeClr val="accent1"/>
                </a:solidFill>
              </a:rPr>
              <a:t>Does: </a:t>
            </a:r>
            <a:r>
              <a:rPr lang="en-US" sz="1500" dirty="0">
                <a:solidFill>
                  <a:schemeClr val="tx1"/>
                </a:solidFill>
              </a:rPr>
              <a:t>moves it to a free grid cell (each macro once, largest first)</a:t>
            </a:r>
            <a:endParaRPr lang="en-US" sz="1500" dirty="0"/>
          </a:p>
        </p:txBody>
      </p:sp>
      <p:sp>
        <p:nvSpPr>
          <p:cNvPr id="33" name="Text 31"/>
          <p:cNvSpPr txBox="1"/>
          <p:nvPr/>
        </p:nvSpPr>
        <p:spPr>
          <a:xfrm>
            <a:off x="365760" y="3447288"/>
            <a:ext cx="8412480" cy="310896"/>
          </a:xfrm>
          <a:prstGeom prst="rect">
            <a:avLst/>
          </a:prstGeom>
          <a:noFill/>
          <a:ln/>
        </p:spPr>
        <p:txBody>
          <a:bodyPr wrap="square" lIns="0" tIns="0" rIns="0" bIns="0" rtlCol="0" anchor="t"/>
          <a:lstStyle/>
          <a:p>
            <a:pPr indent="0" marL="0">
              <a:buNone/>
            </a:pPr>
            <a:r>
              <a:rPr lang="en-US" sz="1500" b="1" dirty="0">
                <a:solidFill>
                  <a:schemeClr val="accent1"/>
                </a:solidFill>
              </a:rPr>
              <a:t>Gets: </a:t>
            </a:r>
            <a:r>
              <a:rPr lang="en-US" sz="1500" dirty="0">
                <a:solidFill>
                  <a:schemeClr val="tx1"/>
                </a:solidFill>
              </a:rPr>
              <a:t>the weighted improvement the move produced</a:t>
            </a:r>
            <a:endParaRPr lang="en-US" sz="1500" dirty="0"/>
          </a:p>
        </p:txBody>
      </p:sp>
      <p:pic>
        <p:nvPicPr>
          <p:cNvPr id="34" name="eq-rew" descr="formula">    </p:cNvPr>
          <p:cNvPicPr>
            <a:picLocks noChangeAspect="1"/>
          </p:cNvPicPr>
          <p:nvPr/>
        </p:nvPicPr>
        <p:blipFill>
          <a:blip r:embed="rId1"/>
          <a:stretch>
            <a:fillRect/>
          </a:stretch>
        </p:blipFill>
        <p:spPr>
          <a:xfrm>
            <a:off x="2692908" y="3840480"/>
            <a:ext cx="3758184" cy="186538"/>
          </a:xfrm>
          <a:prstGeom prst="rect">
            <a:avLst/>
          </a:prstGeom>
        </p:spPr>
      </p:pic>
      <p:sp>
        <p:nvSpPr>
          <p:cNvPr id="35" name="Text 32"/>
          <p:cNvSpPr txBox="1"/>
          <p:nvPr/>
        </p:nvSpPr>
        <p:spPr>
          <a:xfrm>
            <a:off x="365760" y="4343400"/>
            <a:ext cx="8412480" cy="274320"/>
          </a:xfrm>
          <a:prstGeom prst="rect">
            <a:avLst/>
          </a:prstGeom>
          <a:noFill/>
          <a:ln/>
        </p:spPr>
        <p:txBody>
          <a:bodyPr wrap="square" lIns="0" tIns="0" rIns="0" bIns="0" rtlCol="0" anchor="t"/>
          <a:lstStyle/>
          <a:p>
            <a:pPr algn="ctr" indent="0" marL="0">
              <a:buNone/>
            </a:pPr>
            <a:r>
              <a:rPr lang="en-US" sz="1300" dirty="0">
                <a:solidFill>
                  <a:schemeClr val="tx2"/>
                </a:solidFill>
              </a:rPr>
              <a:t>MaskRegulate uses only the first two terms; the network (CNN) and training (PPO) stay the same.</a:t>
            </a:r>
            <a:endParaRPr lang="en-US" sz="13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Direction 1: TimingMask</a:t>
            </a:r>
            <a:endParaRPr lang="en-US" sz="2600" dirty="0"/>
          </a:p>
        </p:txBody>
      </p:sp>
      <p:sp>
        <p:nvSpPr>
          <p:cNvPr id="3" name="Text 1"/>
          <p:cNvSpPr txBox="1"/>
          <p:nvPr/>
        </p:nvSpPr>
        <p:spPr>
          <a:xfrm>
            <a:off x="365760" y="777240"/>
            <a:ext cx="8412480" cy="365760"/>
          </a:xfrm>
          <a:prstGeom prst="rect">
            <a:avLst/>
          </a:prstGeom>
          <a:noFill/>
          <a:ln/>
        </p:spPr>
        <p:txBody>
          <a:bodyPr wrap="square" lIns="0" tIns="0" rIns="0" bIns="0" rtlCol="0" anchor="t"/>
          <a:lstStyle/>
          <a:p>
            <a:pPr indent="0" marL="0">
              <a:buNone/>
            </a:pPr>
            <a:r>
              <a:rPr lang="en-US" sz="1600" i="1" dirty="0">
                <a:solidFill>
                  <a:schemeClr val="tx2"/>
                </a:solidFill>
              </a:rPr>
              <a:t>Pushing macros to the edge can stretch wires on timing-critical paths.</a:t>
            </a:r>
            <a:endParaRPr lang="en-US" sz="1600" dirty="0"/>
          </a:p>
        </p:txBody>
      </p:sp>
      <p:sp>
        <p:nvSpPr>
          <p:cNvPr id="4" name="Text 2"/>
          <p:cNvSpPr txBox="1"/>
          <p:nvPr/>
        </p:nvSpPr>
        <p:spPr>
          <a:xfrm>
            <a:off x="365760" y="1234440"/>
            <a:ext cx="4754880" cy="347472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Delay grows faster than length: </a:t>
            </a:r>
            <a:r>
              <a:rPr lang="en-US" sz="1500" dirty="0">
                <a:solidFill>
                  <a:schemeClr val="tx1"/>
                </a:solidFill>
              </a:rPr>
              <a:t>a long wire is disproportionately slow.</a:t>
            </a:r>
            <a:endParaRPr lang="en-US" sz="1500" dirty="0"/>
          </a:p>
          <a:p>
            <a:pPr marL="203200" indent="-203200">
              <a:spcAft>
                <a:spcPts val="800"/>
              </a:spcAft>
              <a:buSzPct val="100000"/>
              <a:buChar char="•"/>
            </a:pPr>
            <a:r>
              <a:rPr lang="en-US" sz="1500" b="1" dirty="0">
                <a:solidFill>
                  <a:schemeClr val="tx1"/>
                </a:solidFill>
              </a:rPr>
              <a:t>Critical paths: </a:t>
            </a:r>
            <a:r>
              <a:rPr lang="en-US" sz="1500" dirty="0">
                <a:solidFill>
                  <a:schemeClr val="tx1"/>
                </a:solidFill>
              </a:rPr>
              <a:t>a timing tool (OpenSTA / OpenTimer) lists the slowest paths; re-run every few episodes.</a:t>
            </a:r>
            <a:endParaRPr lang="en-US" sz="1500" dirty="0"/>
          </a:p>
          <a:p>
            <a:pPr marL="203200" indent="-203200">
              <a:spcAft>
                <a:spcPts val="800"/>
              </a:spcAft>
              <a:buSzPct val="100000"/>
              <a:buChar char="•"/>
            </a:pPr>
            <a:r>
              <a:rPr lang="en-US" sz="1500" b="1" dirty="0">
                <a:solidFill>
                  <a:schemeClr val="tx1"/>
                </a:solidFill>
              </a:rPr>
              <a:t>Mask: </a:t>
            </a:r>
            <a:r>
              <a:rPr lang="en-US" sz="1500" dirty="0">
                <a:solidFill>
                  <a:schemeClr val="tx1"/>
                </a:solidFill>
              </a:rPr>
              <a:t>for every grid cell, how the timing cost would change if the macro moved there.</a:t>
            </a:r>
            <a:endParaRPr lang="en-US" sz="1500" dirty="0"/>
          </a:p>
          <a:p>
            <a:pPr marL="203200" indent="-203200">
              <a:spcAft>
                <a:spcPts val="800"/>
              </a:spcAft>
              <a:buSzPct val="100000"/>
              <a:buChar char="•"/>
            </a:pPr>
            <a:r>
              <a:rPr lang="en-US" sz="1500" b="1" dirty="0">
                <a:solidFill>
                  <a:schemeClr val="tx1"/>
                </a:solidFill>
              </a:rPr>
              <a:t>Cheaper option: </a:t>
            </a:r>
            <a:r>
              <a:rPr lang="en-US" sz="1500" dirty="0">
                <a:solidFill>
                  <a:schemeClr val="tx1"/>
                </a:solidFill>
              </a:rPr>
              <a:t>give more weight to critical nets in the existing WireMask.</a:t>
            </a:r>
            <a:endParaRPr lang="en-US" sz="1500" dirty="0"/>
          </a:p>
        </p:txBody>
      </p:sp>
      <p:sp>
        <p:nvSpPr>
          <p:cNvPr id="5" name="tim-eq-box"/>
          <p:cNvSpPr/>
          <p:nvPr/>
        </p:nvSpPr>
        <p:spPr>
          <a:xfrm>
            <a:off x="5349240" y="1234440"/>
            <a:ext cx="3429000" cy="3429000"/>
          </a:xfrm>
          <a:prstGeom prst="roundRect">
            <a:avLst>
              <a:gd name="adj" fmla="val 1600"/>
            </a:avLst>
          </a:prstGeom>
          <a:solidFill>
            <a:schemeClr val="bg2"/>
          </a:solidFill>
          <a:ln/>
        </p:spPr>
      </p:sp>
      <p:sp>
        <p:nvSpPr>
          <p:cNvPr id="6" name="Text 4"/>
          <p:cNvSpPr txBox="1"/>
          <p:nvPr/>
        </p:nvSpPr>
        <p:spPr>
          <a:xfrm>
            <a:off x="5577840" y="1371600"/>
            <a:ext cx="3017520" cy="274320"/>
          </a:xfrm>
          <a:prstGeom prst="rect">
            <a:avLst/>
          </a:prstGeom>
          <a:noFill/>
          <a:ln/>
        </p:spPr>
        <p:txBody>
          <a:bodyPr wrap="square" lIns="0" tIns="0" rIns="0" bIns="0" rtlCol="0" anchor="t"/>
          <a:lstStyle/>
          <a:p>
            <a:pPr indent="0" marL="0">
              <a:buNone/>
            </a:pPr>
            <a:r>
              <a:rPr lang="en-US" sz="1500" b="1" dirty="0">
                <a:solidFill>
                  <a:schemeClr val="accent1"/>
                </a:solidFill>
              </a:rPr>
              <a:t>Wire delay</a:t>
            </a:r>
            <a:endParaRPr lang="en-US" sz="1500" dirty="0"/>
          </a:p>
        </p:txBody>
      </p:sp>
      <p:pic>
        <p:nvPicPr>
          <p:cNvPr id="7" name="eq-delay" descr="formula">    </p:cNvPr>
          <p:cNvPicPr>
            <a:picLocks noChangeAspect="1"/>
          </p:cNvPicPr>
          <p:nvPr/>
        </p:nvPicPr>
        <p:blipFill>
          <a:blip r:embed="rId1"/>
          <a:stretch>
            <a:fillRect/>
          </a:stretch>
        </p:blipFill>
        <p:spPr>
          <a:xfrm>
            <a:off x="5577840" y="1737360"/>
            <a:ext cx="1977771" cy="278435"/>
          </a:xfrm>
          <a:prstGeom prst="rect">
            <a:avLst/>
          </a:prstGeom>
        </p:spPr>
      </p:pic>
      <p:sp>
        <p:nvSpPr>
          <p:cNvPr id="8" name="Text 5"/>
          <p:cNvSpPr txBox="1"/>
          <p:nvPr/>
        </p:nvSpPr>
        <p:spPr>
          <a:xfrm>
            <a:off x="5577840" y="2514600"/>
            <a:ext cx="3017520" cy="274320"/>
          </a:xfrm>
          <a:prstGeom prst="rect">
            <a:avLst/>
          </a:prstGeom>
          <a:noFill/>
          <a:ln/>
        </p:spPr>
        <p:txBody>
          <a:bodyPr wrap="square" lIns="0" tIns="0" rIns="0" bIns="0" rtlCol="0" anchor="t"/>
          <a:lstStyle/>
          <a:p>
            <a:pPr indent="0" marL="0">
              <a:buNone/>
            </a:pPr>
            <a:r>
              <a:rPr lang="en-US" sz="1500" b="1" dirty="0">
                <a:solidFill>
                  <a:schemeClr val="accent1"/>
                </a:solidFill>
              </a:rPr>
              <a:t>Timing cost</a:t>
            </a:r>
            <a:endParaRPr lang="en-US" sz="1500" dirty="0"/>
          </a:p>
        </p:txBody>
      </p:sp>
      <p:pic>
        <p:nvPicPr>
          <p:cNvPr id="9" name="eq-tcost" descr="formula">    </p:cNvPr>
          <p:cNvPicPr>
            <a:picLocks noChangeAspect="1"/>
          </p:cNvPicPr>
          <p:nvPr/>
        </p:nvPicPr>
        <p:blipFill>
          <a:blip r:embed="rId2"/>
          <a:stretch>
            <a:fillRect/>
          </a:stretch>
        </p:blipFill>
        <p:spPr>
          <a:xfrm>
            <a:off x="5577840" y="2880360"/>
            <a:ext cx="3017520" cy="339893"/>
          </a:xfrm>
          <a:prstGeom prst="rect">
            <a:avLst/>
          </a:prstGeom>
        </p:spPr>
      </p:pic>
      <p:sp>
        <p:nvSpPr>
          <p:cNvPr id="10" name="Text 6"/>
          <p:cNvSpPr txBox="1"/>
          <p:nvPr/>
        </p:nvSpPr>
        <p:spPr>
          <a:xfrm>
            <a:off x="5577840" y="3703320"/>
            <a:ext cx="3017520" cy="548640"/>
          </a:xfrm>
          <a:prstGeom prst="rect">
            <a:avLst/>
          </a:prstGeom>
          <a:noFill/>
          <a:ln/>
        </p:spPr>
        <p:txBody>
          <a:bodyPr wrap="square" lIns="0" tIns="0" rIns="0" bIns="0" rtlCol="0" anchor="t"/>
          <a:lstStyle/>
          <a:p>
            <a:pPr indent="0" marL="0">
              <a:buNone/>
            </a:pPr>
            <a:r>
              <a:rPr lang="en-US" sz="1300" dirty="0">
                <a:solidFill>
                  <a:schemeClr val="tx2"/>
                </a:solidFill>
              </a:rPr>
              <a:t>0.95 T: also counts paths that are nearly late</a:t>
            </a:r>
            <a:endParaRPr lang="en-US" sz="13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Direction 1: CongestionMask</a:t>
            </a:r>
            <a:endParaRPr lang="en-US" sz="2600" dirty="0"/>
          </a:p>
        </p:txBody>
      </p:sp>
      <p:sp>
        <p:nvSpPr>
          <p:cNvPr id="3" name="Text 1"/>
          <p:cNvSpPr txBox="1"/>
          <p:nvPr/>
        </p:nvSpPr>
        <p:spPr>
          <a:xfrm>
            <a:off x="365760" y="868680"/>
            <a:ext cx="8412480" cy="201168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Routing demand (RUDY): </a:t>
            </a:r>
            <a:r>
              <a:rPr lang="en-US" sz="1500" dirty="0">
                <a:solidFill>
                  <a:schemeClr val="tx1"/>
                </a:solidFill>
              </a:rPr>
              <a:t>spread each net's wire evenly over its bounding box to estimate how many wires cross each region.</a:t>
            </a:r>
            <a:endParaRPr lang="en-US" sz="1500" dirty="0"/>
          </a:p>
          <a:p>
            <a:pPr marL="203200" indent="-203200">
              <a:spcAft>
                <a:spcPts val="800"/>
              </a:spcAft>
              <a:buSzPct val="100000"/>
              <a:buChar char="•"/>
            </a:pPr>
            <a:r>
              <a:rPr lang="en-US" sz="1500" b="1" dirty="0">
                <a:solidFill>
                  <a:schemeClr val="tx1"/>
                </a:solidFill>
              </a:rPr>
              <a:t>Capacity: </a:t>
            </a:r>
            <a:r>
              <a:rPr lang="en-US" sz="1500" dirty="0">
                <a:solidFill>
                  <a:schemeClr val="tx1"/>
                </a:solidFill>
              </a:rPr>
              <a:t>each region can carry a fixed number of wires; a macro blocks part of it.</a:t>
            </a:r>
            <a:endParaRPr lang="en-US" sz="1500" dirty="0"/>
          </a:p>
          <a:p>
            <a:pPr marL="203200" indent="-203200">
              <a:spcAft>
                <a:spcPts val="800"/>
              </a:spcAft>
              <a:buSzPct val="100000"/>
              <a:buChar char="•"/>
            </a:pPr>
            <a:r>
              <a:rPr lang="en-US" sz="1500" b="1" dirty="0">
                <a:solidFill>
                  <a:schemeClr val="tx1"/>
                </a:solidFill>
              </a:rPr>
              <a:t>Mask: </a:t>
            </a:r>
            <a:r>
              <a:rPr lang="en-US" sz="1500" dirty="0">
                <a:solidFill>
                  <a:schemeClr val="tx1"/>
                </a:solidFill>
              </a:rPr>
              <a:t>for every grid cell, the extra overflow if the macro blocked a busy region there.</a:t>
            </a:r>
            <a:endParaRPr lang="en-US" sz="1500" dirty="0"/>
          </a:p>
        </p:txBody>
      </p:sp>
      <p:pic>
        <p:nvPicPr>
          <p:cNvPr id="4" name="eq-ovf" descr="formula">    </p:cNvPr>
          <p:cNvPicPr>
            <a:picLocks noChangeAspect="1"/>
          </p:cNvPicPr>
          <p:nvPr/>
        </p:nvPicPr>
        <p:blipFill>
          <a:blip r:embed="rId1"/>
          <a:stretch>
            <a:fillRect/>
          </a:stretch>
        </p:blipFill>
        <p:spPr>
          <a:xfrm>
            <a:off x="2608631" y="2514600"/>
            <a:ext cx="3926738" cy="517093"/>
          </a:xfrm>
          <a:prstGeom prst="rect">
            <a:avLst/>
          </a:prstGeom>
        </p:spPr>
      </p:pic>
      <p:sp>
        <p:nvSpPr>
          <p:cNvPr id="5" name="cong-reg"/>
          <p:cNvSpPr/>
          <p:nvPr/>
        </p:nvSpPr>
        <p:spPr>
          <a:xfrm>
            <a:off x="365760" y="3520440"/>
            <a:ext cx="4114800" cy="1143000"/>
          </a:xfrm>
          <a:prstGeom prst="roundRect">
            <a:avLst>
              <a:gd name="adj" fmla="val 4800"/>
            </a:avLst>
          </a:prstGeom>
          <a:solidFill>
            <a:schemeClr val="bg2"/>
          </a:solidFill>
          <a:ln/>
        </p:spPr>
      </p:sp>
      <p:sp>
        <p:nvSpPr>
          <p:cNvPr id="6" name="Text 3"/>
          <p:cNvSpPr txBox="1"/>
          <p:nvPr/>
        </p:nvSpPr>
        <p:spPr>
          <a:xfrm>
            <a:off x="594360" y="3611880"/>
            <a:ext cx="3657600" cy="960120"/>
          </a:xfrm>
          <a:prstGeom prst="rect">
            <a:avLst/>
          </a:prstGeom>
          <a:noFill/>
          <a:ln/>
        </p:spPr>
        <p:txBody>
          <a:bodyPr wrap="square" lIns="0" tIns="0" rIns="0" bIns="0" rtlCol="0" anchor="ctr"/>
          <a:lstStyle/>
          <a:p>
            <a:pPr indent="0" marL="0">
              <a:buNone/>
            </a:pPr>
            <a:r>
              <a:rPr lang="en-US" sz="1500" b="1" dirty="0">
                <a:solidFill>
                  <a:schemeClr val="tx2"/>
                </a:solidFill>
              </a:rPr>
              <a:t>Regularity</a:t>
            </a:r>
            <a:endParaRPr lang="en-US" sz="1500" dirty="0"/>
          </a:p>
          <a:p>
            <a:pPr indent="0" marL="0">
              <a:buNone/>
            </a:pPr>
            <a:r>
              <a:rPr lang="en-US" sz="1500" dirty="0">
                <a:solidFill>
                  <a:schemeClr val="tx1"/>
                </a:solidFill>
              </a:rPr>
              <a:t>Indirect rule: "keep macros near the edge"</a:t>
            </a:r>
            <a:endParaRPr lang="en-US" sz="1500" dirty="0"/>
          </a:p>
        </p:txBody>
      </p:sp>
      <p:sp>
        <p:nvSpPr>
          <p:cNvPr id="7" name="cong-arrow"/>
          <p:cNvSpPr/>
          <p:nvPr/>
        </p:nvSpPr>
        <p:spPr>
          <a:xfrm>
            <a:off x="4572000" y="3959352"/>
            <a:ext cx="292608" cy="256032"/>
          </a:xfrm>
          <a:prstGeom prst="rightArrow">
            <a:avLst/>
          </a:prstGeom>
          <a:solidFill>
            <a:schemeClr val="accent1"/>
          </a:solidFill>
          <a:ln/>
        </p:spPr>
      </p:sp>
      <p:sp>
        <p:nvSpPr>
          <p:cNvPr id="8" name="cong-new"/>
          <p:cNvSpPr/>
          <p:nvPr/>
        </p:nvSpPr>
        <p:spPr>
          <a:xfrm>
            <a:off x="4983480" y="3520440"/>
            <a:ext cx="3794760" cy="1143000"/>
          </a:xfrm>
          <a:prstGeom prst="roundRect">
            <a:avLst>
              <a:gd name="adj" fmla="val 4800"/>
            </a:avLst>
          </a:prstGeom>
          <a:solidFill>
            <a:schemeClr val="accent1"/>
          </a:solidFill>
          <a:ln/>
        </p:spPr>
      </p:sp>
      <p:sp>
        <p:nvSpPr>
          <p:cNvPr id="9" name="Text 6"/>
          <p:cNvSpPr txBox="1"/>
          <p:nvPr/>
        </p:nvSpPr>
        <p:spPr>
          <a:xfrm>
            <a:off x="5212080" y="3611880"/>
            <a:ext cx="3383280" cy="960120"/>
          </a:xfrm>
          <a:prstGeom prst="rect">
            <a:avLst/>
          </a:prstGeom>
          <a:noFill/>
          <a:ln/>
        </p:spPr>
        <p:txBody>
          <a:bodyPr wrap="square" lIns="0" tIns="0" rIns="0" bIns="0" rtlCol="0" anchor="ctr"/>
          <a:lstStyle/>
          <a:p>
            <a:pPr indent="0" marL="0">
              <a:buNone/>
            </a:pPr>
            <a:r>
              <a:rPr lang="en-US" sz="1500" b="1" dirty="0">
                <a:solidFill>
                  <a:schemeClr val="bg1"/>
                </a:solidFill>
              </a:rPr>
              <a:t>CongestionMask</a:t>
            </a:r>
            <a:endParaRPr lang="en-US" sz="1500" dirty="0"/>
          </a:p>
          <a:p>
            <a:pPr indent="0" marL="0">
              <a:buNone/>
            </a:pPr>
            <a:r>
              <a:rPr lang="en-US" sz="1500" dirty="0">
                <a:solidFill>
                  <a:schemeClr val="bg1"/>
                </a:solidFill>
              </a:rPr>
              <a:t>Direct measure: "don't block busy routing"</a:t>
            </a:r>
            <a:endParaRPr lang="en-US" sz="15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Direction 2: A Menu of Good Placements</a:t>
            </a:r>
            <a:endParaRPr lang="en-US" sz="2600" dirty="0"/>
          </a:p>
        </p:txBody>
      </p:sp>
      <p:sp>
        <p:nvSpPr>
          <p:cNvPr id="3" name="Text 1"/>
          <p:cNvSpPr txBox="1"/>
          <p:nvPr/>
        </p:nvSpPr>
        <p:spPr>
          <a:xfrm>
            <a:off x="365760" y="777240"/>
            <a:ext cx="5486400" cy="160020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chemeClr val="tx1"/>
                </a:solidFill>
              </a:rPr>
              <a:t>Why: </a:t>
            </a:r>
            <a:r>
              <a:rPr lang="en-US" sz="1400" dirty="0">
                <a:solidFill>
                  <a:schemeClr val="tx1"/>
                </a:solidFill>
              </a:rPr>
              <a:t>different chips need different trade-offs (e.g. mobile: short wires; high-performance: timing). Paper B fixes one.</a:t>
            </a:r>
            <a:endParaRPr lang="en-US" sz="1400" dirty="0"/>
          </a:p>
          <a:p>
            <a:pPr marL="203200" indent="-203200">
              <a:spcAft>
                <a:spcPts val="600"/>
              </a:spcAft>
              <a:buSzPct val="100000"/>
              <a:buChar char="•"/>
            </a:pPr>
            <a:r>
              <a:rPr lang="en-US" sz="1400" b="1" dirty="0">
                <a:solidFill>
                  <a:schemeClr val="tx1"/>
                </a:solidFill>
              </a:rPr>
              <a:t>Goal: </a:t>
            </a:r>
            <a:r>
              <a:rPr lang="en-US" sz="1400" dirty="0">
                <a:solidFill>
                  <a:schemeClr val="tx1"/>
                </a:solidFill>
              </a:rPr>
              <a:t>give the designer a set of Pareto-optimal placements, where no objective can improve without another getting worse.</a:t>
            </a:r>
            <a:endParaRPr lang="en-US" sz="1400" dirty="0"/>
          </a:p>
        </p:txBody>
      </p:sp>
      <p:sp>
        <p:nvSpPr>
          <p:cNvPr id="4" name="ax-y"/>
          <p:cNvSpPr/>
          <p:nvPr/>
        </p:nvSpPr>
        <p:spPr>
          <a:xfrm>
            <a:off x="6355080" y="777240"/>
            <a:ext cx="0" cy="1463040"/>
          </a:xfrm>
          <a:prstGeom prst="line">
            <a:avLst/>
          </a:prstGeom>
          <a:noFill/>
          <a:ln w="12700">
            <a:solidFill>
              <a:schemeClr val="tx2"/>
            </a:solidFill>
            <a:prstDash val="solid"/>
          </a:ln>
        </p:spPr>
      </p:sp>
      <p:sp>
        <p:nvSpPr>
          <p:cNvPr id="5" name="ax-x"/>
          <p:cNvSpPr/>
          <p:nvPr/>
        </p:nvSpPr>
        <p:spPr>
          <a:xfrm>
            <a:off x="6355080" y="2240280"/>
            <a:ext cx="2286000" cy="0"/>
          </a:xfrm>
          <a:prstGeom prst="line">
            <a:avLst/>
          </a:prstGeom>
          <a:noFill/>
          <a:ln w="12700">
            <a:solidFill>
              <a:schemeClr val="tx2"/>
            </a:solidFill>
            <a:prstDash val="solid"/>
          </a:ln>
        </p:spPr>
      </p:sp>
      <p:sp>
        <p:nvSpPr>
          <p:cNvPr id="6" name="pf-0"/>
          <p:cNvSpPr/>
          <p:nvPr/>
        </p:nvSpPr>
        <p:spPr>
          <a:xfrm>
            <a:off x="6483096" y="868680"/>
            <a:ext cx="109728" cy="109728"/>
          </a:xfrm>
          <a:prstGeom prst="ellipse">
            <a:avLst/>
          </a:prstGeom>
          <a:solidFill>
            <a:schemeClr val="accent1"/>
          </a:solidFill>
          <a:ln/>
        </p:spPr>
      </p:sp>
      <p:sp>
        <p:nvSpPr>
          <p:cNvPr id="7" name="pf-1"/>
          <p:cNvSpPr/>
          <p:nvPr/>
        </p:nvSpPr>
        <p:spPr>
          <a:xfrm>
            <a:off x="6711696" y="1336853"/>
            <a:ext cx="109728" cy="109728"/>
          </a:xfrm>
          <a:prstGeom prst="ellipse">
            <a:avLst/>
          </a:prstGeom>
          <a:solidFill>
            <a:schemeClr val="accent1"/>
          </a:solidFill>
          <a:ln/>
        </p:spPr>
      </p:sp>
      <p:sp>
        <p:nvSpPr>
          <p:cNvPr id="8" name="pf-2"/>
          <p:cNvSpPr/>
          <p:nvPr/>
        </p:nvSpPr>
        <p:spPr>
          <a:xfrm>
            <a:off x="7031736" y="1629461"/>
            <a:ext cx="109728" cy="109728"/>
          </a:xfrm>
          <a:prstGeom prst="ellipse">
            <a:avLst/>
          </a:prstGeom>
          <a:solidFill>
            <a:schemeClr val="accent1"/>
          </a:solidFill>
          <a:ln/>
        </p:spPr>
      </p:sp>
      <p:sp>
        <p:nvSpPr>
          <p:cNvPr id="9" name="pf-3"/>
          <p:cNvSpPr/>
          <p:nvPr/>
        </p:nvSpPr>
        <p:spPr>
          <a:xfrm>
            <a:off x="7443216" y="1834286"/>
            <a:ext cx="109728" cy="109728"/>
          </a:xfrm>
          <a:prstGeom prst="ellipse">
            <a:avLst/>
          </a:prstGeom>
          <a:solidFill>
            <a:schemeClr val="accent1"/>
          </a:solidFill>
          <a:ln/>
        </p:spPr>
      </p:sp>
      <p:sp>
        <p:nvSpPr>
          <p:cNvPr id="10" name="pf-4"/>
          <p:cNvSpPr/>
          <p:nvPr/>
        </p:nvSpPr>
        <p:spPr>
          <a:xfrm>
            <a:off x="7946136" y="1980590"/>
            <a:ext cx="109728" cy="109728"/>
          </a:xfrm>
          <a:prstGeom prst="ellipse">
            <a:avLst/>
          </a:prstGeom>
          <a:solidFill>
            <a:schemeClr val="accent1"/>
          </a:solidFill>
          <a:ln/>
        </p:spPr>
      </p:sp>
      <p:sp>
        <p:nvSpPr>
          <p:cNvPr id="11" name="pf-5"/>
          <p:cNvSpPr/>
          <p:nvPr/>
        </p:nvSpPr>
        <p:spPr>
          <a:xfrm>
            <a:off x="8403336" y="2068373"/>
            <a:ext cx="109728" cy="109728"/>
          </a:xfrm>
          <a:prstGeom prst="ellipse">
            <a:avLst/>
          </a:prstGeom>
          <a:solidFill>
            <a:schemeClr val="accent1"/>
          </a:solidFill>
          <a:ln/>
        </p:spPr>
      </p:sp>
      <p:sp>
        <p:nvSpPr>
          <p:cNvPr id="12" name="dom-0"/>
          <p:cNvSpPr/>
          <p:nvPr/>
        </p:nvSpPr>
        <p:spPr>
          <a:xfrm>
            <a:off x="7338060" y="1316736"/>
            <a:ext cx="91440" cy="91440"/>
          </a:xfrm>
          <a:prstGeom prst="ellipse">
            <a:avLst/>
          </a:prstGeom>
          <a:solidFill>
            <a:schemeClr val="accent5"/>
          </a:solidFill>
          <a:ln/>
        </p:spPr>
      </p:sp>
      <p:sp>
        <p:nvSpPr>
          <p:cNvPr id="13" name="dom-1"/>
          <p:cNvSpPr/>
          <p:nvPr/>
        </p:nvSpPr>
        <p:spPr>
          <a:xfrm>
            <a:off x="7909560" y="1463040"/>
            <a:ext cx="91440" cy="91440"/>
          </a:xfrm>
          <a:prstGeom prst="ellipse">
            <a:avLst/>
          </a:prstGeom>
          <a:solidFill>
            <a:schemeClr val="accent5"/>
          </a:solidFill>
          <a:ln/>
        </p:spPr>
      </p:sp>
      <p:sp>
        <p:nvSpPr>
          <p:cNvPr id="14" name="dom-2"/>
          <p:cNvSpPr/>
          <p:nvPr/>
        </p:nvSpPr>
        <p:spPr>
          <a:xfrm>
            <a:off x="6995160" y="1024128"/>
            <a:ext cx="91440" cy="91440"/>
          </a:xfrm>
          <a:prstGeom prst="ellipse">
            <a:avLst/>
          </a:prstGeom>
          <a:solidFill>
            <a:schemeClr val="accent5"/>
          </a:solidFill>
          <a:ln/>
        </p:spPr>
      </p:sp>
      <p:sp>
        <p:nvSpPr>
          <p:cNvPr id="15" name="Text 13"/>
          <p:cNvSpPr txBox="1"/>
          <p:nvPr/>
        </p:nvSpPr>
        <p:spPr>
          <a:xfrm>
            <a:off x="6355080" y="2267712"/>
            <a:ext cx="2286000" cy="201168"/>
          </a:xfrm>
          <a:prstGeom prst="rect">
            <a:avLst/>
          </a:prstGeom>
          <a:noFill/>
          <a:ln/>
        </p:spPr>
        <p:txBody>
          <a:bodyPr wrap="square" lIns="0" tIns="0" rIns="0" bIns="0" rtlCol="0" anchor="t"/>
          <a:lstStyle/>
          <a:p>
            <a:pPr algn="ctr" indent="0" marL="0">
              <a:buNone/>
            </a:pPr>
            <a:r>
              <a:rPr lang="en-US" sz="1000" dirty="0">
                <a:solidFill>
                  <a:schemeClr val="tx2"/>
                </a:solidFill>
              </a:rPr>
              <a:t>wirelength</a:t>
            </a:r>
            <a:endParaRPr lang="en-US" sz="1000" dirty="0"/>
          </a:p>
        </p:txBody>
      </p:sp>
      <p:sp>
        <p:nvSpPr>
          <p:cNvPr id="16" name="Text 14"/>
          <p:cNvSpPr txBox="1"/>
          <p:nvPr/>
        </p:nvSpPr>
        <p:spPr>
          <a:xfrm>
            <a:off x="6903720" y="731520"/>
            <a:ext cx="1737360" cy="228600"/>
          </a:xfrm>
          <a:prstGeom prst="rect">
            <a:avLst/>
          </a:prstGeom>
          <a:noFill/>
          <a:ln/>
        </p:spPr>
        <p:txBody>
          <a:bodyPr wrap="square" lIns="0" tIns="0" rIns="0" bIns="0" rtlCol="0" anchor="t"/>
          <a:lstStyle/>
          <a:p>
            <a:pPr algn="r" indent="0" marL="0">
              <a:buNone/>
            </a:pPr>
            <a:r>
              <a:rPr lang="en-US" sz="1000" b="1" dirty="0">
                <a:solidFill>
                  <a:schemeClr val="accent1"/>
                </a:solidFill>
              </a:rPr>
              <a:t>Pareto front (illustration)</a:t>
            </a:r>
            <a:endParaRPr lang="en-US" sz="1000" dirty="0"/>
          </a:p>
        </p:txBody>
      </p:sp>
      <p:sp>
        <p:nvSpPr>
          <p:cNvPr id="17" name="appr-0"/>
          <p:cNvSpPr/>
          <p:nvPr/>
        </p:nvSpPr>
        <p:spPr>
          <a:xfrm>
            <a:off x="365760" y="2514600"/>
            <a:ext cx="2651760" cy="1737360"/>
          </a:xfrm>
          <a:prstGeom prst="roundRect">
            <a:avLst>
              <a:gd name="adj" fmla="val 3158"/>
            </a:avLst>
          </a:prstGeom>
          <a:solidFill>
            <a:schemeClr val="bg2"/>
          </a:solidFill>
          <a:ln/>
        </p:spPr>
      </p:sp>
      <p:sp>
        <p:nvSpPr>
          <p:cNvPr id="18" name="Text 16"/>
          <p:cNvSpPr txBox="1"/>
          <p:nvPr/>
        </p:nvSpPr>
        <p:spPr>
          <a:xfrm>
            <a:off x="530352" y="2587752"/>
            <a:ext cx="233172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BASELINE</a:t>
            </a:r>
            <a:endParaRPr lang="en-US" sz="1100" dirty="0"/>
          </a:p>
        </p:txBody>
      </p:sp>
      <p:sp>
        <p:nvSpPr>
          <p:cNvPr id="19" name="Text 17"/>
          <p:cNvSpPr txBox="1"/>
          <p:nvPr/>
        </p:nvSpPr>
        <p:spPr>
          <a:xfrm>
            <a:off x="530352" y="2816352"/>
            <a:ext cx="2377440" cy="457200"/>
          </a:xfrm>
          <a:prstGeom prst="rect">
            <a:avLst/>
          </a:prstGeom>
          <a:noFill/>
          <a:ln/>
        </p:spPr>
        <p:txBody>
          <a:bodyPr wrap="square" lIns="0" tIns="0" rIns="0" bIns="0" rtlCol="0" anchor="t"/>
          <a:lstStyle/>
          <a:p>
            <a:pPr indent="0" marL="0">
              <a:buNone/>
            </a:pPr>
            <a:r>
              <a:rPr lang="en-US" sz="1400" b="1" dirty="0">
                <a:solidFill>
                  <a:schemeClr val="tx1"/>
                </a:solidFill>
              </a:rPr>
              <a:t>One regulator per trade-off</a:t>
            </a:r>
            <a:endParaRPr lang="en-US" sz="1400" dirty="0"/>
          </a:p>
        </p:txBody>
      </p:sp>
      <p:sp>
        <p:nvSpPr>
          <p:cNvPr id="20" name="Text 18"/>
          <p:cNvSpPr txBox="1"/>
          <p:nvPr/>
        </p:nvSpPr>
        <p:spPr>
          <a:xfrm>
            <a:off x="530352" y="3310128"/>
            <a:ext cx="2377440" cy="914400"/>
          </a:xfrm>
          <a:prstGeom prst="rect">
            <a:avLst/>
          </a:prstGeom>
          <a:noFill/>
          <a:ln/>
        </p:spPr>
        <p:txBody>
          <a:bodyPr wrap="square" lIns="0" tIns="0" rIns="0" bIns="0" rtlCol="0" anchor="t"/>
          <a:lstStyle/>
          <a:p>
            <a:pPr indent="0" marL="0">
              <a:buNone/>
            </a:pPr>
            <a:r>
              <a:rPr lang="en-US" sz="1200" dirty="0">
                <a:solidFill>
                  <a:schemeClr val="tx1"/>
                </a:solidFill>
              </a:rPr>
              <a:t>Separate regulators for several weight settings; cost grows with the number of settings.</a:t>
            </a:r>
            <a:endParaRPr lang="en-US" sz="1200" dirty="0"/>
          </a:p>
        </p:txBody>
      </p:sp>
      <p:sp>
        <p:nvSpPr>
          <p:cNvPr id="21" name="appr-1"/>
          <p:cNvSpPr/>
          <p:nvPr/>
        </p:nvSpPr>
        <p:spPr>
          <a:xfrm>
            <a:off x="3200400" y="2514600"/>
            <a:ext cx="2651760" cy="1737360"/>
          </a:xfrm>
          <a:prstGeom prst="roundRect">
            <a:avLst>
              <a:gd name="adj" fmla="val 3158"/>
            </a:avLst>
          </a:prstGeom>
          <a:solidFill>
            <a:schemeClr val="accent1"/>
          </a:solidFill>
          <a:ln/>
        </p:spPr>
      </p:sp>
      <p:sp>
        <p:nvSpPr>
          <p:cNvPr id="22" name="Text 20"/>
          <p:cNvSpPr txBox="1"/>
          <p:nvPr/>
        </p:nvSpPr>
        <p:spPr>
          <a:xfrm>
            <a:off x="3364992" y="2587752"/>
            <a:ext cx="233172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PROPOSED</a:t>
            </a:r>
            <a:endParaRPr lang="en-US" sz="1100" dirty="0"/>
          </a:p>
        </p:txBody>
      </p:sp>
      <p:sp>
        <p:nvSpPr>
          <p:cNvPr id="23" name="Text 21"/>
          <p:cNvSpPr txBox="1"/>
          <p:nvPr/>
        </p:nvSpPr>
        <p:spPr>
          <a:xfrm>
            <a:off x="3364992" y="2816352"/>
            <a:ext cx="2377440" cy="457200"/>
          </a:xfrm>
          <a:prstGeom prst="rect">
            <a:avLst/>
          </a:prstGeom>
          <a:noFill/>
          <a:ln/>
        </p:spPr>
        <p:txBody>
          <a:bodyPr wrap="square" lIns="0" tIns="0" rIns="0" bIns="0" rtlCol="0" anchor="t"/>
          <a:lstStyle/>
          <a:p>
            <a:pPr indent="0" marL="0">
              <a:buNone/>
            </a:pPr>
            <a:r>
              <a:rPr lang="en-US" sz="1400" b="1" dirty="0">
                <a:solidFill>
                  <a:schemeClr val="bg1"/>
                </a:solidFill>
              </a:rPr>
              <a:t>One preference-conditioned regulator</a:t>
            </a:r>
            <a:endParaRPr lang="en-US" sz="1400" dirty="0"/>
          </a:p>
        </p:txBody>
      </p:sp>
      <p:sp>
        <p:nvSpPr>
          <p:cNvPr id="24" name="Text 22"/>
          <p:cNvSpPr txBox="1"/>
          <p:nvPr/>
        </p:nvSpPr>
        <p:spPr>
          <a:xfrm>
            <a:off x="3364992" y="3310128"/>
            <a:ext cx="2377440" cy="914400"/>
          </a:xfrm>
          <a:prstGeom prst="rect">
            <a:avLst/>
          </a:prstGeom>
          <a:noFill/>
          <a:ln/>
        </p:spPr>
        <p:txBody>
          <a:bodyPr wrap="square" lIns="0" tIns="0" rIns="0" bIns="0" rtlCol="0" anchor="t"/>
          <a:lstStyle/>
          <a:p>
            <a:pPr indent="0" marL="0">
              <a:buNone/>
            </a:pPr>
            <a:r>
              <a:rPr lang="en-US" sz="1200" dirty="0">
                <a:solidFill>
                  <a:schemeClr val="bg1"/>
                </a:solidFill>
              </a:rPr>
              <a:t>Preference weights are an extra input; random during training, chosen by the designer at test time.</a:t>
            </a:r>
            <a:endParaRPr lang="en-US" sz="1200" dirty="0"/>
          </a:p>
        </p:txBody>
      </p:sp>
      <p:sp>
        <p:nvSpPr>
          <p:cNvPr id="25" name="appr-2"/>
          <p:cNvSpPr/>
          <p:nvPr/>
        </p:nvSpPr>
        <p:spPr>
          <a:xfrm>
            <a:off x="6035040" y="2514600"/>
            <a:ext cx="2651760" cy="1737360"/>
          </a:xfrm>
          <a:prstGeom prst="roundRect">
            <a:avLst>
              <a:gd name="adj" fmla="val 3158"/>
            </a:avLst>
          </a:prstGeom>
          <a:solidFill>
            <a:schemeClr val="bg2"/>
          </a:solidFill>
          <a:ln/>
        </p:spPr>
      </p:sp>
      <p:sp>
        <p:nvSpPr>
          <p:cNvPr id="26" name="Text 24"/>
          <p:cNvSpPr txBox="1"/>
          <p:nvPr/>
        </p:nvSpPr>
        <p:spPr>
          <a:xfrm>
            <a:off x="6199632" y="2587752"/>
            <a:ext cx="233172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REFINEMENT</a:t>
            </a:r>
            <a:endParaRPr lang="en-US" sz="1100" dirty="0"/>
          </a:p>
        </p:txBody>
      </p:sp>
      <p:sp>
        <p:nvSpPr>
          <p:cNvPr id="27" name="Text 25"/>
          <p:cNvSpPr txBox="1"/>
          <p:nvPr/>
        </p:nvSpPr>
        <p:spPr>
          <a:xfrm>
            <a:off x="6199632" y="2816352"/>
            <a:ext cx="2377440" cy="457200"/>
          </a:xfrm>
          <a:prstGeom prst="rect">
            <a:avLst/>
          </a:prstGeom>
          <a:noFill/>
          <a:ln/>
        </p:spPr>
        <p:txBody>
          <a:bodyPr wrap="square" lIns="0" tIns="0" rIns="0" bIns="0" rtlCol="0" anchor="t"/>
          <a:lstStyle/>
          <a:p>
            <a:pPr indent="0" marL="0">
              <a:buNone/>
            </a:pPr>
            <a:r>
              <a:rPr lang="en-US" sz="1400" b="1" dirty="0">
                <a:solidFill>
                  <a:schemeClr val="tx1"/>
                </a:solidFill>
              </a:rPr>
              <a:t>Reach balanced trade-offs</a:t>
            </a:r>
            <a:endParaRPr lang="en-US" sz="1400" dirty="0"/>
          </a:p>
        </p:txBody>
      </p:sp>
      <p:sp>
        <p:nvSpPr>
          <p:cNvPr id="28" name="Text 26"/>
          <p:cNvSpPr txBox="1"/>
          <p:nvPr/>
        </p:nvSpPr>
        <p:spPr>
          <a:xfrm>
            <a:off x="6199632" y="3310128"/>
            <a:ext cx="2377440" cy="914400"/>
          </a:xfrm>
          <a:prstGeom prst="rect">
            <a:avLst/>
          </a:prstGeom>
          <a:noFill/>
          <a:ln/>
        </p:spPr>
        <p:txBody>
          <a:bodyPr wrap="square" lIns="0" tIns="0" rIns="0" bIns="0" rtlCol="0" anchor="t"/>
          <a:lstStyle/>
          <a:p>
            <a:pPr indent="0" marL="0">
              <a:buNone/>
            </a:pPr>
            <a:r>
              <a:rPr lang="en-US" sz="1200" dirty="0">
                <a:solidFill>
                  <a:schemeClr val="tx1"/>
                </a:solidFill>
              </a:rPr>
              <a:t>Chebyshev rule: score a layout by its worst-weighted objective.</a:t>
            </a:r>
            <a:endParaRPr lang="en-US" sz="1200" dirty="0"/>
          </a:p>
        </p:txBody>
      </p:sp>
      <p:sp>
        <p:nvSpPr>
          <p:cNvPr id="29" name="Text 27"/>
          <p:cNvSpPr txBox="1"/>
          <p:nvPr/>
        </p:nvSpPr>
        <p:spPr>
          <a:xfrm>
            <a:off x="365760" y="4370832"/>
            <a:ext cx="8412480" cy="365760"/>
          </a:xfrm>
          <a:prstGeom prst="rect">
            <a:avLst/>
          </a:prstGeom>
          <a:noFill/>
          <a:ln/>
        </p:spPr>
        <p:txBody>
          <a:bodyPr wrap="square" lIns="0" tIns="0" rIns="0" bIns="0" rtlCol="0" anchor="t"/>
          <a:lstStyle/>
          <a:p>
            <a:pPr indent="0" marL="0">
              <a:buNone/>
            </a:pPr>
            <a:r>
              <a:rPr lang="en-US" sz="1400" b="1" dirty="0">
                <a:solidFill>
                  <a:schemeClr val="accent1"/>
                </a:solidFill>
              </a:rPr>
              <a:t>Judging a set: </a:t>
            </a:r>
            <a:r>
              <a:rPr lang="en-US" sz="1400" dirty="0">
                <a:solidFill>
                  <a:schemeClr val="tx1"/>
                </a:solidFill>
              </a:rPr>
              <a:t>hypervolume (higher = better and more varied placements), over 35 preference settings.</a:t>
            </a:r>
            <a:endParaRPr lang="en-US" sz="14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Linking the Papers and Conclusion</a:t>
            </a:r>
            <a:endParaRPr lang="en-US" sz="2600" dirty="0"/>
          </a:p>
        </p:txBody>
      </p:sp>
      <p:sp>
        <p:nvSpPr>
          <p:cNvPr id="3" name="chain-0"/>
          <p:cNvSpPr/>
          <p:nvPr/>
        </p:nvSpPr>
        <p:spPr>
          <a:xfrm>
            <a:off x="365760" y="822960"/>
            <a:ext cx="2514600" cy="1143000"/>
          </a:xfrm>
          <a:prstGeom prst="roundRect">
            <a:avLst>
              <a:gd name="adj" fmla="val 4800"/>
            </a:avLst>
          </a:prstGeom>
          <a:solidFill>
            <a:schemeClr val="bg2"/>
          </a:solidFill>
          <a:ln/>
        </p:spPr>
      </p:sp>
      <p:sp>
        <p:nvSpPr>
          <p:cNvPr id="4" name="Text 2"/>
          <p:cNvSpPr txBox="1"/>
          <p:nvPr/>
        </p:nvSpPr>
        <p:spPr>
          <a:xfrm>
            <a:off x="502920" y="896112"/>
            <a:ext cx="2240280" cy="365760"/>
          </a:xfrm>
          <a:prstGeom prst="rect">
            <a:avLst/>
          </a:prstGeom>
          <a:noFill/>
          <a:ln/>
        </p:spPr>
        <p:txBody>
          <a:bodyPr wrap="square" lIns="0" tIns="0" rIns="0" bIns="0" rtlCol="0" anchor="t"/>
          <a:lstStyle/>
          <a:p>
            <a:pPr algn="ctr" indent="0" marL="0">
              <a:buNone/>
            </a:pPr>
            <a:r>
              <a:rPr lang="en-US" sz="1700" b="1" dirty="0">
                <a:solidFill>
                  <a:schemeClr val="accent1"/>
                </a:solidFill>
              </a:rPr>
              <a:t>Diffusion model</a:t>
            </a:r>
            <a:endParaRPr lang="en-US" sz="1700" dirty="0"/>
          </a:p>
        </p:txBody>
      </p:sp>
      <p:sp>
        <p:nvSpPr>
          <p:cNvPr id="5" name="Text 3"/>
          <p:cNvSpPr txBox="1"/>
          <p:nvPr/>
        </p:nvSpPr>
        <p:spPr>
          <a:xfrm>
            <a:off x="502920" y="1280160"/>
            <a:ext cx="2240280" cy="594360"/>
          </a:xfrm>
          <a:prstGeom prst="rect">
            <a:avLst/>
          </a:prstGeom>
          <a:noFill/>
          <a:ln/>
        </p:spPr>
        <p:txBody>
          <a:bodyPr wrap="square" lIns="0" tIns="0" rIns="0" bIns="0" rtlCol="0" anchor="t"/>
          <a:lstStyle/>
          <a:p>
            <a:pPr algn="ctr" indent="0" marL="0">
              <a:buNone/>
            </a:pPr>
            <a:r>
              <a:rPr lang="en-US" sz="1300" dirty="0">
                <a:solidFill>
                  <a:schemeClr val="tx1"/>
                </a:solidFill>
              </a:rPr>
              <a:t>draft layout (Paper A)</a:t>
            </a:r>
            <a:endParaRPr lang="en-US" sz="1300" dirty="0"/>
          </a:p>
        </p:txBody>
      </p:sp>
      <p:sp>
        <p:nvSpPr>
          <p:cNvPr id="6" name="chain-arrow-0"/>
          <p:cNvSpPr/>
          <p:nvPr/>
        </p:nvSpPr>
        <p:spPr>
          <a:xfrm>
            <a:off x="2926080" y="1261872"/>
            <a:ext cx="292608" cy="256032"/>
          </a:xfrm>
          <a:prstGeom prst="rightArrow">
            <a:avLst/>
          </a:prstGeom>
          <a:solidFill>
            <a:schemeClr val="accent1"/>
          </a:solidFill>
          <a:ln/>
        </p:spPr>
      </p:sp>
      <p:sp>
        <p:nvSpPr>
          <p:cNvPr id="7" name="chain-1"/>
          <p:cNvSpPr/>
          <p:nvPr/>
        </p:nvSpPr>
        <p:spPr>
          <a:xfrm>
            <a:off x="3246120" y="822960"/>
            <a:ext cx="2514600" cy="1143000"/>
          </a:xfrm>
          <a:prstGeom prst="roundRect">
            <a:avLst>
              <a:gd name="adj" fmla="val 4800"/>
            </a:avLst>
          </a:prstGeom>
          <a:solidFill>
            <a:schemeClr val="accent1"/>
          </a:solidFill>
          <a:ln/>
        </p:spPr>
      </p:sp>
      <p:sp>
        <p:nvSpPr>
          <p:cNvPr id="8" name="Text 6"/>
          <p:cNvSpPr txBox="1"/>
          <p:nvPr/>
        </p:nvSpPr>
        <p:spPr>
          <a:xfrm>
            <a:off x="3383280" y="896112"/>
            <a:ext cx="2240280" cy="365760"/>
          </a:xfrm>
          <a:prstGeom prst="rect">
            <a:avLst/>
          </a:prstGeom>
          <a:noFill/>
          <a:ln/>
        </p:spPr>
        <p:txBody>
          <a:bodyPr wrap="square" lIns="0" tIns="0" rIns="0" bIns="0" rtlCol="0" anchor="t"/>
          <a:lstStyle/>
          <a:p>
            <a:pPr algn="ctr" indent="0" marL="0">
              <a:buNone/>
            </a:pPr>
            <a:r>
              <a:rPr lang="en-US" sz="1700" b="1" dirty="0">
                <a:solidFill>
                  <a:schemeClr val="bg1"/>
                </a:solidFill>
              </a:rPr>
              <a:t>RL regulator</a:t>
            </a:r>
            <a:endParaRPr lang="en-US" sz="1700" dirty="0"/>
          </a:p>
        </p:txBody>
      </p:sp>
      <p:sp>
        <p:nvSpPr>
          <p:cNvPr id="9" name="Text 7"/>
          <p:cNvSpPr txBox="1"/>
          <p:nvPr/>
        </p:nvSpPr>
        <p:spPr>
          <a:xfrm>
            <a:off x="3383280" y="1280160"/>
            <a:ext cx="2240280" cy="594360"/>
          </a:xfrm>
          <a:prstGeom prst="rect">
            <a:avLst/>
          </a:prstGeom>
          <a:noFill/>
          <a:ln/>
        </p:spPr>
        <p:txBody>
          <a:bodyPr wrap="square" lIns="0" tIns="0" rIns="0" bIns="0" rtlCol="0" anchor="t"/>
          <a:lstStyle/>
          <a:p>
            <a:pPr algn="ctr" indent="0" marL="0">
              <a:buNone/>
            </a:pPr>
            <a:r>
              <a:rPr lang="en-US" sz="1300" dirty="0">
                <a:solidFill>
                  <a:schemeClr val="bg1"/>
                </a:solidFill>
              </a:rPr>
              <a:t>timing/congestion-aware,</a:t>
            </a:r>
            <a:endParaRPr lang="en-US" sz="1300" dirty="0"/>
          </a:p>
          <a:p>
            <a:pPr algn="ctr" indent="0" marL="0">
              <a:buNone/>
            </a:pPr>
            <a:r>
              <a:rPr lang="en-US" sz="1300" dirty="0">
                <a:solidFill>
                  <a:schemeClr val="bg1"/>
                </a:solidFill>
              </a:rPr>
              <a:t>multi-objective</a:t>
            </a:r>
            <a:endParaRPr lang="en-US" sz="1300" dirty="0"/>
          </a:p>
        </p:txBody>
      </p:sp>
      <p:sp>
        <p:nvSpPr>
          <p:cNvPr id="10" name="chain-arrow-1"/>
          <p:cNvSpPr/>
          <p:nvPr/>
        </p:nvSpPr>
        <p:spPr>
          <a:xfrm>
            <a:off x="5806440" y="1261872"/>
            <a:ext cx="292608" cy="256032"/>
          </a:xfrm>
          <a:prstGeom prst="rightArrow">
            <a:avLst/>
          </a:prstGeom>
          <a:solidFill>
            <a:schemeClr val="accent1"/>
          </a:solidFill>
          <a:ln/>
        </p:spPr>
      </p:sp>
      <p:sp>
        <p:nvSpPr>
          <p:cNvPr id="11" name="chain-2"/>
          <p:cNvSpPr/>
          <p:nvPr/>
        </p:nvSpPr>
        <p:spPr>
          <a:xfrm>
            <a:off x="6126480" y="822960"/>
            <a:ext cx="2514600" cy="1143000"/>
          </a:xfrm>
          <a:prstGeom prst="roundRect">
            <a:avLst>
              <a:gd name="adj" fmla="val 4800"/>
            </a:avLst>
          </a:prstGeom>
          <a:solidFill>
            <a:schemeClr val="bg2"/>
          </a:solidFill>
          <a:ln/>
        </p:spPr>
      </p:sp>
      <p:sp>
        <p:nvSpPr>
          <p:cNvPr id="12" name="Text 10"/>
          <p:cNvSpPr txBox="1"/>
          <p:nvPr/>
        </p:nvSpPr>
        <p:spPr>
          <a:xfrm>
            <a:off x="6263640" y="896112"/>
            <a:ext cx="2240280" cy="365760"/>
          </a:xfrm>
          <a:prstGeom prst="rect">
            <a:avLst/>
          </a:prstGeom>
          <a:noFill/>
          <a:ln/>
        </p:spPr>
        <p:txBody>
          <a:bodyPr wrap="square" lIns="0" tIns="0" rIns="0" bIns="0" rtlCol="0" anchor="t"/>
          <a:lstStyle/>
          <a:p>
            <a:pPr algn="ctr" indent="0" marL="0">
              <a:buNone/>
            </a:pPr>
            <a:r>
              <a:rPr lang="en-US" sz="1700" b="1" dirty="0">
                <a:solidFill>
                  <a:schemeClr val="accent1"/>
                </a:solidFill>
              </a:rPr>
              <a:t>Final layout</a:t>
            </a:r>
            <a:endParaRPr lang="en-US" sz="1700" dirty="0"/>
          </a:p>
        </p:txBody>
      </p:sp>
      <p:sp>
        <p:nvSpPr>
          <p:cNvPr id="13" name="Text 11"/>
          <p:cNvSpPr txBox="1"/>
          <p:nvPr/>
        </p:nvSpPr>
        <p:spPr>
          <a:xfrm>
            <a:off x="6263640" y="1280160"/>
            <a:ext cx="2240280" cy="594360"/>
          </a:xfrm>
          <a:prstGeom prst="rect">
            <a:avLst/>
          </a:prstGeom>
          <a:noFill/>
          <a:ln/>
        </p:spPr>
        <p:txBody>
          <a:bodyPr wrap="square" lIns="0" tIns="0" rIns="0" bIns="0" rtlCol="0" anchor="t"/>
          <a:lstStyle/>
          <a:p>
            <a:pPr algn="ctr" indent="0" marL="0">
              <a:buNone/>
            </a:pPr>
            <a:r>
              <a:rPr lang="en-US" sz="1300" dirty="0">
                <a:solidFill>
                  <a:schemeClr val="tx1"/>
                </a:solidFill>
              </a:rPr>
              <a:t>better PPA</a:t>
            </a:r>
            <a:endParaRPr lang="en-US" sz="1300" dirty="0"/>
          </a:p>
        </p:txBody>
      </p:sp>
      <p:sp>
        <p:nvSpPr>
          <p:cNvPr id="14" name="Text 12"/>
          <p:cNvSpPr txBox="1"/>
          <p:nvPr/>
        </p:nvSpPr>
        <p:spPr>
          <a:xfrm>
            <a:off x="365760" y="2103120"/>
            <a:ext cx="8412480" cy="502920"/>
          </a:xfrm>
          <a:prstGeom prst="rect">
            <a:avLst/>
          </a:prstGeom>
          <a:noFill/>
          <a:ln/>
        </p:spPr>
        <p:txBody>
          <a:bodyPr wrap="square" lIns="0" tIns="0" rIns="0" bIns="0" rtlCol="0" anchor="t"/>
          <a:lstStyle/>
          <a:p>
            <a:pPr indent="0" marL="0">
              <a:buNone/>
            </a:pPr>
            <a:r>
              <a:rPr lang="en-US" sz="1400" dirty="0">
                <a:solidFill>
                  <a:schemeClr val="tx2"/>
                </a:solidFill>
              </a:rPr>
              <a:t>The regulator only edits, so a better draft should give a better final layout. Stretch goal: fine-tune the diffusion model with RL.</a:t>
            </a:r>
            <a:endParaRPr lang="en-US" sz="1400" dirty="0"/>
          </a:p>
        </p:txBody>
      </p:sp>
      <p:sp>
        <p:nvSpPr>
          <p:cNvPr id="15" name="Text 13"/>
          <p:cNvSpPr txBox="1"/>
          <p:nvPr/>
        </p:nvSpPr>
        <p:spPr>
          <a:xfrm>
            <a:off x="365760" y="2697480"/>
            <a:ext cx="8412480" cy="292608"/>
          </a:xfrm>
          <a:prstGeom prst="rect">
            <a:avLst/>
          </a:prstGeom>
          <a:noFill/>
          <a:ln/>
        </p:spPr>
        <p:txBody>
          <a:bodyPr wrap="square" lIns="0" tIns="0" rIns="0" bIns="0" rtlCol="0" anchor="t"/>
          <a:lstStyle/>
          <a:p>
            <a:pPr indent="0" marL="0">
              <a:buNone/>
            </a:pPr>
            <a:r>
              <a:rPr lang="en-US" sz="1600" b="1" dirty="0">
                <a:solidFill>
                  <a:schemeClr val="accent1"/>
                </a:solidFill>
              </a:rPr>
              <a:t>In summary</a:t>
            </a:r>
            <a:endParaRPr lang="en-US" sz="1600" dirty="0"/>
          </a:p>
        </p:txBody>
      </p:sp>
      <p:sp>
        <p:nvSpPr>
          <p:cNvPr id="16" name="Text 14"/>
          <p:cNvSpPr txBox="1"/>
          <p:nvPr/>
        </p:nvSpPr>
        <p:spPr>
          <a:xfrm>
            <a:off x="365760" y="3063240"/>
            <a:ext cx="8412480" cy="1645920"/>
          </a:xfrm>
          <a:prstGeom prst="rect">
            <a:avLst/>
          </a:prstGeom>
          <a:noFill/>
          <a:ln/>
        </p:spPr>
        <p:txBody>
          <a:bodyPr wrap="square" lIns="0" tIns="0" rIns="0" bIns="0" rtlCol="0" anchor="t"/>
          <a:lstStyle/>
          <a:p>
            <a:pPr marL="203200" indent="-203200">
              <a:spcAft>
                <a:spcPts val="700"/>
              </a:spcAft>
              <a:buSzPct val="100000"/>
              <a:buChar char="•"/>
            </a:pPr>
            <a:r>
              <a:rPr lang="en-US" sz="1500" b="1" dirty="0">
                <a:solidFill>
                  <a:schemeClr val="tx1"/>
                </a:solidFill>
              </a:rPr>
              <a:t>Literature: </a:t>
            </a:r>
            <a:r>
              <a:rPr lang="en-US" sz="1500" dirty="0">
                <a:solidFill>
                  <a:schemeClr val="tx1"/>
                </a:solidFill>
              </a:rPr>
              <a:t>Paper A drafts fast; Paper B edits accurately. Neither optimises timing or congestion.</a:t>
            </a:r>
            <a:endParaRPr lang="en-US" sz="1500" dirty="0"/>
          </a:p>
          <a:p>
            <a:pPr marL="203200" indent="-203200">
              <a:spcAft>
                <a:spcPts val="700"/>
              </a:spcAft>
              <a:buSzPct val="100000"/>
              <a:buChar char="•"/>
            </a:pPr>
            <a:r>
              <a:rPr lang="en-US" sz="1500" b="1" dirty="0">
                <a:solidFill>
                  <a:schemeClr val="tx1"/>
                </a:solidFill>
              </a:rPr>
              <a:t>Direction 1: </a:t>
            </a:r>
            <a:r>
              <a:rPr lang="en-US" sz="1500" dirty="0">
                <a:solidFill>
                  <a:schemeClr val="tx1"/>
                </a:solidFill>
              </a:rPr>
              <a:t>TimingMask and CongestionMask as new inputs and reward terms.</a:t>
            </a:r>
            <a:endParaRPr lang="en-US" sz="1500" dirty="0"/>
          </a:p>
          <a:p>
            <a:pPr marL="203200" indent="-203200">
              <a:spcAft>
                <a:spcPts val="700"/>
              </a:spcAft>
              <a:buSzPct val="100000"/>
              <a:buChar char="•"/>
            </a:pPr>
            <a:r>
              <a:rPr lang="en-US" sz="1500" b="1" dirty="0">
                <a:solidFill>
                  <a:schemeClr val="tx1"/>
                </a:solidFill>
              </a:rPr>
              <a:t>Direction 2: </a:t>
            </a:r>
            <a:r>
              <a:rPr lang="en-US" sz="1500" dirty="0">
                <a:solidFill>
                  <a:schemeClr val="tx1"/>
                </a:solidFill>
              </a:rPr>
              <a:t>one preference-conditioned regulator returning a set of trade-off placements.</a:t>
            </a:r>
            <a:endParaRPr lang="en-US" sz="1500" dirty="0"/>
          </a:p>
        </p:txBody>
      </p:sp>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228600" y="54864"/>
            <a:ext cx="8686800" cy="457200"/>
          </a:xfrm>
          <a:prstGeom prst="rect">
            <a:avLst/>
          </a:prstGeom>
          <a:noFill/>
          <a:ln/>
        </p:spPr>
        <p:txBody>
          <a:bodyPr wrap="square" lIns="0" tIns="0" rIns="0" bIns="0" rtlCol="0" anchor="ctr"/>
          <a:lstStyle/>
          <a:p>
            <a:pPr algn="l" indent="0" marL="0">
              <a:buNone/>
            </a:pPr>
            <a:r>
              <a:rPr lang="en-US" sz="2600" dirty="0">
                <a:solidFill>
                  <a:schemeClr val="bg1"/>
                </a:solidFill>
              </a:rPr>
              <a:t>Evaluation Plan</a:t>
            </a:r>
            <a:endParaRPr lang="en-US" sz="2600" dirty="0"/>
          </a:p>
        </p:txBody>
      </p:sp>
      <p:sp>
        <p:nvSpPr>
          <p:cNvPr id="3" name="ev-box"/>
          <p:cNvSpPr/>
          <p:nvPr/>
        </p:nvSpPr>
        <p:spPr>
          <a:xfrm>
            <a:off x="365760" y="822960"/>
            <a:ext cx="3108960" cy="3886200"/>
          </a:xfrm>
          <a:prstGeom prst="roundRect">
            <a:avLst>
              <a:gd name="adj" fmla="val 1765"/>
            </a:avLst>
          </a:prstGeom>
          <a:solidFill>
            <a:schemeClr val="bg2"/>
          </a:solidFill>
          <a:ln/>
        </p:spPr>
      </p:sp>
      <p:sp>
        <p:nvSpPr>
          <p:cNvPr id="4" name="Text 2"/>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500" b="1" dirty="0">
                <a:solidFill>
                  <a:schemeClr val="accent1"/>
                </a:solidFill>
              </a:rPr>
              <a:t>Benchmarks</a:t>
            </a:r>
            <a:endParaRPr lang="en-US" sz="1500" dirty="0"/>
          </a:p>
        </p:txBody>
      </p:sp>
      <p:sp>
        <p:nvSpPr>
          <p:cNvPr id="5" name="Text 3"/>
          <p:cNvSpPr txBox="1"/>
          <p:nvPr/>
        </p:nvSpPr>
        <p:spPr>
          <a:xfrm>
            <a:off x="548640" y="1207008"/>
            <a:ext cx="2788920" cy="621792"/>
          </a:xfrm>
          <a:prstGeom prst="rect">
            <a:avLst/>
          </a:prstGeom>
          <a:noFill/>
          <a:ln/>
        </p:spPr>
        <p:txBody>
          <a:bodyPr wrap="square" lIns="0" tIns="0" rIns="0" bIns="0" rtlCol="0" anchor="t"/>
          <a:lstStyle/>
          <a:p>
            <a:pPr indent="0" marL="0">
              <a:buNone/>
            </a:pPr>
            <a:r>
              <a:rPr lang="en-US" sz="1300" dirty="0">
                <a:solidFill>
                  <a:schemeClr val="tx1"/>
                </a:solidFill>
              </a:rPr>
              <a:t>ICCAD 2015 superblue (with timing); ISPD 2005</a:t>
            </a:r>
            <a:endParaRPr lang="en-US" sz="1300" dirty="0"/>
          </a:p>
        </p:txBody>
      </p:sp>
      <p:sp>
        <p:nvSpPr>
          <p:cNvPr id="6" name="Text 4"/>
          <p:cNvSpPr txBox="1"/>
          <p:nvPr/>
        </p:nvSpPr>
        <p:spPr>
          <a:xfrm>
            <a:off x="548640" y="1847088"/>
            <a:ext cx="2743200" cy="274320"/>
          </a:xfrm>
          <a:prstGeom prst="rect">
            <a:avLst/>
          </a:prstGeom>
          <a:noFill/>
          <a:ln/>
        </p:spPr>
        <p:txBody>
          <a:bodyPr wrap="square" lIns="0" tIns="0" rIns="0" bIns="0" rtlCol="0" anchor="t"/>
          <a:lstStyle/>
          <a:p>
            <a:pPr indent="0" marL="0">
              <a:buNone/>
            </a:pPr>
            <a:r>
              <a:rPr lang="en-US" sz="1500" b="1" dirty="0">
                <a:solidFill>
                  <a:schemeClr val="accent1"/>
                </a:solidFill>
              </a:rPr>
              <a:t>Baselines</a:t>
            </a:r>
            <a:endParaRPr lang="en-US" sz="1500" dirty="0"/>
          </a:p>
        </p:txBody>
      </p:sp>
      <p:sp>
        <p:nvSpPr>
          <p:cNvPr id="7" name="Text 5"/>
          <p:cNvSpPr txBox="1"/>
          <p:nvPr/>
        </p:nvSpPr>
        <p:spPr>
          <a:xfrm>
            <a:off x="548640" y="2139696"/>
            <a:ext cx="2788920" cy="621792"/>
          </a:xfrm>
          <a:prstGeom prst="rect">
            <a:avLst/>
          </a:prstGeom>
          <a:noFill/>
          <a:ln/>
        </p:spPr>
        <p:txBody>
          <a:bodyPr wrap="square" lIns="0" tIns="0" rIns="0" bIns="0" rtlCol="0" anchor="t"/>
          <a:lstStyle/>
          <a:p>
            <a:pPr indent="0" marL="0">
              <a:buNone/>
            </a:pPr>
            <a:r>
              <a:rPr lang="en-US" sz="1300" dirty="0">
                <a:solidFill>
                  <a:schemeClr val="tx1"/>
                </a:solidFill>
              </a:rPr>
              <a:t>DREAMPlace, AutoDMP, MaskPlace, MaskRegulate, diffusion placer</a:t>
            </a:r>
            <a:endParaRPr lang="en-US" sz="1300" dirty="0"/>
          </a:p>
        </p:txBody>
      </p:sp>
      <p:sp>
        <p:nvSpPr>
          <p:cNvPr id="8" name="Text 6"/>
          <p:cNvSpPr txBox="1"/>
          <p:nvPr/>
        </p:nvSpPr>
        <p:spPr>
          <a:xfrm>
            <a:off x="548640" y="2779776"/>
            <a:ext cx="2743200" cy="274320"/>
          </a:xfrm>
          <a:prstGeom prst="rect">
            <a:avLst/>
          </a:prstGeom>
          <a:noFill/>
          <a:ln/>
        </p:spPr>
        <p:txBody>
          <a:bodyPr wrap="square" lIns="0" tIns="0" rIns="0" bIns="0" rtlCol="0" anchor="t"/>
          <a:lstStyle/>
          <a:p>
            <a:pPr indent="0" marL="0">
              <a:buNone/>
            </a:pPr>
            <a:r>
              <a:rPr lang="en-US" sz="1500" b="1" dirty="0">
                <a:solidFill>
                  <a:schemeClr val="accent1"/>
                </a:solidFill>
              </a:rPr>
              <a:t>Metrics</a:t>
            </a:r>
            <a:endParaRPr lang="en-US" sz="1500" dirty="0"/>
          </a:p>
        </p:txBody>
      </p:sp>
      <p:sp>
        <p:nvSpPr>
          <p:cNvPr id="9" name="Text 7"/>
          <p:cNvSpPr txBox="1"/>
          <p:nvPr/>
        </p:nvSpPr>
        <p:spPr>
          <a:xfrm>
            <a:off x="548640" y="3072384"/>
            <a:ext cx="2788920" cy="621792"/>
          </a:xfrm>
          <a:prstGeom prst="rect">
            <a:avLst/>
          </a:prstGeom>
          <a:noFill/>
          <a:ln/>
        </p:spPr>
        <p:txBody>
          <a:bodyPr wrap="square" lIns="0" tIns="0" rIns="0" bIns="0" rtlCol="0" anchor="t"/>
          <a:lstStyle/>
          <a:p>
            <a:pPr indent="0" marL="0">
              <a:buNone/>
            </a:pPr>
            <a:r>
              <a:rPr lang="en-US" sz="1300" dirty="0">
                <a:solidFill>
                  <a:schemeClr val="tx1"/>
                </a:solidFill>
              </a:rPr>
              <a:t>Wirelength, overflow, WNS, TNS; hypervolume for sets</a:t>
            </a:r>
            <a:endParaRPr lang="en-US" sz="1300" dirty="0"/>
          </a:p>
        </p:txBody>
      </p:sp>
      <p:sp>
        <p:nvSpPr>
          <p:cNvPr id="10" name="Text 8"/>
          <p:cNvSpPr txBox="1"/>
          <p:nvPr/>
        </p:nvSpPr>
        <p:spPr>
          <a:xfrm>
            <a:off x="548640" y="3712464"/>
            <a:ext cx="2743200" cy="274320"/>
          </a:xfrm>
          <a:prstGeom prst="rect">
            <a:avLst/>
          </a:prstGeom>
          <a:noFill/>
          <a:ln/>
        </p:spPr>
        <p:txBody>
          <a:bodyPr wrap="square" lIns="0" tIns="0" rIns="0" bIns="0" rtlCol="0" anchor="t"/>
          <a:lstStyle/>
          <a:p>
            <a:pPr indent="0" marL="0">
              <a:buNone/>
            </a:pPr>
            <a:r>
              <a:rPr lang="en-US" sz="1500" b="1" dirty="0">
                <a:solidFill>
                  <a:schemeClr val="accent1"/>
                </a:solidFill>
              </a:rPr>
              <a:t>Tools</a:t>
            </a:r>
            <a:endParaRPr lang="en-US" sz="1500" dirty="0"/>
          </a:p>
        </p:txBody>
      </p:sp>
      <p:sp>
        <p:nvSpPr>
          <p:cNvPr id="11" name="Text 9"/>
          <p:cNvSpPr txBox="1"/>
          <p:nvPr/>
        </p:nvSpPr>
        <p:spPr>
          <a:xfrm>
            <a:off x="548640" y="4005072"/>
            <a:ext cx="2788920" cy="621792"/>
          </a:xfrm>
          <a:prstGeom prst="rect">
            <a:avLst/>
          </a:prstGeom>
          <a:noFill/>
          <a:ln/>
        </p:spPr>
        <p:txBody>
          <a:bodyPr wrap="square" lIns="0" tIns="0" rIns="0" bIns="0" rtlCol="0" anchor="t"/>
          <a:lstStyle/>
          <a:p>
            <a:pPr indent="0" marL="0">
              <a:buNone/>
            </a:pPr>
            <a:r>
              <a:rPr lang="en-US" sz="1300" dirty="0">
                <a:solidFill>
                  <a:schemeClr val="tx1"/>
                </a:solidFill>
              </a:rPr>
              <a:t>Cadence Innovus, or the open-source OpenROAD flow</a:t>
            </a:r>
            <a:endParaRPr lang="en-US" sz="1300" dirty="0"/>
          </a:p>
        </p:txBody>
      </p:sp>
      <p:graphicFrame>
        <p:nvGraphicFramePr>
          <p:cNvPr id="14" name="exp-table"/>
          <p:cNvGraphicFramePr>
            <a:graphicFrameLocks noGrp="1"/>
          </p:cNvGraphicFramePr>
          <p:nvPr>
            <p:extLst>
              <p:ext uri="{D42A27DB-BD31-4B8C-83A1-F6EECF244321}">
                <p14:modId xmlns:p14="http://schemas.microsoft.com/office/powerpoint/2010/main" val="1579011935"/>
              </p:ext>
            </p:extLst>
          </p:nvPr>
        </p:nvGraphicFramePr>
        <p:xfrm>
          <a:off x="3657600" y="822960"/>
          <a:ext cx="5120640" cy="914400"/>
        </p:xfrm>
        <a:graphic>
          <a:graphicData uri="http://schemas.openxmlformats.org/drawingml/2006/table">
            <a:tbl>
              <a:tblPr/>
              <a:tblGrid>
                <a:gridCol w="548640"/>
                <a:gridCol w="4572000"/>
              </a:tblGrid>
              <a:tr h="48463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00336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003366"/>
                    </a:solidFill>
                  </a:tcPr>
                </a:tc>
              </a:tr>
              <a:tr h="484632">
                <a:tc>
                  <a:txBody>
                    <a:bodyPr/>
                    <a:lstStyle/>
                    <a:p>
                      <a:pPr indent="0" marL="0">
                        <a:buNone/>
                      </a:pPr>
                      <a:r>
                        <a:rPr lang="en-US" sz="1300" b="1" dirty="0">
                          <a:solidFill>
                            <a:srgbClr val="0000CC"/>
                          </a:solidFill>
                          <a:latin typeface="Calibri" pitchFamily="34" charset="0"/>
                          <a:ea typeface="Calibri" pitchFamily="34" charset="-122"/>
                          <a:cs typeface="Calibri" pitchFamily="34" charset="-120"/>
                        </a:rPr>
                        <a:t>E1</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Can we reproduce MaskRegulate's published numbers?</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0000CC"/>
                          </a:solidFill>
                          <a:latin typeface="Calibri" pitchFamily="34" charset="0"/>
                          <a:ea typeface="Calibri" pitchFamily="34" charset="-122"/>
                          <a:cs typeface="Calibri" pitchFamily="34" charset="-120"/>
                        </a:rPr>
                        <a:t>E2</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Does the TimingMask improve timing, and at what cost?</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0000CC"/>
                          </a:solidFill>
                          <a:latin typeface="Calibri" pitchFamily="34" charset="0"/>
                          <a:ea typeface="Calibri" pitchFamily="34" charset="-122"/>
                          <a:cs typeface="Calibri" pitchFamily="34" charset="-120"/>
                        </a:rPr>
                        <a:t>E3</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Does the CongestionMask reduce overflow beyond regularity?</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0000CC"/>
                          </a:solidFill>
                          <a:latin typeface="Calibri" pitchFamily="34" charset="0"/>
                          <a:ea typeface="Calibri" pitchFamily="34" charset="-122"/>
                          <a:cs typeface="Calibri" pitchFamily="34" charset="-120"/>
                        </a:rPr>
                        <a:t>E4</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Do timing and congestion pull in different directions?</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0000CC"/>
                          </a:solidFill>
                          <a:latin typeface="Calibri" pitchFamily="34" charset="0"/>
                          <a:ea typeface="Calibri" pitchFamily="34" charset="-122"/>
                          <a:cs typeface="Calibri" pitchFamily="34" charset="-120"/>
                        </a:rPr>
                        <a:t>E5</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Can one conditioned policy replace many regulators?</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0000CC"/>
                          </a:solidFill>
                          <a:latin typeface="Calibri" pitchFamily="34" charset="0"/>
                          <a:ea typeface="Calibri" pitchFamily="34" charset="-122"/>
                          <a:cs typeface="Calibri" pitchFamily="34" charset="-120"/>
                        </a:rPr>
                        <a:t>E6</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Does a diffusion start improve the final layout?</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0000CC"/>
                          </a:solidFill>
                          <a:latin typeface="Calibri" pitchFamily="34" charset="0"/>
                          <a:ea typeface="Calibri" pitchFamily="34" charset="-122"/>
                          <a:cs typeface="Calibri" pitchFamily="34" charset="-120"/>
                        </a:rPr>
                        <a:t>E7</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300" dirty="0">
                          <a:solidFill>
                            <a:srgbClr val="111111"/>
                          </a:solidFill>
                          <a:latin typeface="Calibri" pitchFamily="34" charset="0"/>
                          <a:ea typeface="Calibri" pitchFamily="34" charset="-122"/>
                          <a:cs typeface="Calibri" pitchFamily="34" charset="-120"/>
                        </a:rPr>
                        <a:t>Does it work on chips it has not seen?</a:t>
                      </a:r>
                      <a:endParaRPr lang="en-US" sz="1300" dirty="0">
                        <a:latin typeface="Calibri" charset="0"/>
                        <a:ea typeface="Calibri" charset="0"/>
                        <a:cs typeface="Calibri" charset="0"/>
                      </a:endParaRPr>
                    </a:p>
                  </a:txBody>
                  <a:tcPr marL="91440" marR="91440" marT="27432" marB="27432" anchor="ctr">
                    <a:lnL w="6350" cap="flat" cmpd="sng" algn="ctr">
                      <a:solidFill>
                        <a:srgbClr val="D0D0D8"/>
                      </a:solidFill>
                      <a:prstDash val="solid"/>
                      <a:round/>
                      <a:headEnd type="none" w="med" len="med"/>
                      <a:tailEnd type="none" w="med" len="med"/>
                    </a:lnL>
                    <a:lnR w="6350" cap="flat" cmpd="sng" algn="ctr">
                      <a:solidFill>
                        <a:srgbClr val="D0D0D8"/>
                      </a:solidFill>
                      <a:prstDash val="solid"/>
                      <a:round/>
                      <a:headEnd type="none" w="med" len="med"/>
                      <a:tailEnd type="none" w="med" len="med"/>
                    </a:lnR>
                    <a:lnT w="6350" cap="flat" cmpd="sng" algn="ctr">
                      <a:solidFill>
                        <a:srgbClr val="D0D0D8"/>
                      </a:solidFill>
                      <a:prstDash val="solid"/>
                      <a:round/>
                      <a:headEnd type="none" w="med" len="med"/>
                      <a:tailEnd type="none" w="med" len="med"/>
                    </a:lnT>
                    <a:lnB w="6350" cap="flat" cmpd="sng" algn="ctr">
                      <a:solidFill>
                        <a:srgbClr val="D0D0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974336"/>
            <a:ext cx="594360" cy="16916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q-box"/>
          <p:cNvSpPr/>
          <p:nvPr/>
        </p:nvSpPr>
        <p:spPr>
          <a:xfrm>
            <a:off x="457200" y="1371600"/>
            <a:ext cx="8229600" cy="1143000"/>
          </a:xfrm>
          <a:prstGeom prst="roundRect">
            <a:avLst>
              <a:gd name="adj" fmla="val 4800"/>
            </a:avLst>
          </a:prstGeom>
          <a:solidFill>
            <a:schemeClr val="accent1"/>
          </a:solidFill>
          <a:ln/>
        </p:spPr>
      </p:sp>
      <p:sp>
        <p:nvSpPr>
          <p:cNvPr id="3" name="Text 1"/>
          <p:cNvSpPr txBox="1"/>
          <p:nvPr/>
        </p:nvSpPr>
        <p:spPr>
          <a:xfrm>
            <a:off x="457200" y="1371600"/>
            <a:ext cx="8229600" cy="1143000"/>
          </a:xfrm>
          <a:prstGeom prst="rect">
            <a:avLst/>
          </a:prstGeom>
          <a:noFill/>
          <a:ln/>
        </p:spPr>
        <p:txBody>
          <a:bodyPr wrap="square" lIns="0" tIns="0" rIns="0" bIns="0" rtlCol="0" anchor="ctr"/>
          <a:lstStyle/>
          <a:p>
            <a:pPr algn="ctr" indent="0" marL="0">
              <a:buNone/>
            </a:pPr>
            <a:r>
              <a:rPr lang="en-US" sz="4400" dirty="0">
                <a:solidFill>
                  <a:schemeClr val="bg1"/>
                </a:solidFill>
              </a:rPr>
              <a:t>Questions?</a:t>
            </a:r>
            <a:endParaRPr lang="en-US" sz="4400" dirty="0"/>
          </a:p>
        </p:txBody>
      </p:sp>
      <p:sp>
        <p:nvSpPr>
          <p:cNvPr id="4" name="Text 2"/>
          <p:cNvSpPr txBox="1"/>
          <p:nvPr/>
        </p:nvSpPr>
        <p:spPr>
          <a:xfrm>
            <a:off x="1371600" y="3017520"/>
            <a:ext cx="6400800" cy="548640"/>
          </a:xfrm>
          <a:prstGeom prst="rect">
            <a:avLst/>
          </a:prstGeom>
          <a:noFill/>
          <a:ln/>
        </p:spPr>
        <p:txBody>
          <a:bodyPr wrap="square" lIns="0" tIns="0" rIns="0" bIns="0" rtlCol="0" anchor="ctr"/>
          <a:lstStyle/>
          <a:p>
            <a:pPr algn="ctr" indent="0" marL="0">
              <a:buNone/>
            </a:pPr>
            <a:r>
              <a:rPr lang="en-US" sz="2400" dirty="0">
                <a:solidFill>
                  <a:schemeClr val="tx1"/>
                </a:solidFill>
              </a:rPr>
              <a:t>Thank you for your attention.</a:t>
            </a:r>
            <a:endParaRPr lang="en-US" sz="2400" dirty="0"/>
          </a:p>
        </p:txBody>
      </p:sp>
    </p:spTree>
  </p:cSld>
  <p:clrMapOvr>
    <a:masterClrMapping/>
  </p:clrMapOvr>
</p:sld>
</file>

<file path=ppt/theme/theme1.xml><?xml version="1.0" encoding="utf-8"?>
<a:theme xmlns:a="http://schemas.openxmlformats.org/drawingml/2006/main" name="Royal Blue Beamer">
  <a:themeElements>
    <a:clrScheme name="Royal Blue Beamer">
      <a:dk1>
        <a:srgbClr val="111111"/>
      </a:dk1>
      <a:lt1>
        <a:srgbClr val="FFFFFF"/>
      </a:lt1>
      <a:dk2>
        <a:srgbClr val="4A4A4A"/>
      </a:dk2>
      <a:lt2>
        <a:srgbClr val="EDEDFB"/>
      </a:lt2>
      <a:accent1>
        <a:srgbClr val="0000CC"/>
      </a:accent1>
      <a:accent2>
        <a:srgbClr val="003366"/>
      </a:accent2>
      <a:accent3>
        <a:srgbClr val="6666FF"/>
      </a:accent3>
      <a:accent4>
        <a:srgbClr val="4D4DFF"/>
      </a:accent4>
      <a:accent5>
        <a:srgbClr val="B3B3F0"/>
      </a:accent5>
      <a:accent6>
        <a:srgbClr val="C0392B"/>
      </a:accent6>
      <a:hlink>
        <a:srgbClr val="0000CC"/>
      </a:hlink>
      <a:folHlink>
        <a:srgbClr val="003366"/>
      </a:folHlink>
    </a:clrScheme>
    <a:fontScheme name="Royal Blue Beam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Timing-, Congestion-Aware and Multi-Objective RL for Macro Regulation</dc:title>
  <dc:subject>PptxGenJS Presentation</dc:subject>
  <dc:creator>Pratyush Mohata, Aditya Birari</dc:creator>
  <cp:lastModifiedBy>Pratyush Mohata, Aditya Birari</cp:lastModifiedBy>
  <cp:revision>1</cp:revision>
  <dcterms:created xsi:type="dcterms:W3CDTF">2026-10-17T18:55:46Z</dcterms:created>
  <dcterms:modified xsi:type="dcterms:W3CDTF">2026-10-17T18:55:46Z</dcterms:modified>
</cp:coreProperties>
</file>